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8.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9.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2B4F"/>
                </a:solidFill>
                <a:latin typeface="Calibri"/>
              </a:defRPr>
            </a:pPr>
            <a:r>
              <a:rPr sz="1200" b="0" i="0" u="none" strike="noStrike">
                <a:solidFill>
                  <a:srgbClr val="1D2B4F"/>
                </a:solidFill>
                <a:latin typeface="Calibri"/>
              </a:rPr>
              <a:t>Distinct participant names</a:t>
            </a:r>
          </a:p>
        </c:rich>
      </c:tx>
      <c:layout/>
      <c:overlay val="0"/>
    </c:title>
    <c:autoTitleDeleted val="0"/>
    <c:plotArea>
      <c:layout/>
      <c:barChart>
        <c:barDir val="bar"/>
        <c:grouping val="clustered"/>
        <c:varyColors val="0"/>
        <c:ser>
          <c:idx val="0"/>
          <c:order val="0"/>
          <c:tx>
            <c:strRef>
              <c:f>Sheet1!$B$1</c:f>
              <c:strCache>
                <c:ptCount val="1"/>
                <c:pt idx="0">
                  <c:v>Distinct names</c:v>
                </c:pt>
              </c:strCache>
            </c:strRef>
          </c:tx>
          <c:spPr>
            <a:solidFill>
              <a:srgbClr val="6FA287"/>
            </a:solidFill>
            <a:effectLst/>
          </c:spPr>
          <c:invertIfNegative val="0"/>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dPt>
            <c:idx val="0"/>
            <c:invertIfNegative val="0"/>
            <c:bubble3D val="0"/>
            <c:spPr>
              <a:solidFill>
                <a:srgbClr val="6FA287"/>
              </a:solidFill>
              <a:effectLst/>
            </c:spPr>
          </c:dPt>
          <c:dPt>
            <c:idx val="1"/>
            <c:invertIfNegative val="0"/>
            <c:bubble3D val="0"/>
            <c:spPr>
              <a:solidFill>
                <a:srgbClr val="B85042"/>
              </a:solidFill>
              <a:effectLst/>
            </c:spPr>
          </c:dPt>
          <c:cat>
            <c:multiLvlStrRef>
              <c:f>Sheet1!$A$2:$A$3</c:f>
              <c:multiLvlStrCache>
                <c:ptCount val="2"/>
                <c:lvl>
                  <c:pt idx="0">
                    <c:v>After correction</c:v>
                  </c:pt>
                  <c:pt idx="1">
                    <c:v>As submitted</c:v>
                  </c:pt>
                </c:lvl>
              </c:multiLvlStrCache>
            </c:multiLvlStrRef>
          </c:cat>
          <c:val>
            <c:numRef>
              <c:f>Sheet1!$B$2:$B$3</c:f>
              <c:numCache>
                <c:formatCode>General</c:formatCode>
                <c:ptCount val="2"/>
                <c:pt idx="0">
                  <c:v>66</c:v>
                </c:pt>
                <c:pt idx="1">
                  <c:v>169</c:v>
                </c:pt>
              </c:numCache>
            </c:numRef>
          </c:val>
        </c:ser>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2B4F"/>
                </a:solidFill>
                <a:latin typeface="Calibri"/>
              </a:defRPr>
            </a:pPr>
            <a:r>
              <a:rPr sz="1200" b="0" i="0" u="none" strike="noStrike">
                <a:solidFill>
                  <a:srgbClr val="1D2B4F"/>
                </a:solidFill>
                <a:latin typeface="Calibri"/>
              </a:rPr>
              <a:t>Total attendances by strand</a:t>
            </a:r>
          </a:p>
        </c:rich>
      </c:tx>
      <c:layout/>
      <c:overlay val="0"/>
    </c:title>
    <c:autoTitleDeleted val="0"/>
    <c:plotArea>
      <c:layout/>
      <c:barChart>
        <c:barDir val="bar"/>
        <c:grouping val="clustered"/>
        <c:varyColors val="0"/>
        <c:ser>
          <c:idx val="0"/>
          <c:order val="0"/>
          <c:tx>
            <c:strRef>
              <c:f>Sheet1!$B$1</c:f>
              <c:strCache>
                <c:ptCount val="1"/>
                <c:pt idx="0">
                  <c:v>Attendances</c:v>
                </c:pt>
              </c:strCache>
            </c:strRef>
          </c:tx>
          <c:spPr>
            <a:solidFill>
              <a:srgbClr val="7FB2D9"/>
            </a:solidFill>
            <a:effectLst/>
          </c:spPr>
          <c:invertIfNegative val="0"/>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dPt>
            <c:idx val="0"/>
            <c:invertIfNegative val="0"/>
            <c:bubble3D val="0"/>
            <c:spPr>
              <a:solidFill>
                <a:srgbClr val="7FB2D9"/>
              </a:solidFill>
              <a:effectLst/>
            </c:spPr>
          </c:dPt>
          <c:dPt>
            <c:idx val="1"/>
            <c:invertIfNegative val="0"/>
            <c:bubble3D val="0"/>
            <c:spPr>
              <a:solidFill>
                <a:srgbClr val="6FA287"/>
              </a:solidFill>
              <a:effectLst/>
            </c:spPr>
          </c:dPt>
          <c:dPt>
            <c:idx val="2"/>
            <c:invertIfNegative val="0"/>
            <c:bubble3D val="0"/>
            <c:spPr>
              <a:solidFill>
                <a:srgbClr val="C9A227"/>
              </a:solidFill>
              <a:effectLst/>
            </c:spPr>
          </c:dPt>
          <c:cat>
            <c:multiLvlStrRef>
              <c:f>Sheet1!$A$2:$A$4</c:f>
              <c:multiLvlStrCache>
                <c:ptCount val="3"/>
                <c:lvl>
                  <c:pt idx="0">
                    <c:v>Oral History</c:v>
                  </c:pt>
                  <c:pt idx="1">
                    <c:v>Rehearsal</c:v>
                  </c:pt>
                  <c:pt idx="2">
                    <c:v>Storytelling</c:v>
                  </c:pt>
                </c:lvl>
              </c:multiLvlStrCache>
            </c:multiLvlStrRef>
          </c:cat>
          <c:val>
            <c:numRef>
              <c:f>Sheet1!$B$2:$B$4</c:f>
              <c:numCache>
                <c:formatCode>General</c:formatCode>
                <c:ptCount val="3"/>
                <c:pt idx="0">
                  <c:v>10</c:v>
                </c:pt>
                <c:pt idx="1">
                  <c:v>250</c:v>
                </c:pt>
                <c:pt idx="2">
                  <c:v>300</c:v>
                </c:pt>
              </c:numCache>
            </c:numRef>
          </c:val>
        </c:ser>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2B4F"/>
                </a:solidFill>
                <a:latin typeface="Calibri"/>
              </a:defRPr>
            </a:pPr>
            <a:r>
              <a:rPr sz="1200" b="0" i="0" u="none" strike="noStrike">
                <a:solidFill>
                  <a:srgbClr val="1D2B4F"/>
                </a:solidFill>
                <a:latin typeface="Calibri"/>
              </a:rPr>
              <a:t>Average attendance per session</a:t>
            </a:r>
          </a:p>
        </c:rich>
      </c:tx>
      <c:layout/>
      <c:overlay val="0"/>
    </c:title>
    <c:autoTitleDeleted val="0"/>
    <c:plotArea>
      <c:layout/>
      <c:barChart>
        <c:barDir val="bar"/>
        <c:grouping val="clustered"/>
        <c:varyColors val="0"/>
        <c:ser>
          <c:idx val="0"/>
          <c:order val="0"/>
          <c:tx>
            <c:strRef>
              <c:f>Sheet1!$B$1</c:f>
              <c:strCache>
                <c:ptCount val="1"/>
                <c:pt idx="0">
                  <c:v>Avg per session</c:v>
                </c:pt>
              </c:strCache>
            </c:strRef>
          </c:tx>
          <c:spPr>
            <a:solidFill>
              <a:srgbClr val="7FB2D9"/>
            </a:solidFill>
            <a:effectLst/>
          </c:spPr>
          <c:invertIfNegative val="0"/>
          <c:dLbls>
            <c:numFmt formatCode="0.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dPt>
            <c:idx val="0"/>
            <c:invertIfNegative val="0"/>
            <c:bubble3D val="0"/>
            <c:spPr>
              <a:solidFill>
                <a:srgbClr val="7FB2D9"/>
              </a:solidFill>
              <a:effectLst/>
            </c:spPr>
          </c:dPt>
          <c:dPt>
            <c:idx val="1"/>
            <c:invertIfNegative val="0"/>
            <c:bubble3D val="0"/>
            <c:spPr>
              <a:solidFill>
                <a:srgbClr val="6FA287"/>
              </a:solidFill>
              <a:effectLst/>
            </c:spPr>
          </c:dPt>
          <c:dPt>
            <c:idx val="2"/>
            <c:invertIfNegative val="0"/>
            <c:bubble3D val="0"/>
            <c:spPr>
              <a:solidFill>
                <a:srgbClr val="C9A227"/>
              </a:solidFill>
              <a:effectLst/>
            </c:spPr>
          </c:dPt>
          <c:cat>
            <c:multiLvlStrRef>
              <c:f>Sheet1!$A$2:$A$4</c:f>
              <c:multiLvlStrCache>
                <c:ptCount val="3"/>
                <c:lvl>
                  <c:pt idx="0">
                    <c:v>Oral History</c:v>
                  </c:pt>
                  <c:pt idx="1">
                    <c:v>Rehearsal</c:v>
                  </c:pt>
                  <c:pt idx="2">
                    <c:v>Storytelling</c:v>
                  </c:pt>
                </c:lvl>
              </c:multiLvlStrCache>
            </c:multiLvlStrRef>
          </c:cat>
          <c:val>
            <c:numRef>
              <c:f>Sheet1!$B$2:$B$4</c:f>
              <c:numCache>
                <c:formatCode>General</c:formatCode>
                <c:ptCount val="3"/>
                <c:pt idx="0">
                  <c:v>10</c:v>
                </c:pt>
                <c:pt idx="1">
                  <c:v>35.7</c:v>
                </c:pt>
                <c:pt idx="2">
                  <c:v>37.5</c:v>
                </c:pt>
              </c:numCache>
            </c:numRef>
          </c:val>
        </c:ser>
        <c:dLbls>
          <c:numFmt formatCode="0.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2B4F"/>
                </a:solidFill>
                <a:latin typeface="Calibri"/>
              </a:defRPr>
            </a:pPr>
            <a:r>
              <a:rPr sz="1200" b="0" i="0" u="none" strike="noStrike">
                <a:solidFill>
                  <a:srgbClr val="1D2B4F"/>
                </a:solidFill>
                <a:latin typeface="Calibri"/>
              </a:rPr>
              <a:t>Participants by number of sessions attended</a:t>
            </a:r>
          </a:p>
        </c:rich>
      </c:tx>
      <c:layout/>
      <c:overlay val="0"/>
    </c:title>
    <c:autoTitleDeleted val="0"/>
    <c:plotArea>
      <c:layout/>
      <c:barChart>
        <c:barDir val="col"/>
        <c:grouping val="clustered"/>
        <c:varyColors val="0"/>
        <c:ser>
          <c:idx val="0"/>
          <c:order val="0"/>
          <c:tx>
            <c:strRef>
              <c:f>Sheet1!$B$1</c:f>
              <c:strCache>
                <c:ptCount val="1"/>
                <c:pt idx="0">
                  <c:v>Participants</c:v>
                </c:pt>
              </c:strCache>
            </c:strRef>
          </c:tx>
          <c:spPr>
            <a:solidFill>
              <a:srgbClr val="E3E6EB"/>
            </a:solidFill>
            <a:effectLst/>
          </c:spPr>
          <c:invertIfNegative val="0"/>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dPt>
            <c:idx val="0"/>
            <c:invertIfNegative val="0"/>
            <c:bubble3D val="0"/>
            <c:spPr>
              <a:solidFill>
                <a:srgbClr val="E3E6EB"/>
              </a:solidFill>
              <a:effectLst/>
            </c:spPr>
          </c:dPt>
          <c:dPt>
            <c:idx val="1"/>
            <c:invertIfNegative val="0"/>
            <c:bubble3D val="0"/>
            <c:spPr>
              <a:solidFill>
                <a:srgbClr val="C8D2DC"/>
              </a:solidFill>
              <a:effectLst/>
            </c:spPr>
          </c:dPt>
          <c:dPt>
            <c:idx val="2"/>
            <c:invertIfNegative val="0"/>
            <c:bubble3D val="0"/>
            <c:spPr>
              <a:solidFill>
                <a:srgbClr val="9DB3C4"/>
              </a:solidFill>
              <a:effectLst/>
            </c:spPr>
          </c:dPt>
          <c:dPt>
            <c:idx val="3"/>
            <c:invertIfNegative val="0"/>
            <c:bubble3D val="0"/>
            <c:spPr>
              <a:solidFill>
                <a:srgbClr val="1D2B4F"/>
              </a:solidFill>
              <a:effectLst/>
            </c:spPr>
          </c:dPt>
          <c:cat>
            <c:multiLvlStrRef>
              <c:f>Sheet1!$A$2:$A$5</c:f>
              <c:multiLvlStrCache>
                <c:ptCount val="4"/>
                <c:lvl>
                  <c:pt idx="0">
                    <c:v>1 session</c:v>
                  </c:pt>
                  <c:pt idx="1">
                    <c:v>2 to 4</c:v>
                  </c:pt>
                  <c:pt idx="2">
                    <c:v>5 to 9</c:v>
                  </c:pt>
                  <c:pt idx="3">
                    <c:v>10 or more</c:v>
                  </c:pt>
                </c:lvl>
              </c:multiLvlStrCache>
            </c:multiLvlStrRef>
          </c:cat>
          <c:val>
            <c:numRef>
              <c:f>Sheet1!$B$2:$B$5</c:f>
              <c:numCache>
                <c:formatCode>General</c:formatCode>
                <c:ptCount val="4"/>
                <c:pt idx="0">
                  <c:v>17</c:v>
                </c:pt>
                <c:pt idx="1">
                  <c:v>6</c:v>
                </c:pt>
                <c:pt idx="2">
                  <c:v>10</c:v>
                </c:pt>
                <c:pt idx="3">
                  <c:v>33</c:v>
                </c:pt>
              </c:numCache>
            </c:numRef>
          </c:val>
        </c:ser>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2B4F"/>
                </a:solidFill>
                <a:latin typeface="Calibri"/>
              </a:defRPr>
            </a:pPr>
            <a:r>
              <a:rPr sz="1200" b="0" i="0" u="none" strike="noStrike">
                <a:solidFill>
                  <a:srgbClr val="1D2B4F"/>
                </a:solidFill>
                <a:latin typeface="Calibri"/>
              </a:rPr>
              <a:t>Attendances by gender and strand</a:t>
            </a:r>
          </a:p>
        </c:rich>
      </c:tx>
      <c:layout/>
      <c:overlay val="0"/>
    </c:title>
    <c:autoTitleDeleted val="0"/>
    <c:plotArea>
      <c:layout/>
      <c:barChart>
        <c:barDir val="bar"/>
        <c:grouping val="clustered"/>
        <c:varyColors val="0"/>
        <c:ser>
          <c:idx val="0"/>
          <c:order val="0"/>
          <c:tx>
            <c:strRef>
              <c:f>Sheet1!$B$1</c:f>
              <c:strCache>
                <c:ptCount val="1"/>
                <c:pt idx="0">
                  <c:v>Male</c:v>
                </c:pt>
              </c:strCache>
            </c:strRef>
          </c:tx>
          <c:spPr>
            <a:solidFill>
              <a:srgbClr val="1D2B4F"/>
            </a:solidFill>
            <a:effectLst/>
          </c:spPr>
          <c:invertIfNegative val="0"/>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Oral History</c:v>
                  </c:pt>
                  <c:pt idx="1">
                    <c:v>Rehearsal</c:v>
                  </c:pt>
                  <c:pt idx="2">
                    <c:v>Storytelling</c:v>
                  </c:pt>
                </c:lvl>
              </c:multiLvlStrCache>
            </c:multiLvlStrRef>
          </c:cat>
          <c:val>
            <c:numRef>
              <c:f>Sheet1!$B$2:$B$4</c:f>
              <c:numCache>
                <c:formatCode>General</c:formatCode>
                <c:ptCount val="3"/>
                <c:pt idx="0">
                  <c:v>6</c:v>
                </c:pt>
                <c:pt idx="1">
                  <c:v>115</c:v>
                </c:pt>
                <c:pt idx="2">
                  <c:v>161</c:v>
                </c:pt>
              </c:numCache>
            </c:numRef>
          </c:val>
        </c:ser>
        <c:ser>
          <c:idx val="1"/>
          <c:order val="1"/>
          <c:tx>
            <c:strRef>
              <c:f>Sheet1!$C$1</c:f>
              <c:strCache>
                <c:ptCount val="1"/>
                <c:pt idx="0">
                  <c:v>Female</c:v>
                </c:pt>
              </c:strCache>
            </c:strRef>
          </c:tx>
          <c:spPr>
            <a:solidFill>
              <a:srgbClr val="E3B23C"/>
            </a:solidFill>
            <a:effectLst/>
          </c:spPr>
          <c:invertIfNegative val="0"/>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Oral History</c:v>
                  </c:pt>
                  <c:pt idx="1">
                    <c:v>Rehearsal</c:v>
                  </c:pt>
                  <c:pt idx="2">
                    <c:v>Storytelling</c:v>
                  </c:pt>
                </c:lvl>
              </c:multiLvlStrCache>
            </c:multiLvlStrRef>
          </c:cat>
          <c:val>
            <c:numRef>
              <c:f>Sheet1!$C$2:$C$4</c:f>
              <c:numCache>
                <c:formatCode>General</c:formatCode>
                <c:ptCount val="3"/>
                <c:pt idx="0">
                  <c:v>4</c:v>
                </c:pt>
                <c:pt idx="1">
                  <c:v>92</c:v>
                </c:pt>
                <c:pt idx="2">
                  <c:v>139</c:v>
                </c:pt>
              </c:numCache>
            </c:numRef>
          </c:val>
        </c:ser>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F6B7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2B4F"/>
                </a:solidFill>
                <a:latin typeface="Calibri"/>
              </a:defRPr>
            </a:pPr>
            <a:r>
              <a:rPr sz="1200" b="0" i="0" u="none" strike="noStrike">
                <a:solidFill>
                  <a:srgbClr val="1D2B4F"/>
                </a:solidFill>
                <a:latin typeface="Calibri"/>
              </a:rPr>
              <a:t>Attendances by audience type</a:t>
            </a:r>
          </a:p>
        </c:rich>
      </c:tx>
      <c:layout/>
      <c:overlay val="0"/>
    </c:title>
    <c:autoTitleDeleted val="0"/>
    <c:plotArea>
      <c:layout/>
      <c:doughnutChart>
        <c:varyColors val="1"/>
        <c:ser>
          <c:idx val="0"/>
          <c:order val="0"/>
          <c:tx>
            <c:strRef>
              <c:f>Sheet1!$B$1</c:f>
              <c:strCache>
                <c:ptCount val="1"/>
                <c:pt idx="0">
                  <c:v>Audience</c:v>
                </c:pt>
              </c:strCache>
            </c:strRef>
          </c:tx>
          <c:spPr>
            <a:solidFill>
              <a:schemeClr val="accent1"/>
            </a:solidFill>
            <a:ln w="9525" cap="flat">
              <a:solidFill>
                <a:srgbClr val="F9F9F9"/>
              </a:solidFill>
              <a:prstDash val="solid"/>
              <a:round/>
            </a:ln>
            <a:effectLst/>
          </c:spPr>
          <c:dPt>
            <c:idx val="0"/>
            <c:bubble3D val="0"/>
            <c:spPr>
              <a:solidFill>
                <a:srgbClr val="1D2B4F"/>
              </a:solidFill>
              <a:effectLst/>
            </c:spPr>
          </c:dPt>
          <c:dPt>
            <c:idx val="1"/>
            <c:bubble3D val="0"/>
            <c:spPr>
              <a:solidFill>
                <a:srgbClr val="E3B23C"/>
              </a:solidFill>
              <a:effectLst/>
            </c:spPr>
          </c:dPt>
          <c:dPt>
            <c:idx val="2"/>
            <c:bubble3D val="0"/>
            <c:spPr>
              <a:solidFill>
                <a:srgbClr val="B85042"/>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1"/>
              <c:numFmt formatCode="#,##0"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2"/>
              <c:numFmt formatCode="#,##0"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Young person</c:v>
                </c:pt>
                <c:pt idx="1">
                  <c:v>Volunteer</c:v>
                </c:pt>
                <c:pt idx="2">
                  <c:v>Trustee</c:v>
                </c:pt>
              </c:strCache>
            </c:strRef>
          </c:cat>
          <c:val>
            <c:numRef>
              <c:f>Sheet1!$B$2:$B$4</c:f>
              <c:numCache>
                <c:ptCount val="3"/>
                <c:pt idx="0">
                  <c:v>479</c:v>
                </c:pt>
                <c:pt idx="1">
                  <c:v>36</c:v>
                </c:pt>
                <c:pt idx="2">
                  <c:v>2</c:v>
                </c:pt>
              </c:numCache>
            </c:numRef>
          </c:val>
        </c:ser>
        <c:firstSliceAng val="0"/>
        <c:holeSize val="55"/>
      </c:doughnutChart>
      <c:spPr>
        <a:noFill/>
        <a:ln>
          <a:noFill/>
        </a:ln>
        <a:effectLst/>
      </c:spPr>
    </c:plotArea>
    <c:legend>
      <c:legendPos val="b"/>
      <c:overlay val="0"/>
      <c:txPr>
        <a:bodyPr/>
        <a:lstStyle/>
        <a:p>
          <a:pPr>
            <a:defRPr sz="1200">
              <a:solidFill>
                <a:srgbClr val="5F6B7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2B4F"/>
                </a:solidFill>
                <a:latin typeface="Calibri"/>
              </a:defRPr>
            </a:pPr>
            <a:r>
              <a:rPr sz="1200" b="0" i="0" u="none" strike="noStrike">
                <a:solidFill>
                  <a:srgbClr val="1D2B4F"/>
                </a:solidFill>
                <a:latin typeface="Calibri"/>
              </a:rPr>
              <a:t>Referral scores given (0 to 10 scale)</a:t>
            </a:r>
          </a:p>
        </c:rich>
      </c:tx>
      <c:layout/>
      <c:overlay val="0"/>
    </c:title>
    <c:autoTitleDeleted val="0"/>
    <c:plotArea>
      <c:layout/>
      <c:barChart>
        <c:barDir val="col"/>
        <c:grouping val="clustered"/>
        <c:varyColors val="0"/>
        <c:ser>
          <c:idx val="0"/>
          <c:order val="0"/>
          <c:tx>
            <c:strRef>
              <c:f>Sheet1!$B$1</c:f>
              <c:strCache>
                <c:ptCount val="1"/>
                <c:pt idx="0">
                  <c:v>Responses</c:v>
                </c:pt>
              </c:strCache>
            </c:strRef>
          </c:tx>
          <c:spPr>
            <a:solidFill>
              <a:srgbClr val="E3E6EB"/>
            </a:solidFill>
            <a:effectLst/>
          </c:spPr>
          <c:invertIfNegative val="0"/>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dPt>
            <c:idx val="0"/>
            <c:invertIfNegative val="0"/>
            <c:bubble3D val="0"/>
            <c:spPr>
              <a:solidFill>
                <a:srgbClr val="E3E6EB"/>
              </a:solidFill>
              <a:effectLst/>
            </c:spPr>
          </c:dPt>
          <c:dPt>
            <c:idx val="1"/>
            <c:invertIfNegative val="0"/>
            <c:bubble3D val="0"/>
            <c:spPr>
              <a:solidFill>
                <a:srgbClr val="E3B23C"/>
              </a:solidFill>
              <a:effectLst/>
            </c:spPr>
          </c:dPt>
          <c:dPt>
            <c:idx val="2"/>
            <c:invertIfNegative val="0"/>
            <c:bubble3D val="0"/>
            <c:spPr>
              <a:solidFill>
                <a:srgbClr val="1D2B4F"/>
              </a:solidFill>
              <a:effectLst/>
            </c:spPr>
          </c:dPt>
          <c:cat>
            <c:multiLvlStrRef>
              <c:f>Sheet1!$A$2:$A$4</c:f>
              <c:multiLvlStrCache>
                <c:ptCount val="3"/>
                <c:lvl>
                  <c:pt idx="0">
                    <c:v>8</c:v>
                  </c:pt>
                  <c:pt idx="1">
                    <c:v>9</c:v>
                  </c:pt>
                  <c:pt idx="2">
                    <c:v>10</c:v>
                  </c:pt>
                </c:lvl>
              </c:multiLvlStrCache>
            </c:multiLvlStrRef>
          </c:cat>
          <c:val>
            <c:numRef>
              <c:f>Sheet1!$B$2:$B$4</c:f>
              <c:numCache>
                <c:formatCode>General</c:formatCode>
                <c:ptCount val="3"/>
                <c:pt idx="0">
                  <c:v>54</c:v>
                </c:pt>
                <c:pt idx="1">
                  <c:v>185</c:v>
                </c:pt>
                <c:pt idx="2">
                  <c:v>278</c:v>
                </c:pt>
              </c:numCache>
            </c:numRef>
          </c:val>
        </c:ser>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2B4F"/>
                </a:solidFill>
                <a:latin typeface="Calibri"/>
              </a:defRPr>
            </a:pPr>
            <a:r>
              <a:rPr sz="1200" b="0" i="0" u="none" strike="noStrike">
                <a:solidFill>
                  <a:srgbClr val="1D2B4F"/>
                </a:solidFill>
                <a:latin typeface="Calibri"/>
              </a:rPr>
              <a:t>Learning themes by number of mentions</a:t>
            </a:r>
          </a:p>
        </c:rich>
      </c:tx>
      <c:layout/>
      <c:overlay val="0"/>
    </c:title>
    <c:autoTitleDeleted val="0"/>
    <c:plotArea>
      <c:layout/>
      <c:barChart>
        <c:barDir val="bar"/>
        <c:grouping val="clustered"/>
        <c:varyColors val="0"/>
        <c:ser>
          <c:idx val="0"/>
          <c:order val="0"/>
          <c:tx>
            <c:strRef>
              <c:f>Sheet1!$B$1</c:f>
              <c:strCache>
                <c:ptCount val="1"/>
                <c:pt idx="0">
                  <c:v>Mentions</c:v>
                </c:pt>
              </c:strCache>
            </c:strRef>
          </c:tx>
          <c:spPr>
            <a:solidFill>
              <a:srgbClr val="C9A227"/>
            </a:solidFill>
            <a:effectLst/>
          </c:spPr>
          <c:invertIfNegative val="0"/>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Cultural preservation</c:v>
                  </c:pt>
                  <c:pt idx="1">
                    <c:v>Use of cameras</c:v>
                  </c:pt>
                  <c:pt idx="2">
                    <c:v>Yoruba cuisine and music</c:v>
                  </c:pt>
                  <c:pt idx="3">
                    <c:v>Significance of facial marks</c:v>
                  </c:pt>
                  <c:pt idx="4">
                    <c:v>Folktales and proverbs</c:v>
                  </c:pt>
                  <c:pt idx="5">
                    <c:v>Greetings for occasions</c:v>
                  </c:pt>
                  <c:pt idx="6">
                    <c:v>How Aroko conveys messages</c:v>
                  </c:pt>
                  <c:pt idx="7">
                    <c:v>History and lessons of proverbs</c:v>
                  </c:pt>
                  <c:pt idx="8">
                    <c:v>Traditional outfit styles</c:v>
                  </c:pt>
                </c:lvl>
              </c:multiLvlStrCache>
            </c:multiLvlStrRef>
          </c:cat>
          <c:val>
            <c:numRef>
              <c:f>Sheet1!$B$2:$B$10</c:f>
              <c:numCache>
                <c:formatCode>General</c:formatCode>
                <c:ptCount val="9"/>
                <c:pt idx="0">
                  <c:v>11</c:v>
                </c:pt>
                <c:pt idx="1">
                  <c:v>14</c:v>
                </c:pt>
                <c:pt idx="2">
                  <c:v>48</c:v>
                </c:pt>
                <c:pt idx="3">
                  <c:v>54</c:v>
                </c:pt>
                <c:pt idx="4">
                  <c:v>61</c:v>
                </c:pt>
                <c:pt idx="5">
                  <c:v>62</c:v>
                </c:pt>
                <c:pt idx="6">
                  <c:v>66</c:v>
                </c:pt>
                <c:pt idx="7">
                  <c:v>78</c:v>
                </c:pt>
                <c:pt idx="8">
                  <c:v>116</c:v>
                </c:pt>
              </c:numCache>
            </c:numRef>
          </c:val>
        </c:ser>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2B4F"/>
                </a:solidFill>
                <a:latin typeface="Calibri"/>
              </a:defRPr>
            </a:pPr>
            <a:r>
              <a:rPr sz="1200" b="0" i="0" u="none" strike="noStrike">
                <a:solidFill>
                  <a:srgbClr val="1D2B4F"/>
                </a:solidFill>
                <a:latin typeface="Calibri"/>
              </a:rPr>
              <a:t>Improvement themes by number of mentions</a:t>
            </a:r>
          </a:p>
        </c:rich>
      </c:tx>
      <c:layout/>
      <c:overlay val="0"/>
    </c:title>
    <c:autoTitleDeleted val="0"/>
    <c:plotArea>
      <c:layout/>
      <c:barChart>
        <c:barDir val="bar"/>
        <c:grouping val="clustered"/>
        <c:varyColors val="0"/>
        <c:ser>
          <c:idx val="0"/>
          <c:order val="0"/>
          <c:tx>
            <c:strRef>
              <c:f>Sheet1!$B$1</c:f>
              <c:strCache>
                <c:ptCount val="1"/>
                <c:pt idx="0">
                  <c:v>Mentions</c:v>
                </c:pt>
              </c:strCache>
            </c:strRef>
          </c:tx>
          <c:spPr>
            <a:solidFill>
              <a:srgbClr val="6FA287"/>
            </a:solidFill>
            <a:effectLst/>
          </c:spPr>
          <c:invertIfNegative val="0"/>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cat>
            <c:multiLvlStrRef>
              <c:f>Sheet1!$A$2:$A$9</c:f>
              <c:multiLvlStrCache>
                <c:ptCount val="8"/>
                <c:lvl>
                  <c:pt idx="0">
                    <c:v>Conducive environment</c:v>
                  </c:pt>
                  <c:pt idx="1">
                    <c:v>More appetizers</c:v>
                  </c:pt>
                  <c:pt idx="2">
                    <c:v>Colourful workshops</c:v>
                  </c:pt>
                  <c:pt idx="3">
                    <c:v>Next workshop</c:v>
                  </c:pt>
                  <c:pt idx="4">
                    <c:v>More beautiful costumes</c:v>
                  </c:pt>
                  <c:pt idx="5">
                    <c:v>More delicious meals</c:v>
                  </c:pt>
                  <c:pt idx="6">
                    <c:v>New friends</c:v>
                  </c:pt>
                  <c:pt idx="7">
                    <c:v>Next rehearsal</c:v>
                  </c:pt>
                </c:lvl>
              </c:multiLvlStrCache>
            </c:multiLvlStrRef>
          </c:cat>
          <c:val>
            <c:numRef>
              <c:f>Sheet1!$B$2:$B$9</c:f>
              <c:numCache>
                <c:formatCode>General</c:formatCode>
                <c:ptCount val="8"/>
                <c:pt idx="0">
                  <c:v>10</c:v>
                </c:pt>
                <c:pt idx="1">
                  <c:v>15</c:v>
                </c:pt>
                <c:pt idx="2">
                  <c:v>26</c:v>
                </c:pt>
                <c:pt idx="3">
                  <c:v>47</c:v>
                </c:pt>
                <c:pt idx="4">
                  <c:v>49</c:v>
                </c:pt>
                <c:pt idx="5">
                  <c:v>94</c:v>
                </c:pt>
                <c:pt idx="6">
                  <c:v>109</c:v>
                </c:pt>
                <c:pt idx="7">
                  <c:v>128</c:v>
                </c:pt>
              </c:numCache>
            </c:numRef>
          </c:val>
        </c:ser>
        <c:dLbls>
          <c:numFmt formatCode="#,##0" sourceLinked="0"/>
          <c:txPr>
            <a:bodyPr/>
            <a:lstStyle/>
            <a:p>
              <a:pPr>
                <a:defRPr b="0" i="0" strike="noStrike" sz="1200" u="none">
                  <a:solidFill>
                    <a:srgbClr val="1D2B4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programme evaluation, not just a dashboard walkthrough. The headline story is retention: 66 people generated 560 attendances.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04 and 05 carry the findings; section 06 carries the proof of interactivity; section 07 carries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three-strand structure matters because Oral History has only one session, which affects how its figures should be read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extract-versus-dashboard difference openly. Headline KPIs quoted later come from the refreshed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01 is the one that changed the analysis most. Without it the unique participant count would have been badly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findings are worth stating plainly. Catching them is the analytical contribution; the charts would have rendered happily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reframing is the most important point in the deck. Every subsequent finding follows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per-session chart is the honest comparison. Rehearsal looks much smaller on totals only because it ran one fewer session and started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single-visit group is where the actionable recommendation sits. Everything else about engagement is already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gender consistency across strands is worth noting: content type is not driving who shows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9.45. Naming the selection effect is more credible than presenting it as an unqualified triumph, and it sets up the recommendation about the single-visit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self-reported recall, not assessed learning. Worth saying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free-text question asked what could be improved, so answers like 'next rehearsal' are participants requesting continuation. Worth explaining that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both the deliverable overview and the reference state the interactivity slides are compared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filter tag top-right as the clearest visible proof the interaction fired.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interaction, different strand — demonstrates the mechanism generalises rather than being a one-off.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to show a reviewer who wonders whether filtering to a small subgroup breaks the report. It doesn't — it just changes the reading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drill-through page proves a second filter layer works on top of the strand-level page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single piece of evidence that the interactivity is doing real analytical work, not just re-rendering the same shapes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small-sample caveat explicitly if asked. This is the weakest evidential slide of the set and should be presented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note for the interactivity section before moving into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01 is the one to lead with. It follows directly from the retention analysis and the satisfaction caveat.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point 01 and point 06 if time is short: what the programme achieved, and that the interactive report is trustworthy on camera, not just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B4F"/>
        </a:solidFill>
      </p:bgPr>
    </p:bg>
    <p:spTree>
      <p:nvGrpSpPr>
        <p:cNvPr id="1" name=""/>
        <p:cNvGrpSpPr/>
        <p:nvPr/>
      </p:nvGrpSpPr>
      <p:grpSpPr>
        <a:xfrm>
          <a:off x="0" y="0"/>
          <a:ext cx="0" cy="0"/>
          <a:chOff x="0" y="0"/>
          <a:chExt cx="0" cy="0"/>
        </a:xfrm>
      </p:grpSpPr>
      <p:sp>
        <p:nvSpPr>
          <p:cNvPr id="2" name="Text 0"/>
          <p:cNvSpPr/>
          <p:nvPr/>
        </p:nvSpPr>
        <p:spPr>
          <a:xfrm>
            <a:off x="822960" y="1371600"/>
            <a:ext cx="9144000" cy="274320"/>
          </a:xfrm>
          <a:prstGeom prst="rect">
            <a:avLst/>
          </a:prstGeom>
          <a:noFill/>
          <a:ln/>
        </p:spPr>
        <p:txBody>
          <a:bodyPr wrap="square" lIns="0" tIns="0" rIns="0" bIns="0" rtlCol="0" anchor="ctr"/>
          <a:lstStyle/>
          <a:p>
            <a:pPr indent="0" marL="0">
              <a:buNone/>
            </a:pPr>
            <a:r>
              <a:rPr lang="en-US" sz="1200" b="1" spc="300" kern="0" dirty="0">
                <a:solidFill>
                  <a:srgbClr val="E3B23C"/>
                </a:solidFill>
                <a:latin typeface="Calibri" pitchFamily="34" charset="0"/>
                <a:ea typeface="Calibri" pitchFamily="34" charset="-122"/>
                <a:cs typeface="Calibri" pitchFamily="34" charset="-120"/>
              </a:rPr>
              <a:t>MYEC  ·  CULTURAL HERITAGE PROGRAMME ANALYTICS</a:t>
            </a:r>
            <a:endParaRPr lang="en-US" sz="1200" dirty="0"/>
          </a:p>
        </p:txBody>
      </p:sp>
      <p:sp>
        <p:nvSpPr>
          <p:cNvPr id="3" name="Text 1"/>
          <p:cNvSpPr/>
          <p:nvPr/>
        </p:nvSpPr>
        <p:spPr>
          <a:xfrm>
            <a:off x="822960" y="1828800"/>
            <a:ext cx="10515600" cy="8229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Project Vogue</a:t>
            </a:r>
            <a:endParaRPr lang="en-US" sz="4800" dirty="0"/>
          </a:p>
        </p:txBody>
      </p:sp>
      <p:sp>
        <p:nvSpPr>
          <p:cNvPr id="4" name="Text 2"/>
          <p:cNvSpPr/>
          <p:nvPr/>
        </p:nvSpPr>
        <p:spPr>
          <a:xfrm>
            <a:off x="822960" y="2697480"/>
            <a:ext cx="10515600" cy="640080"/>
          </a:xfrm>
          <a:prstGeom prst="rect">
            <a:avLst/>
          </a:prstGeom>
          <a:noFill/>
          <a:ln/>
        </p:spPr>
        <p:txBody>
          <a:bodyPr wrap="square" lIns="0" tIns="0" rIns="0" bIns="0" rtlCol="0" anchor="ctr"/>
          <a:lstStyle/>
          <a:p>
            <a:pPr indent="0" marL="0">
              <a:buNone/>
            </a:pPr>
            <a:r>
              <a:rPr lang="en-US" sz="3000" b="1" dirty="0">
                <a:solidFill>
                  <a:srgbClr val="E3B23C"/>
                </a:solidFill>
                <a:latin typeface="Cambria" pitchFamily="34" charset="0"/>
                <a:ea typeface="Cambria" pitchFamily="34" charset="-122"/>
                <a:cs typeface="Cambria" pitchFamily="34" charset="-120"/>
              </a:rPr>
              <a:t>Engagement Across Cultural Heritage Events</a:t>
            </a:r>
            <a:endParaRPr lang="en-US" sz="3000" dirty="0"/>
          </a:p>
        </p:txBody>
      </p:sp>
      <p:sp>
        <p:nvSpPr>
          <p:cNvPr id="5" name="Text 3"/>
          <p:cNvSpPr/>
          <p:nvPr/>
        </p:nvSpPr>
        <p:spPr>
          <a:xfrm>
            <a:off x="822960" y="3520440"/>
            <a:ext cx="8778240" cy="640080"/>
          </a:xfrm>
          <a:prstGeom prst="rect">
            <a:avLst/>
          </a:prstGeom>
          <a:noFill/>
          <a:ln/>
        </p:spPr>
        <p:txBody>
          <a:bodyPr wrap="square" lIns="0" tIns="0" rIns="0" bIns="0" rtlCol="0" anchor="t"/>
          <a:lstStyle/>
          <a:p>
            <a:pPr indent="0" marL="0">
              <a:lnSpc>
                <a:spcPts val="2000"/>
              </a:lnSpc>
              <a:buNone/>
            </a:pPr>
            <a:r>
              <a:rPr lang="en-US" sz="1400" dirty="0">
                <a:solidFill>
                  <a:srgbClr val="C6CEDA"/>
                </a:solidFill>
                <a:latin typeface="Calibri" pitchFamily="34" charset="0"/>
                <a:ea typeface="Calibri" pitchFamily="34" charset="-122"/>
                <a:cs typeface="Calibri" pitchFamily="34" charset="-120"/>
              </a:rPr>
              <a:t>A Power BI analysis of participation, retention and satisfaction across 16 Yoruba heritage sessions delivered between October 2024 and April 2025.</a:t>
            </a:r>
            <a:endParaRPr lang="en-US" sz="1400" dirty="0"/>
          </a:p>
        </p:txBody>
      </p:sp>
      <p:sp>
        <p:nvSpPr>
          <p:cNvPr id="6" name="Text 4"/>
          <p:cNvSpPr/>
          <p:nvPr/>
        </p:nvSpPr>
        <p:spPr>
          <a:xfrm>
            <a:off x="822960" y="4572000"/>
            <a:ext cx="237744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560</a:t>
            </a:r>
            <a:endParaRPr lang="en-US" sz="2600" dirty="0"/>
          </a:p>
        </p:txBody>
      </p:sp>
      <p:sp>
        <p:nvSpPr>
          <p:cNvPr id="7" name="Text 5"/>
          <p:cNvSpPr/>
          <p:nvPr/>
        </p:nvSpPr>
        <p:spPr>
          <a:xfrm>
            <a:off x="822960" y="5047488"/>
            <a:ext cx="2377440" cy="274320"/>
          </a:xfrm>
          <a:prstGeom prst="rect">
            <a:avLst/>
          </a:prstGeom>
          <a:noFill/>
          <a:ln/>
        </p:spPr>
        <p:txBody>
          <a:bodyPr wrap="square" lIns="0" tIns="0" rIns="0" bIns="0" rtlCol="0" anchor="ctr"/>
          <a:lstStyle/>
          <a:p>
            <a:pPr indent="0" marL="0">
              <a:buNone/>
            </a:pPr>
            <a:r>
              <a:rPr lang="en-US" sz="1200" dirty="0">
                <a:solidFill>
                  <a:srgbClr val="9FB0C6"/>
                </a:solidFill>
                <a:latin typeface="Calibri" pitchFamily="34" charset="0"/>
                <a:ea typeface="Calibri" pitchFamily="34" charset="-122"/>
                <a:cs typeface="Calibri" pitchFamily="34" charset="-120"/>
              </a:rPr>
              <a:t>Participations</a:t>
            </a:r>
            <a:endParaRPr lang="en-US" sz="1200" dirty="0"/>
          </a:p>
        </p:txBody>
      </p:sp>
      <p:sp>
        <p:nvSpPr>
          <p:cNvPr id="8" name="Text 6"/>
          <p:cNvSpPr/>
          <p:nvPr/>
        </p:nvSpPr>
        <p:spPr>
          <a:xfrm>
            <a:off x="3429000" y="4572000"/>
            <a:ext cx="237744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66</a:t>
            </a:r>
            <a:endParaRPr lang="en-US" sz="2600" dirty="0"/>
          </a:p>
        </p:txBody>
      </p:sp>
      <p:sp>
        <p:nvSpPr>
          <p:cNvPr id="9" name="Text 7"/>
          <p:cNvSpPr/>
          <p:nvPr/>
        </p:nvSpPr>
        <p:spPr>
          <a:xfrm>
            <a:off x="3429000" y="5047488"/>
            <a:ext cx="2377440" cy="274320"/>
          </a:xfrm>
          <a:prstGeom prst="rect">
            <a:avLst/>
          </a:prstGeom>
          <a:noFill/>
          <a:ln/>
        </p:spPr>
        <p:txBody>
          <a:bodyPr wrap="square" lIns="0" tIns="0" rIns="0" bIns="0" rtlCol="0" anchor="ctr"/>
          <a:lstStyle/>
          <a:p>
            <a:pPr indent="0" marL="0">
              <a:buNone/>
            </a:pPr>
            <a:r>
              <a:rPr lang="en-US" sz="1200" dirty="0">
                <a:solidFill>
                  <a:srgbClr val="9FB0C6"/>
                </a:solidFill>
                <a:latin typeface="Calibri" pitchFamily="34" charset="0"/>
                <a:ea typeface="Calibri" pitchFamily="34" charset="-122"/>
                <a:cs typeface="Calibri" pitchFamily="34" charset="-120"/>
              </a:rPr>
              <a:t>Unique participants</a:t>
            </a:r>
            <a:endParaRPr lang="en-US" sz="1200" dirty="0"/>
          </a:p>
        </p:txBody>
      </p:sp>
      <p:sp>
        <p:nvSpPr>
          <p:cNvPr id="10" name="Text 8"/>
          <p:cNvSpPr/>
          <p:nvPr/>
        </p:nvSpPr>
        <p:spPr>
          <a:xfrm>
            <a:off x="6035040" y="4572000"/>
            <a:ext cx="237744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16</a:t>
            </a:r>
            <a:endParaRPr lang="en-US" sz="2600" dirty="0"/>
          </a:p>
        </p:txBody>
      </p:sp>
      <p:sp>
        <p:nvSpPr>
          <p:cNvPr id="11" name="Text 9"/>
          <p:cNvSpPr/>
          <p:nvPr/>
        </p:nvSpPr>
        <p:spPr>
          <a:xfrm>
            <a:off x="6035040" y="5047488"/>
            <a:ext cx="2377440" cy="274320"/>
          </a:xfrm>
          <a:prstGeom prst="rect">
            <a:avLst/>
          </a:prstGeom>
          <a:noFill/>
          <a:ln/>
        </p:spPr>
        <p:txBody>
          <a:bodyPr wrap="square" lIns="0" tIns="0" rIns="0" bIns="0" rtlCol="0" anchor="ctr"/>
          <a:lstStyle/>
          <a:p>
            <a:pPr indent="0" marL="0">
              <a:buNone/>
            </a:pPr>
            <a:r>
              <a:rPr lang="en-US" sz="1200" dirty="0">
                <a:solidFill>
                  <a:srgbClr val="9FB0C6"/>
                </a:solidFill>
                <a:latin typeface="Calibri" pitchFamily="34" charset="0"/>
                <a:ea typeface="Calibri" pitchFamily="34" charset="-122"/>
                <a:cs typeface="Calibri" pitchFamily="34" charset="-120"/>
              </a:rPr>
              <a:t>Sessions</a:t>
            </a:r>
            <a:endParaRPr lang="en-US" sz="1200" dirty="0"/>
          </a:p>
        </p:txBody>
      </p:sp>
      <p:sp>
        <p:nvSpPr>
          <p:cNvPr id="12" name="Text 10"/>
          <p:cNvSpPr/>
          <p:nvPr/>
        </p:nvSpPr>
        <p:spPr>
          <a:xfrm>
            <a:off x="8641080" y="4572000"/>
            <a:ext cx="237744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9.45</a:t>
            </a:r>
            <a:endParaRPr lang="en-US" sz="2600" dirty="0"/>
          </a:p>
        </p:txBody>
      </p:sp>
      <p:sp>
        <p:nvSpPr>
          <p:cNvPr id="13" name="Text 11"/>
          <p:cNvSpPr/>
          <p:nvPr/>
        </p:nvSpPr>
        <p:spPr>
          <a:xfrm>
            <a:off x="8641080" y="5047488"/>
            <a:ext cx="2377440" cy="274320"/>
          </a:xfrm>
          <a:prstGeom prst="rect">
            <a:avLst/>
          </a:prstGeom>
          <a:noFill/>
          <a:ln/>
        </p:spPr>
        <p:txBody>
          <a:bodyPr wrap="square" lIns="0" tIns="0" rIns="0" bIns="0" rtlCol="0" anchor="ctr"/>
          <a:lstStyle/>
          <a:p>
            <a:pPr indent="0" marL="0">
              <a:buNone/>
            </a:pPr>
            <a:r>
              <a:rPr lang="en-US" sz="1200" dirty="0">
                <a:solidFill>
                  <a:srgbClr val="9FB0C6"/>
                </a:solidFill>
                <a:latin typeface="Calibri" pitchFamily="34" charset="0"/>
                <a:ea typeface="Calibri" pitchFamily="34" charset="-122"/>
                <a:cs typeface="Calibri" pitchFamily="34" charset="-120"/>
              </a:rPr>
              <a:t>Referral rating</a:t>
            </a:r>
            <a:endParaRPr lang="en-US" sz="1200" dirty="0"/>
          </a:p>
        </p:txBody>
      </p:sp>
      <p:sp>
        <p:nvSpPr>
          <p:cNvPr id="14" name="Text 12"/>
          <p:cNvSpPr/>
          <p:nvPr/>
        </p:nvSpPr>
        <p:spPr>
          <a:xfrm>
            <a:off x="822960" y="5943600"/>
            <a:ext cx="7315200" cy="274320"/>
          </a:xfrm>
          <a:prstGeom prst="rect">
            <a:avLst/>
          </a:prstGeom>
          <a:noFill/>
          <a:ln/>
        </p:spPr>
        <p:txBody>
          <a:bodyPr wrap="square" lIns="0" tIns="0" rIns="0" bIns="0" rtlCol="0" anchor="ctr"/>
          <a:lstStyle/>
          <a:p>
            <a:pPr indent="0" marL="0">
              <a:buNone/>
            </a:pPr>
            <a:r>
              <a:rPr lang="en-US" sz="1200" dirty="0">
                <a:solidFill>
                  <a:srgbClr val="7E8FA6"/>
                </a:solidFill>
                <a:latin typeface="Calibri" pitchFamily="34" charset="0"/>
                <a:ea typeface="Calibri" pitchFamily="34" charset="-122"/>
                <a:cs typeface="Calibri" pitchFamily="34" charset="-120"/>
              </a:rPr>
              <a:t>Prepared by Samuel Babajide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NAVIGATION</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Presentation Outline</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sp>
        <p:nvSpPr>
          <p:cNvPr id="5" name="Shape 3"/>
          <p:cNvSpPr/>
          <p:nvPr/>
        </p:nvSpPr>
        <p:spPr>
          <a:xfrm>
            <a:off x="502920" y="1371600"/>
            <a:ext cx="5394960" cy="1170432"/>
          </a:xfrm>
          <a:prstGeom prst="roundRect">
            <a:avLst>
              <a:gd name="adj" fmla="val 6250"/>
            </a:avLst>
          </a:prstGeom>
          <a:solidFill>
            <a:srgbClr val="F5F5F2"/>
          </a:solidFill>
          <a:ln w="6350">
            <a:solidFill>
              <a:srgbClr val="E3E6EB"/>
            </a:solidFill>
            <a:prstDash val="solid"/>
          </a:ln>
        </p:spPr>
      </p:sp>
      <p:sp>
        <p:nvSpPr>
          <p:cNvPr id="6" name="Text 4"/>
          <p:cNvSpPr/>
          <p:nvPr/>
        </p:nvSpPr>
        <p:spPr>
          <a:xfrm>
            <a:off x="731520" y="1536192"/>
            <a:ext cx="640080" cy="411480"/>
          </a:xfrm>
          <a:prstGeom prst="rect">
            <a:avLst/>
          </a:prstGeom>
          <a:noFill/>
          <a:ln/>
        </p:spPr>
        <p:txBody>
          <a:bodyPr wrap="square" lIns="0" tIns="0" rIns="0" bIns="0" rtlCol="0" anchor="ctr"/>
          <a:lstStyle/>
          <a:p>
            <a:pPr indent="0" marL="0">
              <a:buNone/>
            </a:pPr>
            <a:r>
              <a:rPr lang="en-US" sz="2200" b="1" dirty="0">
                <a:solidFill>
                  <a:srgbClr val="E3B23C"/>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417320" y="1536192"/>
            <a:ext cx="4297680" cy="274320"/>
          </a:xfrm>
          <a:prstGeom prst="rect">
            <a:avLst/>
          </a:prstGeom>
          <a:noFill/>
          <a:ln/>
        </p:spPr>
        <p:txBody>
          <a:bodyPr wrap="square" lIns="0" tIns="0" rIns="0" bIns="0" rtlCol="0" anchor="ctr"/>
          <a:lstStyle/>
          <a:p>
            <a:pPr indent="0" marL="0">
              <a:buNone/>
            </a:pPr>
            <a:r>
              <a:rPr lang="en-US" sz="1350" b="1" dirty="0">
                <a:solidFill>
                  <a:srgbClr val="1D2B4F"/>
                </a:solidFill>
                <a:latin typeface="Calibri" pitchFamily="34" charset="0"/>
                <a:ea typeface="Calibri" pitchFamily="34" charset="-122"/>
                <a:cs typeface="Calibri" pitchFamily="34" charset="-120"/>
              </a:rPr>
              <a:t>Programme Context</a:t>
            </a:r>
            <a:endParaRPr lang="en-US" sz="1350" dirty="0"/>
          </a:p>
        </p:txBody>
      </p:sp>
      <p:sp>
        <p:nvSpPr>
          <p:cNvPr id="8" name="Text 6"/>
          <p:cNvSpPr/>
          <p:nvPr/>
        </p:nvSpPr>
        <p:spPr>
          <a:xfrm>
            <a:off x="1417320" y="1847088"/>
            <a:ext cx="4297680" cy="502920"/>
          </a:xfrm>
          <a:prstGeom prst="rect">
            <a:avLst/>
          </a:prstGeom>
          <a:noFill/>
          <a:ln/>
        </p:spPr>
        <p:txBody>
          <a:bodyPr wrap="square" lIns="0" tIns="0" rIns="0" bIns="0" rtlCol="0" anchor="t"/>
          <a:lstStyle/>
          <a:p>
            <a:pPr indent="0" marL="0">
              <a:lnSpc>
                <a:spcPts val="1250"/>
              </a:lnSpc>
              <a:buNone/>
            </a:pPr>
            <a:r>
              <a:rPr lang="en-US" sz="1200" dirty="0">
                <a:solidFill>
                  <a:srgbClr val="5F6B7A"/>
                </a:solidFill>
                <a:latin typeface="Calibri" pitchFamily="34" charset="0"/>
                <a:ea typeface="Calibri" pitchFamily="34" charset="-122"/>
                <a:cs typeface="Calibri" pitchFamily="34" charset="-120"/>
              </a:rPr>
              <a:t>What Project Vogue is and what the data captures</a:t>
            </a:r>
            <a:endParaRPr lang="en-US" sz="1200" dirty="0"/>
          </a:p>
        </p:txBody>
      </p:sp>
      <p:sp>
        <p:nvSpPr>
          <p:cNvPr id="9" name="Shape 7"/>
          <p:cNvSpPr/>
          <p:nvPr/>
        </p:nvSpPr>
        <p:spPr>
          <a:xfrm>
            <a:off x="6263640" y="1371600"/>
            <a:ext cx="5394960" cy="1170432"/>
          </a:xfrm>
          <a:prstGeom prst="roundRect">
            <a:avLst>
              <a:gd name="adj" fmla="val 6250"/>
            </a:avLst>
          </a:prstGeom>
          <a:solidFill>
            <a:srgbClr val="F5F5F2"/>
          </a:solidFill>
          <a:ln w="6350">
            <a:solidFill>
              <a:srgbClr val="E3E6EB"/>
            </a:solidFill>
            <a:prstDash val="solid"/>
          </a:ln>
        </p:spPr>
      </p:sp>
      <p:sp>
        <p:nvSpPr>
          <p:cNvPr id="10" name="Text 8"/>
          <p:cNvSpPr/>
          <p:nvPr/>
        </p:nvSpPr>
        <p:spPr>
          <a:xfrm>
            <a:off x="6492240" y="1536192"/>
            <a:ext cx="640080" cy="411480"/>
          </a:xfrm>
          <a:prstGeom prst="rect">
            <a:avLst/>
          </a:prstGeom>
          <a:noFill/>
          <a:ln/>
        </p:spPr>
        <p:txBody>
          <a:bodyPr wrap="square" lIns="0" tIns="0" rIns="0" bIns="0" rtlCol="0" anchor="ctr"/>
          <a:lstStyle/>
          <a:p>
            <a:pPr indent="0" marL="0">
              <a:buNone/>
            </a:pPr>
            <a:r>
              <a:rPr lang="en-US" sz="2200" b="1" dirty="0">
                <a:solidFill>
                  <a:srgbClr val="E3B23C"/>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7178040" y="1536192"/>
            <a:ext cx="4297680" cy="274320"/>
          </a:xfrm>
          <a:prstGeom prst="rect">
            <a:avLst/>
          </a:prstGeom>
          <a:noFill/>
          <a:ln/>
        </p:spPr>
        <p:txBody>
          <a:bodyPr wrap="square" lIns="0" tIns="0" rIns="0" bIns="0" rtlCol="0" anchor="ctr"/>
          <a:lstStyle/>
          <a:p>
            <a:pPr indent="0" marL="0">
              <a:buNone/>
            </a:pPr>
            <a:r>
              <a:rPr lang="en-US" sz="1350" b="1" dirty="0">
                <a:solidFill>
                  <a:srgbClr val="1D2B4F"/>
                </a:solidFill>
                <a:latin typeface="Calibri" pitchFamily="34" charset="0"/>
                <a:ea typeface="Calibri" pitchFamily="34" charset="-122"/>
                <a:cs typeface="Calibri" pitchFamily="34" charset="-120"/>
              </a:rPr>
              <a:t>Data &amp; Preparation</a:t>
            </a:r>
            <a:endParaRPr lang="en-US" sz="1350" dirty="0"/>
          </a:p>
        </p:txBody>
      </p:sp>
      <p:sp>
        <p:nvSpPr>
          <p:cNvPr id="12" name="Text 10"/>
          <p:cNvSpPr/>
          <p:nvPr/>
        </p:nvSpPr>
        <p:spPr>
          <a:xfrm>
            <a:off x="7178040" y="1847088"/>
            <a:ext cx="4297680" cy="502920"/>
          </a:xfrm>
          <a:prstGeom prst="rect">
            <a:avLst/>
          </a:prstGeom>
          <a:noFill/>
          <a:ln/>
        </p:spPr>
        <p:txBody>
          <a:bodyPr wrap="square" lIns="0" tIns="0" rIns="0" bIns="0" rtlCol="0" anchor="t"/>
          <a:lstStyle/>
          <a:p>
            <a:pPr indent="0" marL="0">
              <a:lnSpc>
                <a:spcPts val="1250"/>
              </a:lnSpc>
              <a:buNone/>
            </a:pPr>
            <a:r>
              <a:rPr lang="en-US" sz="1200" dirty="0">
                <a:solidFill>
                  <a:srgbClr val="5F6B7A"/>
                </a:solidFill>
                <a:latin typeface="Calibri" pitchFamily="34" charset="0"/>
                <a:ea typeface="Calibri" pitchFamily="34" charset="-122"/>
                <a:cs typeface="Calibri" pitchFamily="34" charset="-120"/>
              </a:rPr>
              <a:t>517 survey responses, five cleaning steps</a:t>
            </a:r>
            <a:endParaRPr lang="en-US" sz="1200" dirty="0"/>
          </a:p>
        </p:txBody>
      </p:sp>
      <p:sp>
        <p:nvSpPr>
          <p:cNvPr id="13" name="Shape 11"/>
          <p:cNvSpPr/>
          <p:nvPr/>
        </p:nvSpPr>
        <p:spPr>
          <a:xfrm>
            <a:off x="502920" y="2743200"/>
            <a:ext cx="5394960" cy="1170432"/>
          </a:xfrm>
          <a:prstGeom prst="roundRect">
            <a:avLst>
              <a:gd name="adj" fmla="val 6250"/>
            </a:avLst>
          </a:prstGeom>
          <a:solidFill>
            <a:srgbClr val="F5F5F2"/>
          </a:solidFill>
          <a:ln w="6350">
            <a:solidFill>
              <a:srgbClr val="E3E6EB"/>
            </a:solidFill>
            <a:prstDash val="solid"/>
          </a:ln>
        </p:spPr>
      </p:sp>
      <p:sp>
        <p:nvSpPr>
          <p:cNvPr id="14" name="Text 12"/>
          <p:cNvSpPr/>
          <p:nvPr/>
        </p:nvSpPr>
        <p:spPr>
          <a:xfrm>
            <a:off x="731520" y="2907792"/>
            <a:ext cx="640080" cy="411480"/>
          </a:xfrm>
          <a:prstGeom prst="rect">
            <a:avLst/>
          </a:prstGeom>
          <a:noFill/>
          <a:ln/>
        </p:spPr>
        <p:txBody>
          <a:bodyPr wrap="square" lIns="0" tIns="0" rIns="0" bIns="0" rtlCol="0" anchor="ctr"/>
          <a:lstStyle/>
          <a:p>
            <a:pPr indent="0" marL="0">
              <a:buNone/>
            </a:pPr>
            <a:r>
              <a:rPr lang="en-US" sz="2200" b="1" dirty="0">
                <a:solidFill>
                  <a:srgbClr val="E3B23C"/>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417320" y="2907792"/>
            <a:ext cx="4297680" cy="274320"/>
          </a:xfrm>
          <a:prstGeom prst="rect">
            <a:avLst/>
          </a:prstGeom>
          <a:noFill/>
          <a:ln/>
        </p:spPr>
        <p:txBody>
          <a:bodyPr wrap="square" lIns="0" tIns="0" rIns="0" bIns="0" rtlCol="0" anchor="ctr"/>
          <a:lstStyle/>
          <a:p>
            <a:pPr indent="0" marL="0">
              <a:buNone/>
            </a:pPr>
            <a:r>
              <a:rPr lang="en-US" sz="1350" b="1" dirty="0">
                <a:solidFill>
                  <a:srgbClr val="1D2B4F"/>
                </a:solidFill>
                <a:latin typeface="Calibri" pitchFamily="34" charset="0"/>
                <a:ea typeface="Calibri" pitchFamily="34" charset="-122"/>
                <a:cs typeface="Calibri" pitchFamily="34" charset="-120"/>
              </a:rPr>
              <a:t>Data Quality Findings</a:t>
            </a:r>
            <a:endParaRPr lang="en-US" sz="1350" dirty="0"/>
          </a:p>
        </p:txBody>
      </p:sp>
      <p:sp>
        <p:nvSpPr>
          <p:cNvPr id="16" name="Text 14"/>
          <p:cNvSpPr/>
          <p:nvPr/>
        </p:nvSpPr>
        <p:spPr>
          <a:xfrm>
            <a:off x="1417320" y="3218688"/>
            <a:ext cx="4297680" cy="502920"/>
          </a:xfrm>
          <a:prstGeom prst="rect">
            <a:avLst/>
          </a:prstGeom>
          <a:noFill/>
          <a:ln/>
        </p:spPr>
        <p:txBody>
          <a:bodyPr wrap="square" lIns="0" tIns="0" rIns="0" bIns="0" rtlCol="0" anchor="t"/>
          <a:lstStyle/>
          <a:p>
            <a:pPr indent="0" marL="0">
              <a:lnSpc>
                <a:spcPts val="1250"/>
              </a:lnSpc>
              <a:buNone/>
            </a:pPr>
            <a:r>
              <a:rPr lang="en-US" sz="1200" dirty="0">
                <a:solidFill>
                  <a:srgbClr val="5F6B7A"/>
                </a:solidFill>
                <a:latin typeface="Calibri" pitchFamily="34" charset="0"/>
                <a:ea typeface="Calibri" pitchFamily="34" charset="-122"/>
                <a:cs typeface="Calibri" pitchFamily="34" charset="-120"/>
              </a:rPr>
              <a:t>Two issues resolved before analysis</a:t>
            </a:r>
            <a:endParaRPr lang="en-US" sz="1200" dirty="0"/>
          </a:p>
        </p:txBody>
      </p:sp>
      <p:sp>
        <p:nvSpPr>
          <p:cNvPr id="17" name="Shape 15"/>
          <p:cNvSpPr/>
          <p:nvPr/>
        </p:nvSpPr>
        <p:spPr>
          <a:xfrm>
            <a:off x="6263640" y="2743200"/>
            <a:ext cx="5394960" cy="1170432"/>
          </a:xfrm>
          <a:prstGeom prst="roundRect">
            <a:avLst>
              <a:gd name="adj" fmla="val 6250"/>
            </a:avLst>
          </a:prstGeom>
          <a:solidFill>
            <a:srgbClr val="F5F5F2"/>
          </a:solidFill>
          <a:ln w="6350">
            <a:solidFill>
              <a:srgbClr val="E3E6EB"/>
            </a:solidFill>
            <a:prstDash val="solid"/>
          </a:ln>
        </p:spPr>
      </p:sp>
      <p:sp>
        <p:nvSpPr>
          <p:cNvPr id="18" name="Text 16"/>
          <p:cNvSpPr/>
          <p:nvPr/>
        </p:nvSpPr>
        <p:spPr>
          <a:xfrm>
            <a:off x="6492240" y="2907792"/>
            <a:ext cx="640080" cy="411480"/>
          </a:xfrm>
          <a:prstGeom prst="rect">
            <a:avLst/>
          </a:prstGeom>
          <a:noFill/>
          <a:ln/>
        </p:spPr>
        <p:txBody>
          <a:bodyPr wrap="square" lIns="0" tIns="0" rIns="0" bIns="0" rtlCol="0" anchor="ctr"/>
          <a:lstStyle/>
          <a:p>
            <a:pPr indent="0" marL="0">
              <a:buNone/>
            </a:pPr>
            <a:r>
              <a:rPr lang="en-US" sz="2200" b="1" dirty="0">
                <a:solidFill>
                  <a:srgbClr val="E3B23C"/>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7178040" y="2907792"/>
            <a:ext cx="4297680" cy="274320"/>
          </a:xfrm>
          <a:prstGeom prst="rect">
            <a:avLst/>
          </a:prstGeom>
          <a:noFill/>
          <a:ln/>
        </p:spPr>
        <p:txBody>
          <a:bodyPr wrap="square" lIns="0" tIns="0" rIns="0" bIns="0" rtlCol="0" anchor="ctr"/>
          <a:lstStyle/>
          <a:p>
            <a:pPr indent="0" marL="0">
              <a:buNone/>
            </a:pPr>
            <a:r>
              <a:rPr lang="en-US" sz="1350" b="1" dirty="0">
                <a:solidFill>
                  <a:srgbClr val="1D2B4F"/>
                </a:solidFill>
                <a:latin typeface="Calibri" pitchFamily="34" charset="0"/>
                <a:ea typeface="Calibri" pitchFamily="34" charset="-122"/>
                <a:cs typeface="Calibri" pitchFamily="34" charset="-120"/>
              </a:rPr>
              <a:t>Engagement Findings</a:t>
            </a:r>
            <a:endParaRPr lang="en-US" sz="1350" dirty="0"/>
          </a:p>
        </p:txBody>
      </p:sp>
      <p:sp>
        <p:nvSpPr>
          <p:cNvPr id="20" name="Text 18"/>
          <p:cNvSpPr/>
          <p:nvPr/>
        </p:nvSpPr>
        <p:spPr>
          <a:xfrm>
            <a:off x="7178040" y="3218688"/>
            <a:ext cx="4297680" cy="502920"/>
          </a:xfrm>
          <a:prstGeom prst="rect">
            <a:avLst/>
          </a:prstGeom>
          <a:noFill/>
          <a:ln/>
        </p:spPr>
        <p:txBody>
          <a:bodyPr wrap="square" lIns="0" tIns="0" rIns="0" bIns="0" rtlCol="0" anchor="t"/>
          <a:lstStyle/>
          <a:p>
            <a:pPr indent="0" marL="0">
              <a:lnSpc>
                <a:spcPts val="1250"/>
              </a:lnSpc>
              <a:buNone/>
            </a:pPr>
            <a:r>
              <a:rPr lang="en-US" sz="1200" dirty="0">
                <a:solidFill>
                  <a:srgbClr val="5F6B7A"/>
                </a:solidFill>
                <a:latin typeface="Calibri" pitchFamily="34" charset="0"/>
                <a:ea typeface="Calibri" pitchFamily="34" charset="-122"/>
                <a:cs typeface="Calibri" pitchFamily="34" charset="-120"/>
              </a:rPr>
              <a:t>Participation, retention, demographics</a:t>
            </a:r>
            <a:endParaRPr lang="en-US" sz="1200" dirty="0"/>
          </a:p>
        </p:txBody>
      </p:sp>
      <p:sp>
        <p:nvSpPr>
          <p:cNvPr id="21" name="Shape 19"/>
          <p:cNvSpPr/>
          <p:nvPr/>
        </p:nvSpPr>
        <p:spPr>
          <a:xfrm>
            <a:off x="502920" y="4114800"/>
            <a:ext cx="5394960" cy="1170432"/>
          </a:xfrm>
          <a:prstGeom prst="roundRect">
            <a:avLst>
              <a:gd name="adj" fmla="val 6250"/>
            </a:avLst>
          </a:prstGeom>
          <a:solidFill>
            <a:srgbClr val="F5F5F2"/>
          </a:solidFill>
          <a:ln w="6350">
            <a:solidFill>
              <a:srgbClr val="E3E6EB"/>
            </a:solidFill>
            <a:prstDash val="solid"/>
          </a:ln>
        </p:spPr>
      </p:sp>
      <p:sp>
        <p:nvSpPr>
          <p:cNvPr id="22" name="Text 20"/>
          <p:cNvSpPr/>
          <p:nvPr/>
        </p:nvSpPr>
        <p:spPr>
          <a:xfrm>
            <a:off x="731520" y="4279392"/>
            <a:ext cx="640080" cy="411480"/>
          </a:xfrm>
          <a:prstGeom prst="rect">
            <a:avLst/>
          </a:prstGeom>
          <a:noFill/>
          <a:ln/>
        </p:spPr>
        <p:txBody>
          <a:bodyPr wrap="square" lIns="0" tIns="0" rIns="0" bIns="0" rtlCol="0" anchor="ctr"/>
          <a:lstStyle/>
          <a:p>
            <a:pPr indent="0" marL="0">
              <a:buNone/>
            </a:pPr>
            <a:r>
              <a:rPr lang="en-US" sz="2200" b="1" dirty="0">
                <a:solidFill>
                  <a:srgbClr val="E3B23C"/>
                </a:solidFill>
                <a:latin typeface="Cambria" pitchFamily="34" charset="0"/>
                <a:ea typeface="Cambria" pitchFamily="34" charset="-122"/>
                <a:cs typeface="Cambria" pitchFamily="34" charset="-120"/>
              </a:rPr>
              <a:t>05</a:t>
            </a:r>
            <a:endParaRPr lang="en-US" sz="2200" dirty="0"/>
          </a:p>
        </p:txBody>
      </p:sp>
      <p:sp>
        <p:nvSpPr>
          <p:cNvPr id="23" name="Text 21"/>
          <p:cNvSpPr/>
          <p:nvPr/>
        </p:nvSpPr>
        <p:spPr>
          <a:xfrm>
            <a:off x="1417320" y="4279392"/>
            <a:ext cx="4297680" cy="274320"/>
          </a:xfrm>
          <a:prstGeom prst="rect">
            <a:avLst/>
          </a:prstGeom>
          <a:noFill/>
          <a:ln/>
        </p:spPr>
        <p:txBody>
          <a:bodyPr wrap="square" lIns="0" tIns="0" rIns="0" bIns="0" rtlCol="0" anchor="ctr"/>
          <a:lstStyle/>
          <a:p>
            <a:pPr indent="0" marL="0">
              <a:buNone/>
            </a:pPr>
            <a:r>
              <a:rPr lang="en-US" sz="1350" b="1" dirty="0">
                <a:solidFill>
                  <a:srgbClr val="1D2B4F"/>
                </a:solidFill>
                <a:latin typeface="Calibri" pitchFamily="34" charset="0"/>
                <a:ea typeface="Calibri" pitchFamily="34" charset="-122"/>
                <a:cs typeface="Calibri" pitchFamily="34" charset="-120"/>
              </a:rPr>
              <a:t>Satisfaction Analysis</a:t>
            </a:r>
            <a:endParaRPr lang="en-US" sz="1350" dirty="0"/>
          </a:p>
        </p:txBody>
      </p:sp>
      <p:sp>
        <p:nvSpPr>
          <p:cNvPr id="24" name="Text 22"/>
          <p:cNvSpPr/>
          <p:nvPr/>
        </p:nvSpPr>
        <p:spPr>
          <a:xfrm>
            <a:off x="1417320" y="4590288"/>
            <a:ext cx="4297680" cy="502920"/>
          </a:xfrm>
          <a:prstGeom prst="rect">
            <a:avLst/>
          </a:prstGeom>
          <a:noFill/>
          <a:ln/>
        </p:spPr>
        <p:txBody>
          <a:bodyPr wrap="square" lIns="0" tIns="0" rIns="0" bIns="0" rtlCol="0" anchor="t"/>
          <a:lstStyle/>
          <a:p>
            <a:pPr indent="0" marL="0">
              <a:lnSpc>
                <a:spcPts val="1250"/>
              </a:lnSpc>
              <a:buNone/>
            </a:pPr>
            <a:r>
              <a:rPr lang="en-US" sz="1200" dirty="0">
                <a:solidFill>
                  <a:srgbClr val="5F6B7A"/>
                </a:solidFill>
                <a:latin typeface="Calibri" pitchFamily="34" charset="0"/>
                <a:ea typeface="Calibri" pitchFamily="34" charset="-122"/>
                <a:cs typeface="Calibri" pitchFamily="34" charset="-120"/>
              </a:rPr>
              <a:t>Referral scores and qualitative feedback</a:t>
            </a:r>
            <a:endParaRPr lang="en-US" sz="1200" dirty="0"/>
          </a:p>
        </p:txBody>
      </p:sp>
      <p:sp>
        <p:nvSpPr>
          <p:cNvPr id="25" name="Shape 23"/>
          <p:cNvSpPr/>
          <p:nvPr/>
        </p:nvSpPr>
        <p:spPr>
          <a:xfrm>
            <a:off x="6263640" y="4114800"/>
            <a:ext cx="5394960" cy="1170432"/>
          </a:xfrm>
          <a:prstGeom prst="roundRect">
            <a:avLst>
              <a:gd name="adj" fmla="val 6250"/>
            </a:avLst>
          </a:prstGeom>
          <a:solidFill>
            <a:srgbClr val="F5F5F2"/>
          </a:solidFill>
          <a:ln w="6350">
            <a:solidFill>
              <a:srgbClr val="E3E6EB"/>
            </a:solidFill>
            <a:prstDash val="solid"/>
          </a:ln>
        </p:spPr>
      </p:sp>
      <p:sp>
        <p:nvSpPr>
          <p:cNvPr id="26" name="Text 24"/>
          <p:cNvSpPr/>
          <p:nvPr/>
        </p:nvSpPr>
        <p:spPr>
          <a:xfrm>
            <a:off x="6492240" y="4279392"/>
            <a:ext cx="640080" cy="411480"/>
          </a:xfrm>
          <a:prstGeom prst="rect">
            <a:avLst/>
          </a:prstGeom>
          <a:noFill/>
          <a:ln/>
        </p:spPr>
        <p:txBody>
          <a:bodyPr wrap="square" lIns="0" tIns="0" rIns="0" bIns="0" rtlCol="0" anchor="ctr"/>
          <a:lstStyle/>
          <a:p>
            <a:pPr indent="0" marL="0">
              <a:buNone/>
            </a:pPr>
            <a:r>
              <a:rPr lang="en-US" sz="2200" b="1" dirty="0">
                <a:solidFill>
                  <a:srgbClr val="E3B23C"/>
                </a:solidFill>
                <a:latin typeface="Cambria" pitchFamily="34" charset="0"/>
                <a:ea typeface="Cambria" pitchFamily="34" charset="-122"/>
                <a:cs typeface="Cambria" pitchFamily="34" charset="-120"/>
              </a:rPr>
              <a:t>06</a:t>
            </a:r>
            <a:endParaRPr lang="en-US" sz="2200" dirty="0"/>
          </a:p>
        </p:txBody>
      </p:sp>
      <p:sp>
        <p:nvSpPr>
          <p:cNvPr id="27" name="Text 25"/>
          <p:cNvSpPr/>
          <p:nvPr/>
        </p:nvSpPr>
        <p:spPr>
          <a:xfrm>
            <a:off x="7178040" y="4279392"/>
            <a:ext cx="4297680" cy="274320"/>
          </a:xfrm>
          <a:prstGeom prst="rect">
            <a:avLst/>
          </a:prstGeom>
          <a:noFill/>
          <a:ln/>
        </p:spPr>
        <p:txBody>
          <a:bodyPr wrap="square" lIns="0" tIns="0" rIns="0" bIns="0" rtlCol="0" anchor="ctr"/>
          <a:lstStyle/>
          <a:p>
            <a:pPr indent="0" marL="0">
              <a:buNone/>
            </a:pPr>
            <a:r>
              <a:rPr lang="en-US" sz="1350" b="1" dirty="0">
                <a:solidFill>
                  <a:srgbClr val="1D2B4F"/>
                </a:solidFill>
                <a:latin typeface="Calibri" pitchFamily="34" charset="0"/>
                <a:ea typeface="Calibri" pitchFamily="34" charset="-122"/>
                <a:cs typeface="Calibri" pitchFamily="34" charset="-120"/>
              </a:rPr>
              <a:t>Dashboard &amp; Interactivity</a:t>
            </a:r>
            <a:endParaRPr lang="en-US" sz="1350" dirty="0"/>
          </a:p>
        </p:txBody>
      </p:sp>
      <p:sp>
        <p:nvSpPr>
          <p:cNvPr id="28" name="Text 26"/>
          <p:cNvSpPr/>
          <p:nvPr/>
        </p:nvSpPr>
        <p:spPr>
          <a:xfrm>
            <a:off x="7178040" y="4590288"/>
            <a:ext cx="4297680" cy="502920"/>
          </a:xfrm>
          <a:prstGeom prst="rect">
            <a:avLst/>
          </a:prstGeom>
          <a:noFill/>
          <a:ln/>
        </p:spPr>
        <p:txBody>
          <a:bodyPr wrap="square" lIns="0" tIns="0" rIns="0" bIns="0" rtlCol="0" anchor="t"/>
          <a:lstStyle/>
          <a:p>
            <a:pPr indent="0" marL="0">
              <a:lnSpc>
                <a:spcPts val="1250"/>
              </a:lnSpc>
              <a:buNone/>
            </a:pPr>
            <a:r>
              <a:rPr lang="en-US" sz="1200" dirty="0">
                <a:solidFill>
                  <a:srgbClr val="5F6B7A"/>
                </a:solidFill>
                <a:latin typeface="Calibri" pitchFamily="34" charset="0"/>
                <a:ea typeface="Calibri" pitchFamily="34" charset="-122"/>
                <a:cs typeface="Calibri" pitchFamily="34" charset="-120"/>
              </a:rPr>
              <a:t>The Power BI report, live-filtered</a:t>
            </a:r>
            <a:endParaRPr lang="en-US" sz="1200" dirty="0"/>
          </a:p>
        </p:txBody>
      </p:sp>
      <p:sp>
        <p:nvSpPr>
          <p:cNvPr id="29" name="Shape 27"/>
          <p:cNvSpPr/>
          <p:nvPr/>
        </p:nvSpPr>
        <p:spPr>
          <a:xfrm>
            <a:off x="502920" y="5486400"/>
            <a:ext cx="5394960" cy="1170432"/>
          </a:xfrm>
          <a:prstGeom prst="roundRect">
            <a:avLst>
              <a:gd name="adj" fmla="val 6250"/>
            </a:avLst>
          </a:prstGeom>
          <a:solidFill>
            <a:srgbClr val="F5F5F2"/>
          </a:solidFill>
          <a:ln w="6350">
            <a:solidFill>
              <a:srgbClr val="E3E6EB"/>
            </a:solidFill>
            <a:prstDash val="solid"/>
          </a:ln>
        </p:spPr>
      </p:sp>
      <p:sp>
        <p:nvSpPr>
          <p:cNvPr id="30" name="Text 28"/>
          <p:cNvSpPr/>
          <p:nvPr/>
        </p:nvSpPr>
        <p:spPr>
          <a:xfrm>
            <a:off x="731520" y="5650992"/>
            <a:ext cx="640080" cy="411480"/>
          </a:xfrm>
          <a:prstGeom prst="rect">
            <a:avLst/>
          </a:prstGeom>
          <a:noFill/>
          <a:ln/>
        </p:spPr>
        <p:txBody>
          <a:bodyPr wrap="square" lIns="0" tIns="0" rIns="0" bIns="0" rtlCol="0" anchor="ctr"/>
          <a:lstStyle/>
          <a:p>
            <a:pPr indent="0" marL="0">
              <a:buNone/>
            </a:pPr>
            <a:r>
              <a:rPr lang="en-US" sz="2200" b="1" dirty="0">
                <a:solidFill>
                  <a:srgbClr val="E3B23C"/>
                </a:solidFill>
                <a:latin typeface="Cambria" pitchFamily="34" charset="0"/>
                <a:ea typeface="Cambria" pitchFamily="34" charset="-122"/>
                <a:cs typeface="Cambria" pitchFamily="34" charset="-120"/>
              </a:rPr>
              <a:t>07</a:t>
            </a:r>
            <a:endParaRPr lang="en-US" sz="2200" dirty="0"/>
          </a:p>
        </p:txBody>
      </p:sp>
      <p:sp>
        <p:nvSpPr>
          <p:cNvPr id="31" name="Text 29"/>
          <p:cNvSpPr/>
          <p:nvPr/>
        </p:nvSpPr>
        <p:spPr>
          <a:xfrm>
            <a:off x="1417320" y="5650992"/>
            <a:ext cx="4297680" cy="274320"/>
          </a:xfrm>
          <a:prstGeom prst="rect">
            <a:avLst/>
          </a:prstGeom>
          <a:noFill/>
          <a:ln/>
        </p:spPr>
        <p:txBody>
          <a:bodyPr wrap="square" lIns="0" tIns="0" rIns="0" bIns="0" rtlCol="0" anchor="ctr"/>
          <a:lstStyle/>
          <a:p>
            <a:pPr indent="0" marL="0">
              <a:buNone/>
            </a:pPr>
            <a:r>
              <a:rPr lang="en-US" sz="1350" b="1" dirty="0">
                <a:solidFill>
                  <a:srgbClr val="1D2B4F"/>
                </a:solidFill>
                <a:latin typeface="Calibri" pitchFamily="34" charset="0"/>
                <a:ea typeface="Calibri" pitchFamily="34" charset="-122"/>
                <a:cs typeface="Calibri" pitchFamily="34" charset="-120"/>
              </a:rPr>
              <a:t>Recommendations</a:t>
            </a:r>
            <a:endParaRPr lang="en-US" sz="1350" dirty="0"/>
          </a:p>
        </p:txBody>
      </p:sp>
      <p:sp>
        <p:nvSpPr>
          <p:cNvPr id="32" name="Text 30"/>
          <p:cNvSpPr/>
          <p:nvPr/>
        </p:nvSpPr>
        <p:spPr>
          <a:xfrm>
            <a:off x="1417320" y="5961888"/>
            <a:ext cx="4297680" cy="502920"/>
          </a:xfrm>
          <a:prstGeom prst="rect">
            <a:avLst/>
          </a:prstGeom>
          <a:noFill/>
          <a:ln/>
        </p:spPr>
        <p:txBody>
          <a:bodyPr wrap="square" lIns="0" tIns="0" rIns="0" bIns="0" rtlCol="0" anchor="t"/>
          <a:lstStyle/>
          <a:p>
            <a:pPr indent="0" marL="0">
              <a:lnSpc>
                <a:spcPts val="1250"/>
              </a:lnSpc>
              <a:buNone/>
            </a:pPr>
            <a:r>
              <a:rPr lang="en-US" sz="1200" dirty="0">
                <a:solidFill>
                  <a:srgbClr val="5F6B7A"/>
                </a:solidFill>
                <a:latin typeface="Calibri" pitchFamily="34" charset="0"/>
                <a:ea typeface="Calibri" pitchFamily="34" charset="-122"/>
                <a:cs typeface="Calibri" pitchFamily="34" charset="-120"/>
              </a:rPr>
              <a:t>Where the programme goes next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01 · INTRODUCTION</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Programme Context</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sp>
        <p:nvSpPr>
          <p:cNvPr id="5" name="Shape 3"/>
          <p:cNvSpPr/>
          <p:nvPr/>
        </p:nvSpPr>
        <p:spPr>
          <a:xfrm>
            <a:off x="502920" y="1417320"/>
            <a:ext cx="5943600" cy="3108960"/>
          </a:xfrm>
          <a:prstGeom prst="rect">
            <a:avLst/>
          </a:prstGeom>
          <a:solidFill>
            <a:srgbClr val="1D2B4F"/>
          </a:solidFill>
          <a:ln/>
        </p:spPr>
      </p:sp>
      <p:sp>
        <p:nvSpPr>
          <p:cNvPr id="6" name="Text 4"/>
          <p:cNvSpPr/>
          <p:nvPr/>
        </p:nvSpPr>
        <p:spPr>
          <a:xfrm>
            <a:off x="777240" y="1627632"/>
            <a:ext cx="5394960" cy="292608"/>
          </a:xfrm>
          <a:prstGeom prst="rect">
            <a:avLst/>
          </a:prstGeom>
          <a:noFill/>
          <a:ln/>
        </p:spPr>
        <p:txBody>
          <a:bodyPr wrap="square" lIns="0" tIns="0" rIns="0" bIns="0" rtlCol="0" anchor="ctr"/>
          <a:lstStyle/>
          <a:p>
            <a:pPr indent="0" marL="0">
              <a:buNone/>
            </a:pPr>
            <a:r>
              <a:rPr lang="en-US" sz="1300" b="1" dirty="0">
                <a:solidFill>
                  <a:srgbClr val="E3B23C"/>
                </a:solidFill>
                <a:latin typeface="Calibri" pitchFamily="34" charset="0"/>
                <a:ea typeface="Calibri" pitchFamily="34" charset="-122"/>
                <a:cs typeface="Calibri" pitchFamily="34" charset="-120"/>
              </a:rPr>
              <a:t>What the data captures</a:t>
            </a:r>
            <a:endParaRPr lang="en-US" sz="1300" dirty="0"/>
          </a:p>
        </p:txBody>
      </p:sp>
      <p:sp>
        <p:nvSpPr>
          <p:cNvPr id="7" name="Text 5"/>
          <p:cNvSpPr/>
          <p:nvPr/>
        </p:nvSpPr>
        <p:spPr>
          <a:xfrm>
            <a:off x="777240" y="1956816"/>
            <a:ext cx="5394960" cy="1051560"/>
          </a:xfrm>
          <a:prstGeom prst="rect">
            <a:avLst/>
          </a:prstGeom>
          <a:noFill/>
          <a:ln/>
        </p:spPr>
        <p:txBody>
          <a:bodyPr wrap="square" lIns="0" tIns="0" rIns="0" bIns="0" rtlCol="0" anchor="t"/>
          <a:lstStyle/>
          <a:p>
            <a:pPr indent="0" marL="0">
              <a:lnSpc>
                <a:spcPts val="1700"/>
              </a:lnSpc>
              <a:buNone/>
            </a:pPr>
            <a:r>
              <a:rPr lang="en-US" sz="1200" dirty="0">
                <a:solidFill>
                  <a:srgbClr val="D7DEE8"/>
                </a:solidFill>
                <a:latin typeface="Calibri" pitchFamily="34" charset="0"/>
                <a:ea typeface="Calibri" pitchFamily="34" charset="-122"/>
                <a:cs typeface="Calibri" pitchFamily="34" charset="-120"/>
              </a:rPr>
              <a:t>Project Vogue delivers Yoruba cultural heritage sessions across three programme strands. Every attendee completes a short exit survey covering what they learned, what they would improve, and how likely they are to recommend the programme.</a:t>
            </a:r>
            <a:endParaRPr lang="en-US" sz="1200" dirty="0"/>
          </a:p>
        </p:txBody>
      </p:sp>
      <p:sp>
        <p:nvSpPr>
          <p:cNvPr id="8" name="Text 6"/>
          <p:cNvSpPr/>
          <p:nvPr/>
        </p:nvSpPr>
        <p:spPr>
          <a:xfrm>
            <a:off x="777240" y="3017520"/>
            <a:ext cx="5394960" cy="256032"/>
          </a:xfrm>
          <a:prstGeom prst="rect">
            <a:avLst/>
          </a:prstGeom>
          <a:noFill/>
          <a:ln/>
        </p:spPr>
        <p:txBody>
          <a:bodyPr wrap="square" lIns="0" tIns="0" rIns="0" bIns="0" rtlCol="0" anchor="ctr"/>
          <a:lstStyle/>
          <a:p>
            <a:pPr indent="0" marL="0">
              <a:buNone/>
            </a:pPr>
            <a:r>
              <a:rPr lang="en-US" sz="1200" b="1" dirty="0">
                <a:solidFill>
                  <a:srgbClr val="E3B23C"/>
                </a:solidFill>
                <a:latin typeface="Calibri" pitchFamily="34" charset="0"/>
                <a:ea typeface="Calibri" pitchFamily="34" charset="-122"/>
                <a:cs typeface="Calibri" pitchFamily="34" charset="-120"/>
              </a:rPr>
              <a:t>Analytical objectives</a:t>
            </a:r>
            <a:endParaRPr lang="en-US" sz="1200" dirty="0"/>
          </a:p>
        </p:txBody>
      </p:sp>
      <p:sp>
        <p:nvSpPr>
          <p:cNvPr id="9" name="Text 7"/>
          <p:cNvSpPr/>
          <p:nvPr/>
        </p:nvSpPr>
        <p:spPr>
          <a:xfrm>
            <a:off x="841248" y="3291840"/>
            <a:ext cx="5330952" cy="1188720"/>
          </a:xfrm>
          <a:prstGeom prst="rect">
            <a:avLst/>
          </a:prstGeom>
          <a:noFill/>
          <a:ln/>
        </p:spPr>
        <p:txBody>
          <a:bodyPr wrap="square" lIns="0" tIns="0" rIns="0" bIns="0" rtlCol="0" anchor="t"/>
          <a:lstStyle/>
          <a:p>
            <a:pPr marL="342900" indent="-342900">
              <a:lnSpc>
                <a:spcPts val="1600"/>
              </a:lnSpc>
              <a:buSzPct val="100000"/>
              <a:buChar char="•"/>
            </a:pPr>
            <a:r>
              <a:rPr lang="en-US" sz="1200" dirty="0">
                <a:solidFill>
                  <a:srgbClr val="B9C6D6"/>
                </a:solidFill>
                <a:latin typeface="Calibri" pitchFamily="34" charset="0"/>
                <a:ea typeface="Calibri" pitchFamily="34" charset="-122"/>
                <a:cs typeface="Calibri" pitchFamily="34" charset="-120"/>
              </a:rPr>
              <a:t>Measure true reach by resolving duplicate identities</a:t>
            </a:r>
            <a:endParaRPr lang="en-US" sz="1200" dirty="0"/>
          </a:p>
          <a:p>
            <a:pPr marL="342900" indent="-342900">
              <a:lnSpc>
                <a:spcPts val="1600"/>
              </a:lnSpc>
              <a:buSzPct val="100000"/>
              <a:buChar char="•"/>
            </a:pPr>
            <a:r>
              <a:rPr lang="en-US" sz="1200" dirty="0">
                <a:solidFill>
                  <a:srgbClr val="B9C6D6"/>
                </a:solidFill>
                <a:latin typeface="Calibri" pitchFamily="34" charset="0"/>
                <a:ea typeface="Calibri" pitchFamily="34" charset="-122"/>
                <a:cs typeface="Calibri" pitchFamily="34" charset="-120"/>
              </a:rPr>
              <a:t>Quantify participation, retention and demographic spread</a:t>
            </a:r>
            <a:endParaRPr lang="en-US" sz="1200" dirty="0"/>
          </a:p>
          <a:p>
            <a:pPr marL="342900" indent="-342900">
              <a:lnSpc>
                <a:spcPts val="1600"/>
              </a:lnSpc>
              <a:buSzPct val="100000"/>
              <a:buChar char="•"/>
            </a:pPr>
            <a:r>
              <a:rPr lang="en-US" sz="1200" dirty="0">
                <a:solidFill>
                  <a:srgbClr val="B9C6D6"/>
                </a:solidFill>
                <a:latin typeface="Calibri" pitchFamily="34" charset="0"/>
                <a:ea typeface="Calibri" pitchFamily="34" charset="-122"/>
                <a:cs typeface="Calibri" pitchFamily="34" charset="-120"/>
              </a:rPr>
              <a:t>Assess satisfaction through referral scoring</a:t>
            </a:r>
            <a:endParaRPr lang="en-US" sz="1200" dirty="0"/>
          </a:p>
          <a:p>
            <a:pPr marL="342900" indent="-342900">
              <a:lnSpc>
                <a:spcPts val="1600"/>
              </a:lnSpc>
              <a:buSzPct val="100000"/>
              <a:buChar char="•"/>
            </a:pPr>
            <a:r>
              <a:rPr lang="en-US" sz="1200" dirty="0">
                <a:solidFill>
                  <a:srgbClr val="B9C6D6"/>
                </a:solidFill>
                <a:latin typeface="Calibri" pitchFamily="34" charset="0"/>
                <a:ea typeface="Calibri" pitchFamily="34" charset="-122"/>
                <a:cs typeface="Calibri" pitchFamily="34" charset="-120"/>
              </a:rPr>
              <a:t>Surface what participants value and what they request</a:t>
            </a:r>
            <a:endParaRPr lang="en-US" sz="1200" dirty="0"/>
          </a:p>
          <a:p>
            <a:pPr marL="342900" indent="-342900">
              <a:lnSpc>
                <a:spcPts val="1600"/>
              </a:lnSpc>
              <a:buSzPct val="100000"/>
              <a:buChar char="•"/>
            </a:pPr>
            <a:r>
              <a:rPr lang="en-US" sz="1200" dirty="0">
                <a:solidFill>
                  <a:srgbClr val="B9C6D6"/>
                </a:solidFill>
                <a:latin typeface="Calibri" pitchFamily="34" charset="0"/>
                <a:ea typeface="Calibri" pitchFamily="34" charset="-122"/>
                <a:cs typeface="Calibri" pitchFamily="34" charset="-120"/>
              </a:rPr>
              <a:t>Deliver an interactive report for programme decisions</a:t>
            </a:r>
            <a:endParaRPr lang="en-US" sz="1200" dirty="0"/>
          </a:p>
        </p:txBody>
      </p:sp>
      <p:sp>
        <p:nvSpPr>
          <p:cNvPr id="10" name="Text 8"/>
          <p:cNvSpPr/>
          <p:nvPr/>
        </p:nvSpPr>
        <p:spPr>
          <a:xfrm>
            <a:off x="6812280" y="1417320"/>
            <a:ext cx="4846320" cy="274320"/>
          </a:xfrm>
          <a:prstGeom prst="rect">
            <a:avLst/>
          </a:prstGeom>
          <a:noFill/>
          <a:ln/>
        </p:spPr>
        <p:txBody>
          <a:bodyPr wrap="square" lIns="0" tIns="0" rIns="0" bIns="0" rtlCol="0" anchor="ctr"/>
          <a:lstStyle/>
          <a:p>
            <a:pPr indent="0" marL="0">
              <a:buNone/>
            </a:pPr>
            <a:r>
              <a:rPr lang="en-US" sz="1300" b="1" dirty="0">
                <a:solidFill>
                  <a:srgbClr val="B8891F"/>
                </a:solidFill>
                <a:latin typeface="Calibri" pitchFamily="34" charset="0"/>
                <a:ea typeface="Calibri" pitchFamily="34" charset="-122"/>
                <a:cs typeface="Calibri" pitchFamily="34" charset="-120"/>
              </a:rPr>
              <a:t>Three programme strands</a:t>
            </a:r>
            <a:endParaRPr lang="en-US" sz="1300" dirty="0"/>
          </a:p>
        </p:txBody>
      </p:sp>
      <p:sp>
        <p:nvSpPr>
          <p:cNvPr id="11" name="Shape 9"/>
          <p:cNvSpPr/>
          <p:nvPr/>
        </p:nvSpPr>
        <p:spPr>
          <a:xfrm>
            <a:off x="6812280" y="1865376"/>
            <a:ext cx="164592" cy="164592"/>
          </a:xfrm>
          <a:prstGeom prst="ellipse">
            <a:avLst/>
          </a:prstGeom>
          <a:solidFill>
            <a:srgbClr val="C9A227"/>
          </a:solidFill>
          <a:ln/>
        </p:spPr>
      </p:sp>
      <p:sp>
        <p:nvSpPr>
          <p:cNvPr id="12" name="Text 10"/>
          <p:cNvSpPr/>
          <p:nvPr/>
        </p:nvSpPr>
        <p:spPr>
          <a:xfrm>
            <a:off x="7086600" y="1810512"/>
            <a:ext cx="2194560" cy="237744"/>
          </a:xfrm>
          <a:prstGeom prst="rect">
            <a:avLst/>
          </a:prstGeom>
          <a:noFill/>
          <a:ln/>
        </p:spPr>
        <p:txBody>
          <a:bodyPr wrap="square" lIns="0" tIns="0" rIns="0" bIns="0" rtlCol="0" anchor="ctr"/>
          <a:lstStyle/>
          <a:p>
            <a:pPr indent="0" marL="0">
              <a:buNone/>
            </a:pPr>
            <a:r>
              <a:rPr lang="en-US" sz="1250" b="1" dirty="0">
                <a:solidFill>
                  <a:srgbClr val="1D2B4F"/>
                </a:solidFill>
                <a:latin typeface="Calibri" pitchFamily="34" charset="0"/>
                <a:ea typeface="Calibri" pitchFamily="34" charset="-122"/>
                <a:cs typeface="Calibri" pitchFamily="34" charset="-120"/>
              </a:rPr>
              <a:t>Storytelling</a:t>
            </a:r>
            <a:endParaRPr lang="en-US" sz="1250" dirty="0"/>
          </a:p>
        </p:txBody>
      </p:sp>
      <p:sp>
        <p:nvSpPr>
          <p:cNvPr id="13" name="Text 11"/>
          <p:cNvSpPr/>
          <p:nvPr/>
        </p:nvSpPr>
        <p:spPr>
          <a:xfrm>
            <a:off x="9144000" y="1810512"/>
            <a:ext cx="2514600" cy="237744"/>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8 sessions · 300 attendances</a:t>
            </a:r>
            <a:endParaRPr lang="en-US" sz="1200" dirty="0"/>
          </a:p>
        </p:txBody>
      </p:sp>
      <p:sp>
        <p:nvSpPr>
          <p:cNvPr id="14" name="Text 12"/>
          <p:cNvSpPr/>
          <p:nvPr/>
        </p:nvSpPr>
        <p:spPr>
          <a:xfrm>
            <a:off x="7086600" y="2066544"/>
            <a:ext cx="4572000" cy="548640"/>
          </a:xfrm>
          <a:prstGeom prst="rect">
            <a:avLst/>
          </a:prstGeom>
          <a:noFill/>
          <a:ln/>
        </p:spPr>
        <p:txBody>
          <a:bodyPr wrap="square" lIns="0" tIns="0" rIns="0" bIns="0" rtlCol="0" anchor="t"/>
          <a:lstStyle/>
          <a:p>
            <a:pPr indent="0" marL="0">
              <a:lnSpc>
                <a:spcPts val="1250"/>
              </a:lnSpc>
              <a:buNone/>
            </a:pPr>
            <a:r>
              <a:rPr lang="en-US" sz="1200" dirty="0">
                <a:solidFill>
                  <a:srgbClr val="5F6B7A"/>
                </a:solidFill>
                <a:latin typeface="Calibri" pitchFamily="34" charset="0"/>
                <a:ea typeface="Calibri" pitchFamily="34" charset="-122"/>
                <a:cs typeface="Calibri" pitchFamily="34" charset="-120"/>
              </a:rPr>
              <a:t>Folktales, proverbs, Aroko symbolic messaging and Yoruba greetings.</a:t>
            </a:r>
            <a:endParaRPr lang="en-US" sz="1200" dirty="0"/>
          </a:p>
        </p:txBody>
      </p:sp>
      <p:sp>
        <p:nvSpPr>
          <p:cNvPr id="15" name="Shape 13"/>
          <p:cNvSpPr/>
          <p:nvPr/>
        </p:nvSpPr>
        <p:spPr>
          <a:xfrm>
            <a:off x="6812280" y="2798064"/>
            <a:ext cx="164592" cy="164592"/>
          </a:xfrm>
          <a:prstGeom prst="ellipse">
            <a:avLst/>
          </a:prstGeom>
          <a:solidFill>
            <a:srgbClr val="6FA287"/>
          </a:solidFill>
          <a:ln/>
        </p:spPr>
      </p:sp>
      <p:sp>
        <p:nvSpPr>
          <p:cNvPr id="16" name="Text 14"/>
          <p:cNvSpPr/>
          <p:nvPr/>
        </p:nvSpPr>
        <p:spPr>
          <a:xfrm>
            <a:off x="7086600" y="2743200"/>
            <a:ext cx="2194560" cy="237744"/>
          </a:xfrm>
          <a:prstGeom prst="rect">
            <a:avLst/>
          </a:prstGeom>
          <a:noFill/>
          <a:ln/>
        </p:spPr>
        <p:txBody>
          <a:bodyPr wrap="square" lIns="0" tIns="0" rIns="0" bIns="0" rtlCol="0" anchor="ctr"/>
          <a:lstStyle/>
          <a:p>
            <a:pPr indent="0" marL="0">
              <a:buNone/>
            </a:pPr>
            <a:r>
              <a:rPr lang="en-US" sz="1250" b="1" dirty="0">
                <a:solidFill>
                  <a:srgbClr val="1D2B4F"/>
                </a:solidFill>
                <a:latin typeface="Calibri" pitchFamily="34" charset="0"/>
                <a:ea typeface="Calibri" pitchFamily="34" charset="-122"/>
                <a:cs typeface="Calibri" pitchFamily="34" charset="-120"/>
              </a:rPr>
              <a:t>Rehearsal</a:t>
            </a:r>
            <a:endParaRPr lang="en-US" sz="1250" dirty="0"/>
          </a:p>
        </p:txBody>
      </p:sp>
      <p:sp>
        <p:nvSpPr>
          <p:cNvPr id="17" name="Text 15"/>
          <p:cNvSpPr/>
          <p:nvPr/>
        </p:nvSpPr>
        <p:spPr>
          <a:xfrm>
            <a:off x="9144000" y="2743200"/>
            <a:ext cx="2514600" cy="237744"/>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7 sessions · 250 attendances</a:t>
            </a:r>
            <a:endParaRPr lang="en-US" sz="1200" dirty="0"/>
          </a:p>
        </p:txBody>
      </p:sp>
      <p:sp>
        <p:nvSpPr>
          <p:cNvPr id="18" name="Text 16"/>
          <p:cNvSpPr/>
          <p:nvPr/>
        </p:nvSpPr>
        <p:spPr>
          <a:xfrm>
            <a:off x="7086600" y="2999232"/>
            <a:ext cx="4572000" cy="548640"/>
          </a:xfrm>
          <a:prstGeom prst="rect">
            <a:avLst/>
          </a:prstGeom>
          <a:noFill/>
          <a:ln/>
        </p:spPr>
        <p:txBody>
          <a:bodyPr wrap="square" lIns="0" tIns="0" rIns="0" bIns="0" rtlCol="0" anchor="t"/>
          <a:lstStyle/>
          <a:p>
            <a:pPr indent="0" marL="0">
              <a:lnSpc>
                <a:spcPts val="1250"/>
              </a:lnSpc>
              <a:buNone/>
            </a:pPr>
            <a:r>
              <a:rPr lang="en-US" sz="1200" dirty="0">
                <a:solidFill>
                  <a:srgbClr val="5F6B7A"/>
                </a:solidFill>
                <a:latin typeface="Calibri" pitchFamily="34" charset="0"/>
                <a:ea typeface="Calibri" pitchFamily="34" charset="-122"/>
                <a:cs typeface="Calibri" pitchFamily="34" charset="-120"/>
              </a:rPr>
              <a:t>Performance preparation, costume, camera work and cultural practice.</a:t>
            </a:r>
            <a:endParaRPr lang="en-US" sz="1200" dirty="0"/>
          </a:p>
        </p:txBody>
      </p:sp>
      <p:sp>
        <p:nvSpPr>
          <p:cNvPr id="19" name="Shape 17"/>
          <p:cNvSpPr/>
          <p:nvPr/>
        </p:nvSpPr>
        <p:spPr>
          <a:xfrm>
            <a:off x="6812280" y="3730752"/>
            <a:ext cx="164592" cy="164592"/>
          </a:xfrm>
          <a:prstGeom prst="ellipse">
            <a:avLst/>
          </a:prstGeom>
          <a:solidFill>
            <a:srgbClr val="7FB2D9"/>
          </a:solidFill>
          <a:ln/>
        </p:spPr>
      </p:sp>
      <p:sp>
        <p:nvSpPr>
          <p:cNvPr id="20" name="Text 18"/>
          <p:cNvSpPr/>
          <p:nvPr/>
        </p:nvSpPr>
        <p:spPr>
          <a:xfrm>
            <a:off x="7086600" y="3675888"/>
            <a:ext cx="2194560" cy="237744"/>
          </a:xfrm>
          <a:prstGeom prst="rect">
            <a:avLst/>
          </a:prstGeom>
          <a:noFill/>
          <a:ln/>
        </p:spPr>
        <p:txBody>
          <a:bodyPr wrap="square" lIns="0" tIns="0" rIns="0" bIns="0" rtlCol="0" anchor="ctr"/>
          <a:lstStyle/>
          <a:p>
            <a:pPr indent="0" marL="0">
              <a:buNone/>
            </a:pPr>
            <a:r>
              <a:rPr lang="en-US" sz="1250" b="1" dirty="0">
                <a:solidFill>
                  <a:srgbClr val="1D2B4F"/>
                </a:solidFill>
                <a:latin typeface="Calibri" pitchFamily="34" charset="0"/>
                <a:ea typeface="Calibri" pitchFamily="34" charset="-122"/>
                <a:cs typeface="Calibri" pitchFamily="34" charset="-120"/>
              </a:rPr>
              <a:t>Oral History</a:t>
            </a:r>
            <a:endParaRPr lang="en-US" sz="1250" dirty="0"/>
          </a:p>
        </p:txBody>
      </p:sp>
      <p:sp>
        <p:nvSpPr>
          <p:cNvPr id="21" name="Text 19"/>
          <p:cNvSpPr/>
          <p:nvPr/>
        </p:nvSpPr>
        <p:spPr>
          <a:xfrm>
            <a:off x="9144000" y="3675888"/>
            <a:ext cx="2514600" cy="237744"/>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1 session · 10 attendances</a:t>
            </a:r>
            <a:endParaRPr lang="en-US" sz="1200" dirty="0"/>
          </a:p>
        </p:txBody>
      </p:sp>
      <p:sp>
        <p:nvSpPr>
          <p:cNvPr id="22" name="Text 20"/>
          <p:cNvSpPr/>
          <p:nvPr/>
        </p:nvSpPr>
        <p:spPr>
          <a:xfrm>
            <a:off x="7086600" y="3931920"/>
            <a:ext cx="4572000" cy="548640"/>
          </a:xfrm>
          <a:prstGeom prst="rect">
            <a:avLst/>
          </a:prstGeom>
          <a:noFill/>
          <a:ln/>
        </p:spPr>
        <p:txBody>
          <a:bodyPr wrap="square" lIns="0" tIns="0" rIns="0" bIns="0" rtlCol="0" anchor="t"/>
          <a:lstStyle/>
          <a:p>
            <a:pPr indent="0" marL="0">
              <a:lnSpc>
                <a:spcPts val="1250"/>
              </a:lnSpc>
              <a:buNone/>
            </a:pPr>
            <a:r>
              <a:rPr lang="en-US" sz="1200" dirty="0">
                <a:solidFill>
                  <a:srgbClr val="5F6B7A"/>
                </a:solidFill>
                <a:latin typeface="Calibri" pitchFamily="34" charset="0"/>
                <a:ea typeface="Calibri" pitchFamily="34" charset="-122"/>
                <a:cs typeface="Calibri" pitchFamily="34" charset="-120"/>
              </a:rPr>
              <a:t>Recorded testimony and heritage transmission. Newest strand.</a:t>
            </a:r>
            <a:endParaRPr lang="en-US" sz="1200" dirty="0"/>
          </a:p>
        </p:txBody>
      </p:sp>
      <p:sp>
        <p:nvSpPr>
          <p:cNvPr id="23" name="Shape 21"/>
          <p:cNvSpPr/>
          <p:nvPr/>
        </p:nvSpPr>
        <p:spPr>
          <a:xfrm>
            <a:off x="502920" y="4800600"/>
            <a:ext cx="11155680" cy="1143000"/>
          </a:xfrm>
          <a:prstGeom prst="roundRect">
            <a:avLst>
              <a:gd name="adj" fmla="val 6400"/>
            </a:avLst>
          </a:prstGeom>
          <a:solidFill>
            <a:srgbClr val="FDF6E3"/>
          </a:solidFill>
          <a:ln w="6350">
            <a:solidFill>
              <a:srgbClr val="E3B23C"/>
            </a:solidFill>
            <a:prstDash val="solid"/>
          </a:ln>
        </p:spPr>
      </p:sp>
      <p:sp>
        <p:nvSpPr>
          <p:cNvPr id="24" name="Text 22"/>
          <p:cNvSpPr/>
          <p:nvPr/>
        </p:nvSpPr>
        <p:spPr>
          <a:xfrm>
            <a:off x="777240" y="4956048"/>
            <a:ext cx="1828800" cy="256032"/>
          </a:xfrm>
          <a:prstGeom prst="rect">
            <a:avLst/>
          </a:prstGeom>
          <a:noFill/>
          <a:ln/>
        </p:spPr>
        <p:txBody>
          <a:bodyPr wrap="square" lIns="0" tIns="0" rIns="0" bIns="0" rtlCol="0" anchor="ctr"/>
          <a:lstStyle/>
          <a:p>
            <a:pPr indent="0" marL="0">
              <a:buNone/>
            </a:pPr>
            <a:r>
              <a:rPr lang="en-US" sz="1200" b="1" dirty="0">
                <a:solidFill>
                  <a:srgbClr val="B8891F"/>
                </a:solidFill>
                <a:latin typeface="Calibri" pitchFamily="34" charset="0"/>
                <a:ea typeface="Calibri" pitchFamily="34" charset="-122"/>
                <a:cs typeface="Calibri" pitchFamily="34" charset="-120"/>
              </a:rPr>
              <a:t>Why this matters</a:t>
            </a:r>
            <a:endParaRPr lang="en-US" sz="1200" dirty="0"/>
          </a:p>
        </p:txBody>
      </p:sp>
      <p:sp>
        <p:nvSpPr>
          <p:cNvPr id="25" name="Text 23"/>
          <p:cNvSpPr/>
          <p:nvPr/>
        </p:nvSpPr>
        <p:spPr>
          <a:xfrm>
            <a:off x="777240" y="5230368"/>
            <a:ext cx="10607040" cy="621792"/>
          </a:xfrm>
          <a:prstGeom prst="rect">
            <a:avLst/>
          </a:prstGeom>
          <a:noFill/>
          <a:ln/>
        </p:spPr>
        <p:txBody>
          <a:bodyPr wrap="square" lIns="0" tIns="0" rIns="0" bIns="0" rtlCol="0" anchor="t"/>
          <a:lstStyle/>
          <a:p>
            <a:pPr indent="0" marL="0">
              <a:lnSpc>
                <a:spcPts val="1600"/>
              </a:lnSpc>
              <a:buNone/>
            </a:pPr>
            <a:r>
              <a:rPr lang="en-US" sz="1200" dirty="0">
                <a:solidFill>
                  <a:srgbClr val="6B5416"/>
                </a:solidFill>
                <a:latin typeface="Calibri" pitchFamily="34" charset="0"/>
                <a:ea typeface="Calibri" pitchFamily="34" charset="-122"/>
                <a:cs typeface="Calibri" pitchFamily="34" charset="-120"/>
              </a:rPr>
              <a:t>Heritage programmes are usually evaluated on headcount alone. Because Project Vogue records the same participants across repeated sessions, this dataset can measure something more useful than reach: whether people came back.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02 · DATA</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The Dataset</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sp>
        <p:nvSpPr>
          <p:cNvPr id="5" name="Shape 3"/>
          <p:cNvSpPr/>
          <p:nvPr/>
        </p:nvSpPr>
        <p:spPr>
          <a:xfrm>
            <a:off x="502920" y="1417320"/>
            <a:ext cx="2606040" cy="1371600"/>
          </a:xfrm>
          <a:prstGeom prst="roundRect">
            <a:avLst>
              <a:gd name="adj" fmla="val 5333"/>
            </a:avLst>
          </a:prstGeom>
          <a:solidFill>
            <a:srgbClr val="F5F5F2"/>
          </a:solidFill>
          <a:ln w="6350">
            <a:solidFill>
              <a:srgbClr val="E3E6EB"/>
            </a:solidFill>
            <a:prstDash val="solid"/>
          </a:ln>
        </p:spPr>
      </p:sp>
      <p:sp>
        <p:nvSpPr>
          <p:cNvPr id="6" name="Text 4"/>
          <p:cNvSpPr/>
          <p:nvPr/>
        </p:nvSpPr>
        <p:spPr>
          <a:xfrm>
            <a:off x="667512" y="1527048"/>
            <a:ext cx="2276856" cy="457200"/>
          </a:xfrm>
          <a:prstGeom prst="rect">
            <a:avLst/>
          </a:prstGeom>
          <a:noFill/>
          <a:ln/>
        </p:spPr>
        <p:txBody>
          <a:bodyPr wrap="square" lIns="0" tIns="0" rIns="0" bIns="0" rtlCol="0" anchor="t"/>
          <a:lstStyle/>
          <a:p>
            <a:pPr indent="0" marL="0">
              <a:buNone/>
            </a:pPr>
            <a:r>
              <a:rPr lang="en-US" sz="2400" b="1" dirty="0">
                <a:solidFill>
                  <a:srgbClr val="1D2B4F"/>
                </a:solidFill>
                <a:latin typeface="Cambria" pitchFamily="34" charset="0"/>
                <a:ea typeface="Cambria" pitchFamily="34" charset="-122"/>
                <a:cs typeface="Cambria" pitchFamily="34" charset="-120"/>
              </a:rPr>
              <a:t>517</a:t>
            </a:r>
            <a:endParaRPr lang="en-US" sz="2400" dirty="0"/>
          </a:p>
        </p:txBody>
      </p:sp>
      <p:sp>
        <p:nvSpPr>
          <p:cNvPr id="7" name="Text 5"/>
          <p:cNvSpPr/>
          <p:nvPr/>
        </p:nvSpPr>
        <p:spPr>
          <a:xfrm>
            <a:off x="667512" y="1965960"/>
            <a:ext cx="22768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Survey responses</a:t>
            </a:r>
            <a:endParaRPr lang="en-US" sz="1200" dirty="0"/>
          </a:p>
        </p:txBody>
      </p:sp>
      <p:sp>
        <p:nvSpPr>
          <p:cNvPr id="8" name="Text 6"/>
          <p:cNvSpPr/>
          <p:nvPr/>
        </p:nvSpPr>
        <p:spPr>
          <a:xfrm>
            <a:off x="667512" y="2350008"/>
            <a:ext cx="2276856" cy="34747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One row per attendance</a:t>
            </a:r>
            <a:endParaRPr lang="en-US" sz="1200" dirty="0"/>
          </a:p>
        </p:txBody>
      </p:sp>
      <p:sp>
        <p:nvSpPr>
          <p:cNvPr id="9" name="Shape 7"/>
          <p:cNvSpPr/>
          <p:nvPr/>
        </p:nvSpPr>
        <p:spPr>
          <a:xfrm>
            <a:off x="3337560" y="1417320"/>
            <a:ext cx="2606040" cy="1371600"/>
          </a:xfrm>
          <a:prstGeom prst="roundRect">
            <a:avLst>
              <a:gd name="adj" fmla="val 5333"/>
            </a:avLst>
          </a:prstGeom>
          <a:solidFill>
            <a:srgbClr val="F5F5F2"/>
          </a:solidFill>
          <a:ln w="6350">
            <a:solidFill>
              <a:srgbClr val="E3E6EB"/>
            </a:solidFill>
            <a:prstDash val="solid"/>
          </a:ln>
        </p:spPr>
      </p:sp>
      <p:sp>
        <p:nvSpPr>
          <p:cNvPr id="10" name="Text 8"/>
          <p:cNvSpPr/>
          <p:nvPr/>
        </p:nvSpPr>
        <p:spPr>
          <a:xfrm>
            <a:off x="3502152" y="1527048"/>
            <a:ext cx="2276856" cy="457200"/>
          </a:xfrm>
          <a:prstGeom prst="rect">
            <a:avLst/>
          </a:prstGeom>
          <a:noFill/>
          <a:ln/>
        </p:spPr>
        <p:txBody>
          <a:bodyPr wrap="square" lIns="0" tIns="0" rIns="0" bIns="0" rtlCol="0" anchor="t"/>
          <a:lstStyle/>
          <a:p>
            <a:pPr indent="0" marL="0">
              <a:buNone/>
            </a:pPr>
            <a:r>
              <a:rPr lang="en-US" sz="2400" b="1" dirty="0">
                <a:solidFill>
                  <a:srgbClr val="1D2B4F"/>
                </a:solidFill>
                <a:latin typeface="Cambria" pitchFamily="34" charset="0"/>
                <a:ea typeface="Cambria" pitchFamily="34" charset="-122"/>
                <a:cs typeface="Cambria" pitchFamily="34" charset="-120"/>
              </a:rPr>
              <a:t>13</a:t>
            </a:r>
            <a:endParaRPr lang="en-US" sz="2400" dirty="0"/>
          </a:p>
        </p:txBody>
      </p:sp>
      <p:sp>
        <p:nvSpPr>
          <p:cNvPr id="11" name="Text 9"/>
          <p:cNvSpPr/>
          <p:nvPr/>
        </p:nvSpPr>
        <p:spPr>
          <a:xfrm>
            <a:off x="3502152" y="1965960"/>
            <a:ext cx="22768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Fields captured</a:t>
            </a:r>
            <a:endParaRPr lang="en-US" sz="1200" dirty="0"/>
          </a:p>
        </p:txBody>
      </p:sp>
      <p:sp>
        <p:nvSpPr>
          <p:cNvPr id="12" name="Text 10"/>
          <p:cNvSpPr/>
          <p:nvPr/>
        </p:nvSpPr>
        <p:spPr>
          <a:xfrm>
            <a:off x="3502152" y="2350008"/>
            <a:ext cx="2276856" cy="34747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Identity, event, date, feedback</a:t>
            </a:r>
            <a:endParaRPr lang="en-US" sz="1200" dirty="0"/>
          </a:p>
        </p:txBody>
      </p:sp>
      <p:sp>
        <p:nvSpPr>
          <p:cNvPr id="13" name="Shape 11"/>
          <p:cNvSpPr/>
          <p:nvPr/>
        </p:nvSpPr>
        <p:spPr>
          <a:xfrm>
            <a:off x="6172200" y="1417320"/>
            <a:ext cx="2606040" cy="1371600"/>
          </a:xfrm>
          <a:prstGeom prst="roundRect">
            <a:avLst>
              <a:gd name="adj" fmla="val 5333"/>
            </a:avLst>
          </a:prstGeom>
          <a:solidFill>
            <a:srgbClr val="F5F5F2"/>
          </a:solidFill>
          <a:ln w="6350">
            <a:solidFill>
              <a:srgbClr val="E3E6EB"/>
            </a:solidFill>
            <a:prstDash val="solid"/>
          </a:ln>
        </p:spPr>
      </p:sp>
      <p:sp>
        <p:nvSpPr>
          <p:cNvPr id="14" name="Text 12"/>
          <p:cNvSpPr/>
          <p:nvPr/>
        </p:nvSpPr>
        <p:spPr>
          <a:xfrm>
            <a:off x="6336792" y="1527048"/>
            <a:ext cx="2276856" cy="457200"/>
          </a:xfrm>
          <a:prstGeom prst="rect">
            <a:avLst/>
          </a:prstGeom>
          <a:noFill/>
          <a:ln/>
        </p:spPr>
        <p:txBody>
          <a:bodyPr wrap="square" lIns="0" tIns="0" rIns="0" bIns="0" rtlCol="0" anchor="t"/>
          <a:lstStyle/>
          <a:p>
            <a:pPr indent="0" marL="0">
              <a:buNone/>
            </a:pPr>
            <a:r>
              <a:rPr lang="en-US" sz="2400" b="1" dirty="0">
                <a:solidFill>
                  <a:srgbClr val="1D2B4F"/>
                </a:solidFill>
                <a:latin typeface="Cambria" pitchFamily="34" charset="0"/>
                <a:ea typeface="Cambria" pitchFamily="34" charset="-122"/>
                <a:cs typeface="Cambria" pitchFamily="34" charset="-120"/>
              </a:rPr>
              <a:t>15</a:t>
            </a:r>
            <a:endParaRPr lang="en-US" sz="2400" dirty="0"/>
          </a:p>
        </p:txBody>
      </p:sp>
      <p:sp>
        <p:nvSpPr>
          <p:cNvPr id="15" name="Text 13"/>
          <p:cNvSpPr/>
          <p:nvPr/>
        </p:nvSpPr>
        <p:spPr>
          <a:xfrm>
            <a:off x="6336792" y="1965960"/>
            <a:ext cx="22768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Sessions in extract</a:t>
            </a:r>
            <a:endParaRPr lang="en-US" sz="1200" dirty="0"/>
          </a:p>
        </p:txBody>
      </p:sp>
      <p:sp>
        <p:nvSpPr>
          <p:cNvPr id="16" name="Text 14"/>
          <p:cNvSpPr/>
          <p:nvPr/>
        </p:nvSpPr>
        <p:spPr>
          <a:xfrm>
            <a:off x="6336792" y="2350008"/>
            <a:ext cx="2276856" cy="34747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Oct 2024 to Apr 2025</a:t>
            </a:r>
            <a:endParaRPr lang="en-US" sz="1200" dirty="0"/>
          </a:p>
        </p:txBody>
      </p:sp>
      <p:sp>
        <p:nvSpPr>
          <p:cNvPr id="17" name="Shape 15"/>
          <p:cNvSpPr/>
          <p:nvPr/>
        </p:nvSpPr>
        <p:spPr>
          <a:xfrm>
            <a:off x="9006840" y="1417320"/>
            <a:ext cx="2651760" cy="1371600"/>
          </a:xfrm>
          <a:prstGeom prst="roundRect">
            <a:avLst>
              <a:gd name="adj" fmla="val 5333"/>
            </a:avLst>
          </a:prstGeom>
          <a:solidFill>
            <a:srgbClr val="F5F5F2"/>
          </a:solidFill>
          <a:ln w="6350">
            <a:solidFill>
              <a:srgbClr val="E3E6EB"/>
            </a:solidFill>
            <a:prstDash val="solid"/>
          </a:ln>
        </p:spPr>
      </p:sp>
      <p:sp>
        <p:nvSpPr>
          <p:cNvPr id="18" name="Text 16"/>
          <p:cNvSpPr/>
          <p:nvPr/>
        </p:nvSpPr>
        <p:spPr>
          <a:xfrm>
            <a:off x="9171432" y="1527048"/>
            <a:ext cx="2322576" cy="457200"/>
          </a:xfrm>
          <a:prstGeom prst="rect">
            <a:avLst/>
          </a:prstGeom>
          <a:noFill/>
          <a:ln/>
        </p:spPr>
        <p:txBody>
          <a:bodyPr wrap="square" lIns="0" tIns="0" rIns="0" bIns="0" rtlCol="0" anchor="t"/>
          <a:lstStyle/>
          <a:p>
            <a:pPr indent="0" marL="0">
              <a:buNone/>
            </a:pPr>
            <a:r>
              <a:rPr lang="en-US" sz="2400" b="1" dirty="0">
                <a:solidFill>
                  <a:srgbClr val="6FA287"/>
                </a:solidFill>
                <a:latin typeface="Cambria" pitchFamily="34" charset="0"/>
                <a:ea typeface="Cambria" pitchFamily="34" charset="-122"/>
                <a:cs typeface="Cambria" pitchFamily="34" charset="-120"/>
              </a:rPr>
              <a:t>0</a:t>
            </a:r>
            <a:endParaRPr lang="en-US" sz="2400" dirty="0"/>
          </a:p>
        </p:txBody>
      </p:sp>
      <p:sp>
        <p:nvSpPr>
          <p:cNvPr id="19" name="Text 17"/>
          <p:cNvSpPr/>
          <p:nvPr/>
        </p:nvSpPr>
        <p:spPr>
          <a:xfrm>
            <a:off x="9171432" y="1965960"/>
            <a:ext cx="232257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Missing values</a:t>
            </a:r>
            <a:endParaRPr lang="en-US" sz="1200" dirty="0"/>
          </a:p>
        </p:txBody>
      </p:sp>
      <p:sp>
        <p:nvSpPr>
          <p:cNvPr id="20" name="Text 18"/>
          <p:cNvSpPr/>
          <p:nvPr/>
        </p:nvSpPr>
        <p:spPr>
          <a:xfrm>
            <a:off x="9171432" y="2350008"/>
            <a:ext cx="2322576" cy="34747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Complete across all fields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2999232"/>
          <a:ext cx="11155680" cy="914400"/>
        </p:xfrm>
        <a:graphic>
          <a:graphicData uri="http://schemas.openxmlformats.org/drawingml/2006/table">
            <a:tbl>
              <a:tblPr/>
              <a:tblGrid>
                <a:gridCol w="2651760"/>
                <a:gridCol w="2926080"/>
                <a:gridCol w="2651760"/>
                <a:gridCol w="2926080"/>
              </a:tblGrid>
              <a:tr h="42976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D2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D2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D2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D2B4F"/>
                    </a:solidFill>
                  </a:tcPr>
                </a:tc>
              </a:tr>
              <a:tr h="429768">
                <a:tc>
                  <a:txBody>
                    <a:bodyPr/>
                    <a:lstStyle/>
                    <a:p>
                      <a:pPr indent="0" marL="0">
                        <a:buNone/>
                      </a:pPr>
                      <a:r>
                        <a:rPr lang="en-US" sz="1200" b="1" dirty="0">
                          <a:solidFill>
                            <a:srgbClr val="1D2B4F"/>
                          </a:solidFill>
                          <a:latin typeface="Calibri" pitchFamily="34" charset="0"/>
                          <a:ea typeface="Calibri" pitchFamily="34" charset="-122"/>
                          <a:cs typeface="Calibri" pitchFamily="34" charset="-120"/>
                        </a:rPr>
                        <a:t>Re_name</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200" dirty="0">
                          <a:solidFill>
                            <a:srgbClr val="5F6B7A"/>
                          </a:solidFill>
                          <a:latin typeface="Calibri" pitchFamily="34" charset="0"/>
                          <a:ea typeface="Calibri" pitchFamily="34" charset="-122"/>
                          <a:cs typeface="Calibri" pitchFamily="34" charset="-120"/>
                        </a:rPr>
                        <a:t>Corrected participant name</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200" b="1" dirty="0">
                          <a:solidFill>
                            <a:srgbClr val="1D2B4F"/>
                          </a:solidFill>
                          <a:latin typeface="Calibri" pitchFamily="34" charset="0"/>
                          <a:ea typeface="Calibri" pitchFamily="34" charset="-122"/>
                          <a:cs typeface="Calibri" pitchFamily="34" charset="-120"/>
                        </a:rPr>
                        <a:t>Attendance date</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200" dirty="0">
                          <a:solidFill>
                            <a:srgbClr val="5F6B7A"/>
                          </a:solidFill>
                          <a:latin typeface="Calibri" pitchFamily="34" charset="0"/>
                          <a:ea typeface="Calibri" pitchFamily="34" charset="-122"/>
                          <a:cs typeface="Calibri" pitchFamily="34" charset="-120"/>
                        </a:rPr>
                        <a:t>Session date</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D2B4F"/>
                          </a:solidFill>
                          <a:latin typeface="Calibri" pitchFamily="34" charset="0"/>
                          <a:ea typeface="Calibri" pitchFamily="34" charset="-122"/>
                          <a:cs typeface="Calibri" pitchFamily="34" charset="-120"/>
                        </a:rPr>
                        <a:t>Gender</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5F5F2"/>
                    </a:solidFill>
                  </a:tcPr>
                </a:tc>
                <a:tc>
                  <a:txBody>
                    <a:bodyPr/>
                    <a:lstStyle/>
                    <a:p>
                      <a:pPr indent="0" marL="0">
                        <a:buNone/>
                      </a:pPr>
                      <a:r>
                        <a:rPr lang="en-US" sz="1200" dirty="0">
                          <a:solidFill>
                            <a:srgbClr val="5F6B7A"/>
                          </a:solidFill>
                          <a:latin typeface="Calibri" pitchFamily="34" charset="0"/>
                          <a:ea typeface="Calibri" pitchFamily="34" charset="-122"/>
                          <a:cs typeface="Calibri" pitchFamily="34" charset="-120"/>
                        </a:rPr>
                        <a:t>Male or Female</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5F5F2"/>
                    </a:solidFill>
                  </a:tcPr>
                </a:tc>
                <a:tc>
                  <a:txBody>
                    <a:bodyPr/>
                    <a:lstStyle/>
                    <a:p>
                      <a:pPr indent="0" marL="0">
                        <a:buNone/>
                      </a:pPr>
                      <a:r>
                        <a:rPr lang="en-US" sz="1200" b="1" dirty="0">
                          <a:solidFill>
                            <a:srgbClr val="1D2B4F"/>
                          </a:solidFill>
                          <a:latin typeface="Calibri" pitchFamily="34" charset="0"/>
                          <a:ea typeface="Calibri" pitchFamily="34" charset="-122"/>
                          <a:cs typeface="Calibri" pitchFamily="34" charset="-120"/>
                        </a:rPr>
                        <a:t>How likely to recommend</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5F5F2"/>
                    </a:solidFill>
                  </a:tcPr>
                </a:tc>
                <a:tc>
                  <a:txBody>
                    <a:bodyPr/>
                    <a:lstStyle/>
                    <a:p>
                      <a:pPr indent="0" marL="0">
                        <a:buNone/>
                      </a:pPr>
                      <a:r>
                        <a:rPr lang="en-US" sz="1200" dirty="0">
                          <a:solidFill>
                            <a:srgbClr val="5F6B7A"/>
                          </a:solidFill>
                          <a:latin typeface="Calibri" pitchFamily="34" charset="0"/>
                          <a:ea typeface="Calibri" pitchFamily="34" charset="-122"/>
                          <a:cs typeface="Calibri" pitchFamily="34" charset="-120"/>
                        </a:rPr>
                        <a:t>Referral score, 0 to 10</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5F5F2"/>
                    </a:solidFill>
                  </a:tcPr>
                </a:tc>
              </a:tr>
              <a:tr h="429768">
                <a:tc>
                  <a:txBody>
                    <a:bodyPr/>
                    <a:lstStyle/>
                    <a:p>
                      <a:pPr indent="0" marL="0">
                        <a:buNone/>
                      </a:pPr>
                      <a:r>
                        <a:rPr lang="en-US" sz="1200" b="1" dirty="0">
                          <a:solidFill>
                            <a:srgbClr val="1D2B4F"/>
                          </a:solidFill>
                          <a:latin typeface="Calibri" pitchFamily="34" charset="0"/>
                          <a:ea typeface="Calibri" pitchFamily="34" charset="-122"/>
                          <a:cs typeface="Calibri" pitchFamily="34" charset="-120"/>
                        </a:rPr>
                        <a:t>How would you describe yourself?</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200" dirty="0">
                          <a:solidFill>
                            <a:srgbClr val="5F6B7A"/>
                          </a:solidFill>
                          <a:latin typeface="Calibri" pitchFamily="34" charset="0"/>
                          <a:ea typeface="Calibri" pitchFamily="34" charset="-122"/>
                          <a:cs typeface="Calibri" pitchFamily="34" charset="-120"/>
                        </a:rPr>
                        <a:t>Young person, volunteer, trustee</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200" b="1" dirty="0">
                          <a:solidFill>
                            <a:srgbClr val="1D2B4F"/>
                          </a:solidFill>
                          <a:latin typeface="Calibri" pitchFamily="34" charset="0"/>
                          <a:ea typeface="Calibri" pitchFamily="34" charset="-122"/>
                          <a:cs typeface="Calibri" pitchFamily="34" charset="-120"/>
                        </a:rPr>
                        <a:t>What did you learn?</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200" dirty="0">
                          <a:solidFill>
                            <a:srgbClr val="5F6B7A"/>
                          </a:solidFill>
                          <a:latin typeface="Calibri" pitchFamily="34" charset="0"/>
                          <a:ea typeface="Calibri" pitchFamily="34" charset="-122"/>
                          <a:cs typeface="Calibri" pitchFamily="34" charset="-120"/>
                        </a:rPr>
                        <a:t>Free-text response</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D2B4F"/>
                          </a:solidFill>
                          <a:latin typeface="Calibri" pitchFamily="34" charset="0"/>
                          <a:ea typeface="Calibri" pitchFamily="34" charset="-122"/>
                          <a:cs typeface="Calibri" pitchFamily="34" charset="-120"/>
                        </a:rPr>
                        <a:t>Which programme?</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5F5F2"/>
                    </a:solidFill>
                  </a:tcPr>
                </a:tc>
                <a:tc>
                  <a:txBody>
                    <a:bodyPr/>
                    <a:lstStyle/>
                    <a:p>
                      <a:pPr indent="0" marL="0">
                        <a:buNone/>
                      </a:pPr>
                      <a:r>
                        <a:rPr lang="en-US" sz="1200" dirty="0">
                          <a:solidFill>
                            <a:srgbClr val="5F6B7A"/>
                          </a:solidFill>
                          <a:latin typeface="Calibri" pitchFamily="34" charset="0"/>
                          <a:ea typeface="Calibri" pitchFamily="34" charset="-122"/>
                          <a:cs typeface="Calibri" pitchFamily="34" charset="-120"/>
                        </a:rPr>
                        <a:t>Storytelling, Rehearsal, Oral History</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5F5F2"/>
                    </a:solidFill>
                  </a:tcPr>
                </a:tc>
                <a:tc>
                  <a:txBody>
                    <a:bodyPr/>
                    <a:lstStyle/>
                    <a:p>
                      <a:pPr indent="0" marL="0">
                        <a:buNone/>
                      </a:pPr>
                      <a:r>
                        <a:rPr lang="en-US" sz="1200" b="1" dirty="0">
                          <a:solidFill>
                            <a:srgbClr val="1D2B4F"/>
                          </a:solidFill>
                          <a:latin typeface="Calibri" pitchFamily="34" charset="0"/>
                          <a:ea typeface="Calibri" pitchFamily="34" charset="-122"/>
                          <a:cs typeface="Calibri" pitchFamily="34" charset="-120"/>
                        </a:rPr>
                        <a:t>Categorized_Learnings</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5F5F2"/>
                    </a:solidFill>
                  </a:tcPr>
                </a:tc>
                <a:tc>
                  <a:txBody>
                    <a:bodyPr/>
                    <a:lstStyle/>
                    <a:p>
                      <a:pPr indent="0" marL="0">
                        <a:buNone/>
                      </a:pPr>
                      <a:r>
                        <a:rPr lang="en-US" sz="1200" dirty="0">
                          <a:solidFill>
                            <a:srgbClr val="5F6B7A"/>
                          </a:solidFill>
                          <a:latin typeface="Calibri" pitchFamily="34" charset="0"/>
                          <a:ea typeface="Calibri" pitchFamily="34" charset="-122"/>
                          <a:cs typeface="Calibri" pitchFamily="34" charset="-120"/>
                        </a:rPr>
                        <a:t>Standardised learning theme</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5F5F2"/>
                    </a:solidFill>
                  </a:tcPr>
                </a:tc>
              </a:tr>
              <a:tr h="429768">
                <a:tc>
                  <a:txBody>
                    <a:bodyPr/>
                    <a:lstStyle/>
                    <a:p>
                      <a:pPr indent="0" marL="0">
                        <a:buNone/>
                      </a:pPr>
                      <a:r>
                        <a:rPr lang="en-US" sz="1200" b="1" dirty="0">
                          <a:solidFill>
                            <a:srgbClr val="1D2B4F"/>
                          </a:solidFill>
                          <a:latin typeface="Calibri" pitchFamily="34" charset="0"/>
                          <a:ea typeface="Calibri" pitchFamily="34" charset="-122"/>
                          <a:cs typeface="Calibri" pitchFamily="34" charset="-120"/>
                        </a:rPr>
                        <a:t>Event_code</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200" dirty="0">
                          <a:solidFill>
                            <a:srgbClr val="5F6B7A"/>
                          </a:solidFill>
                          <a:latin typeface="Calibri" pitchFamily="34" charset="0"/>
                          <a:ea typeface="Calibri" pitchFamily="34" charset="-122"/>
                          <a:cs typeface="Calibri" pitchFamily="34" charset="-120"/>
                        </a:rPr>
                        <a:t>ST, RE or OH</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200" b="1" dirty="0">
                          <a:solidFill>
                            <a:srgbClr val="1D2B4F"/>
                          </a:solidFill>
                          <a:latin typeface="Calibri" pitchFamily="34" charset="0"/>
                          <a:ea typeface="Calibri" pitchFamily="34" charset="-122"/>
                          <a:cs typeface="Calibri" pitchFamily="34" charset="-120"/>
                        </a:rPr>
                        <a:t>Categorized_recommendation</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1200" dirty="0">
                          <a:solidFill>
                            <a:srgbClr val="5F6B7A"/>
                          </a:solidFill>
                          <a:latin typeface="Calibri" pitchFamily="34" charset="0"/>
                          <a:ea typeface="Calibri" pitchFamily="34" charset="-122"/>
                          <a:cs typeface="Calibri" pitchFamily="34" charset="-120"/>
                        </a:rPr>
                        <a:t>Standardised improvement theme</a:t>
                      </a:r>
                      <a:endParaRPr lang="en-US" sz="1200" dirty="0">
                        <a:latin typeface="Calibri" charset="0"/>
                        <a:ea typeface="Calibri" charset="0"/>
                        <a:cs typeface="Calibri" charset="0"/>
                      </a:endParaRPr>
                    </a:p>
                  </a:txBody>
                  <a:tcPr marL="91440" marR="91440" marT="45720" marB="4572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r>
            </a:tbl>
          </a:graphicData>
        </a:graphic>
      </p:graphicFrame>
      <p:sp>
        <p:nvSpPr>
          <p:cNvPr id="22" name="Text 19"/>
          <p:cNvSpPr/>
          <p:nvPr/>
        </p:nvSpPr>
        <p:spPr>
          <a:xfrm>
            <a:off x="502920" y="5806440"/>
            <a:ext cx="11155680" cy="365760"/>
          </a:xfrm>
          <a:prstGeom prst="rect">
            <a:avLst/>
          </a:prstGeom>
          <a:noFill/>
          <a:ln/>
        </p:spPr>
        <p:txBody>
          <a:bodyPr wrap="square" lIns="0" tIns="0" rIns="0" bIns="0" rtlCol="0" anchor="ctr"/>
          <a:lstStyle/>
          <a:p>
            <a:pPr indent="0" marL="0">
              <a:buNone/>
            </a:pPr>
            <a:r>
              <a:rPr lang="en-US" sz="1200" i="1" dirty="0">
                <a:solidFill>
                  <a:srgbClr val="5F6B7A"/>
                </a:solidFill>
                <a:latin typeface="Calibri" pitchFamily="34" charset="0"/>
                <a:ea typeface="Calibri" pitchFamily="34" charset="-122"/>
                <a:cs typeface="Calibri" pitchFamily="34" charset="-120"/>
              </a:rPr>
              <a:t>Note: the analysis extract contains 517 responses. The published dashboard reflects a later refresh totalling 560 attendances across 16 sessions.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02 · METHODOLOGY</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Data Cleaning &amp; Preprocessing</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sp>
        <p:nvSpPr>
          <p:cNvPr id="5" name="Shape 3"/>
          <p:cNvSpPr/>
          <p:nvPr/>
        </p:nvSpPr>
        <p:spPr>
          <a:xfrm>
            <a:off x="502920" y="1481328"/>
            <a:ext cx="3520440" cy="1645920"/>
          </a:xfrm>
          <a:prstGeom prst="roundRect">
            <a:avLst>
              <a:gd name="adj" fmla="val 4444"/>
            </a:avLst>
          </a:prstGeom>
          <a:solidFill>
            <a:srgbClr val="F5F5F2"/>
          </a:solidFill>
          <a:ln w="6350">
            <a:solidFill>
              <a:srgbClr val="E3E6EB"/>
            </a:solidFill>
            <a:prstDash val="solid"/>
          </a:ln>
        </p:spPr>
      </p:sp>
      <p:sp>
        <p:nvSpPr>
          <p:cNvPr id="6" name="Shape 4"/>
          <p:cNvSpPr/>
          <p:nvPr/>
        </p:nvSpPr>
        <p:spPr>
          <a:xfrm>
            <a:off x="731520" y="1682496"/>
            <a:ext cx="457200" cy="457200"/>
          </a:xfrm>
          <a:prstGeom prst="ellipse">
            <a:avLst/>
          </a:prstGeom>
          <a:solidFill>
            <a:srgbClr val="1D2B4F"/>
          </a:solidFill>
          <a:ln/>
        </p:spPr>
      </p:sp>
      <p:sp>
        <p:nvSpPr>
          <p:cNvPr id="7" name="Text 5"/>
          <p:cNvSpPr/>
          <p:nvPr/>
        </p:nvSpPr>
        <p:spPr>
          <a:xfrm>
            <a:off x="731520" y="1773936"/>
            <a:ext cx="457200" cy="274320"/>
          </a:xfrm>
          <a:prstGeom prst="rect">
            <a:avLst/>
          </a:prstGeom>
          <a:noFill/>
          <a:ln/>
        </p:spPr>
        <p:txBody>
          <a:bodyPr wrap="square" lIns="0" tIns="0" rIns="0" bIns="0" rtlCol="0" anchor="ctr"/>
          <a:lstStyle/>
          <a:p>
            <a:pPr algn="ctr" indent="0" marL="0">
              <a:buNone/>
            </a:pPr>
            <a:r>
              <a:rPr lang="en-US" sz="1200" b="1" dirty="0">
                <a:solidFill>
                  <a:srgbClr val="E3B23C"/>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1325880" y="1755648"/>
            <a:ext cx="2514600" cy="292608"/>
          </a:xfrm>
          <a:prstGeom prst="rect">
            <a:avLst/>
          </a:prstGeom>
          <a:noFill/>
          <a:ln/>
        </p:spPr>
        <p:txBody>
          <a:bodyPr wrap="square" lIns="0" tIns="0" rIns="0" bIns="0" rtlCol="0" anchor="ctr"/>
          <a:lstStyle/>
          <a:p>
            <a:pPr indent="0" marL="0">
              <a:buNone/>
            </a:pPr>
            <a:r>
              <a:rPr lang="en-US" sz="1250" b="1" dirty="0">
                <a:solidFill>
                  <a:srgbClr val="1D2B4F"/>
                </a:solidFill>
                <a:latin typeface="Calibri" pitchFamily="34" charset="0"/>
                <a:ea typeface="Calibri" pitchFamily="34" charset="-122"/>
                <a:cs typeface="Calibri" pitchFamily="34" charset="-120"/>
              </a:rPr>
              <a:t>Name correction</a:t>
            </a:r>
            <a:endParaRPr lang="en-US" sz="1250" dirty="0"/>
          </a:p>
        </p:txBody>
      </p:sp>
      <p:sp>
        <p:nvSpPr>
          <p:cNvPr id="9" name="Text 7"/>
          <p:cNvSpPr/>
          <p:nvPr/>
        </p:nvSpPr>
        <p:spPr>
          <a:xfrm>
            <a:off x="731520" y="2258568"/>
            <a:ext cx="3127248"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Incomplete and misspelt participant names reconciled to a single canonical form, so unique participants could be counted reliably.</a:t>
            </a:r>
            <a:endParaRPr lang="en-US" sz="1200" dirty="0"/>
          </a:p>
        </p:txBody>
      </p:sp>
      <p:sp>
        <p:nvSpPr>
          <p:cNvPr id="10" name="Shape 8"/>
          <p:cNvSpPr/>
          <p:nvPr/>
        </p:nvSpPr>
        <p:spPr>
          <a:xfrm>
            <a:off x="4297680" y="1481328"/>
            <a:ext cx="3520440" cy="1645920"/>
          </a:xfrm>
          <a:prstGeom prst="roundRect">
            <a:avLst>
              <a:gd name="adj" fmla="val 4444"/>
            </a:avLst>
          </a:prstGeom>
          <a:solidFill>
            <a:srgbClr val="F5F5F2"/>
          </a:solidFill>
          <a:ln w="6350">
            <a:solidFill>
              <a:srgbClr val="E3E6EB"/>
            </a:solidFill>
            <a:prstDash val="solid"/>
          </a:ln>
        </p:spPr>
      </p:sp>
      <p:sp>
        <p:nvSpPr>
          <p:cNvPr id="11" name="Shape 9"/>
          <p:cNvSpPr/>
          <p:nvPr/>
        </p:nvSpPr>
        <p:spPr>
          <a:xfrm>
            <a:off x="4526280" y="1682496"/>
            <a:ext cx="457200" cy="457200"/>
          </a:xfrm>
          <a:prstGeom prst="ellipse">
            <a:avLst/>
          </a:prstGeom>
          <a:solidFill>
            <a:srgbClr val="1D2B4F"/>
          </a:solidFill>
          <a:ln/>
        </p:spPr>
      </p:sp>
      <p:sp>
        <p:nvSpPr>
          <p:cNvPr id="12" name="Text 10"/>
          <p:cNvSpPr/>
          <p:nvPr/>
        </p:nvSpPr>
        <p:spPr>
          <a:xfrm>
            <a:off x="4526280" y="1773936"/>
            <a:ext cx="457200" cy="274320"/>
          </a:xfrm>
          <a:prstGeom prst="rect">
            <a:avLst/>
          </a:prstGeom>
          <a:noFill/>
          <a:ln/>
        </p:spPr>
        <p:txBody>
          <a:bodyPr wrap="square" lIns="0" tIns="0" rIns="0" bIns="0" rtlCol="0" anchor="ctr"/>
          <a:lstStyle/>
          <a:p>
            <a:pPr algn="ctr" indent="0" marL="0">
              <a:buNone/>
            </a:pPr>
            <a:r>
              <a:rPr lang="en-US" sz="1200" b="1" dirty="0">
                <a:solidFill>
                  <a:srgbClr val="E3B23C"/>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5120640" y="1755648"/>
            <a:ext cx="2514600" cy="292608"/>
          </a:xfrm>
          <a:prstGeom prst="rect">
            <a:avLst/>
          </a:prstGeom>
          <a:noFill/>
          <a:ln/>
        </p:spPr>
        <p:txBody>
          <a:bodyPr wrap="square" lIns="0" tIns="0" rIns="0" bIns="0" rtlCol="0" anchor="ctr"/>
          <a:lstStyle/>
          <a:p>
            <a:pPr indent="0" marL="0">
              <a:buNone/>
            </a:pPr>
            <a:r>
              <a:rPr lang="en-US" sz="1250" b="1" dirty="0">
                <a:solidFill>
                  <a:srgbClr val="1D2B4F"/>
                </a:solidFill>
                <a:latin typeface="Calibri" pitchFamily="34" charset="0"/>
                <a:ea typeface="Calibri" pitchFamily="34" charset="-122"/>
                <a:cs typeface="Calibri" pitchFamily="34" charset="-120"/>
              </a:rPr>
              <a:t>Gender standardisation</a:t>
            </a:r>
            <a:endParaRPr lang="en-US" sz="1250" dirty="0"/>
          </a:p>
        </p:txBody>
      </p:sp>
      <p:sp>
        <p:nvSpPr>
          <p:cNvPr id="14" name="Text 12"/>
          <p:cNvSpPr/>
          <p:nvPr/>
        </p:nvSpPr>
        <p:spPr>
          <a:xfrm>
            <a:off x="4526280" y="2258568"/>
            <a:ext cx="3127248"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Misspelt and inconsistent gender values normalised to Male and Female.</a:t>
            </a:r>
            <a:endParaRPr lang="en-US" sz="1200" dirty="0"/>
          </a:p>
        </p:txBody>
      </p:sp>
      <p:sp>
        <p:nvSpPr>
          <p:cNvPr id="15" name="Shape 13"/>
          <p:cNvSpPr/>
          <p:nvPr/>
        </p:nvSpPr>
        <p:spPr>
          <a:xfrm>
            <a:off x="8092440" y="1481328"/>
            <a:ext cx="3520440" cy="1645920"/>
          </a:xfrm>
          <a:prstGeom prst="roundRect">
            <a:avLst>
              <a:gd name="adj" fmla="val 4444"/>
            </a:avLst>
          </a:prstGeom>
          <a:solidFill>
            <a:srgbClr val="F5F5F2"/>
          </a:solidFill>
          <a:ln w="6350">
            <a:solidFill>
              <a:srgbClr val="E3E6EB"/>
            </a:solidFill>
            <a:prstDash val="solid"/>
          </a:ln>
        </p:spPr>
      </p:sp>
      <p:sp>
        <p:nvSpPr>
          <p:cNvPr id="16" name="Shape 14"/>
          <p:cNvSpPr/>
          <p:nvPr/>
        </p:nvSpPr>
        <p:spPr>
          <a:xfrm>
            <a:off x="8321040" y="1682496"/>
            <a:ext cx="457200" cy="457200"/>
          </a:xfrm>
          <a:prstGeom prst="ellipse">
            <a:avLst/>
          </a:prstGeom>
          <a:solidFill>
            <a:srgbClr val="1D2B4F"/>
          </a:solidFill>
          <a:ln/>
        </p:spPr>
      </p:sp>
      <p:sp>
        <p:nvSpPr>
          <p:cNvPr id="17" name="Text 15"/>
          <p:cNvSpPr/>
          <p:nvPr/>
        </p:nvSpPr>
        <p:spPr>
          <a:xfrm>
            <a:off x="8321040" y="1773936"/>
            <a:ext cx="457200" cy="274320"/>
          </a:xfrm>
          <a:prstGeom prst="rect">
            <a:avLst/>
          </a:prstGeom>
          <a:noFill/>
          <a:ln/>
        </p:spPr>
        <p:txBody>
          <a:bodyPr wrap="square" lIns="0" tIns="0" rIns="0" bIns="0" rtlCol="0" anchor="ctr"/>
          <a:lstStyle/>
          <a:p>
            <a:pPr algn="ctr" indent="0" marL="0">
              <a:buNone/>
            </a:pPr>
            <a:r>
              <a:rPr lang="en-US" sz="1200" b="1" dirty="0">
                <a:solidFill>
                  <a:srgbClr val="E3B23C"/>
                </a:solidFill>
                <a:latin typeface="Calibri" pitchFamily="34" charset="0"/>
                <a:ea typeface="Calibri" pitchFamily="34" charset="-122"/>
                <a:cs typeface="Calibri" pitchFamily="34" charset="-120"/>
              </a:rPr>
              <a:t>03</a:t>
            </a:r>
            <a:endParaRPr lang="en-US" sz="1200" dirty="0"/>
          </a:p>
        </p:txBody>
      </p:sp>
      <p:sp>
        <p:nvSpPr>
          <p:cNvPr id="18" name="Text 16"/>
          <p:cNvSpPr/>
          <p:nvPr/>
        </p:nvSpPr>
        <p:spPr>
          <a:xfrm>
            <a:off x="8915400" y="1755648"/>
            <a:ext cx="2514600" cy="292608"/>
          </a:xfrm>
          <a:prstGeom prst="rect">
            <a:avLst/>
          </a:prstGeom>
          <a:noFill/>
          <a:ln/>
        </p:spPr>
        <p:txBody>
          <a:bodyPr wrap="square" lIns="0" tIns="0" rIns="0" bIns="0" rtlCol="0" anchor="ctr"/>
          <a:lstStyle/>
          <a:p>
            <a:pPr indent="0" marL="0">
              <a:buNone/>
            </a:pPr>
            <a:r>
              <a:rPr lang="en-US" sz="1250" b="1" dirty="0">
                <a:solidFill>
                  <a:srgbClr val="1D2B4F"/>
                </a:solidFill>
                <a:latin typeface="Calibri" pitchFamily="34" charset="0"/>
                <a:ea typeface="Calibri" pitchFamily="34" charset="-122"/>
                <a:cs typeface="Calibri" pitchFamily="34" charset="-120"/>
              </a:rPr>
              <a:t>Programme standardisation</a:t>
            </a:r>
            <a:endParaRPr lang="en-US" sz="1250" dirty="0"/>
          </a:p>
        </p:txBody>
      </p:sp>
      <p:sp>
        <p:nvSpPr>
          <p:cNvPr id="19" name="Text 17"/>
          <p:cNvSpPr/>
          <p:nvPr/>
        </p:nvSpPr>
        <p:spPr>
          <a:xfrm>
            <a:off x="8321040" y="2258568"/>
            <a:ext cx="3127248"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Programme names aligned to three strands and mapped to short codes ST, RE and OH.</a:t>
            </a:r>
            <a:endParaRPr lang="en-US" sz="1200" dirty="0"/>
          </a:p>
        </p:txBody>
      </p:sp>
      <p:sp>
        <p:nvSpPr>
          <p:cNvPr id="20" name="Shape 18"/>
          <p:cNvSpPr/>
          <p:nvPr/>
        </p:nvSpPr>
        <p:spPr>
          <a:xfrm>
            <a:off x="502920" y="3310128"/>
            <a:ext cx="3520440" cy="1645920"/>
          </a:xfrm>
          <a:prstGeom prst="roundRect">
            <a:avLst>
              <a:gd name="adj" fmla="val 4444"/>
            </a:avLst>
          </a:prstGeom>
          <a:solidFill>
            <a:srgbClr val="F5F5F2"/>
          </a:solidFill>
          <a:ln w="6350">
            <a:solidFill>
              <a:srgbClr val="E3E6EB"/>
            </a:solidFill>
            <a:prstDash val="solid"/>
          </a:ln>
        </p:spPr>
      </p:sp>
      <p:sp>
        <p:nvSpPr>
          <p:cNvPr id="21" name="Shape 19"/>
          <p:cNvSpPr/>
          <p:nvPr/>
        </p:nvSpPr>
        <p:spPr>
          <a:xfrm>
            <a:off x="731520" y="3511296"/>
            <a:ext cx="457200" cy="457200"/>
          </a:xfrm>
          <a:prstGeom prst="ellipse">
            <a:avLst/>
          </a:prstGeom>
          <a:solidFill>
            <a:srgbClr val="1D2B4F"/>
          </a:solidFill>
          <a:ln/>
        </p:spPr>
      </p:sp>
      <p:sp>
        <p:nvSpPr>
          <p:cNvPr id="22" name="Text 20"/>
          <p:cNvSpPr/>
          <p:nvPr/>
        </p:nvSpPr>
        <p:spPr>
          <a:xfrm>
            <a:off x="731520" y="3602736"/>
            <a:ext cx="457200" cy="274320"/>
          </a:xfrm>
          <a:prstGeom prst="rect">
            <a:avLst/>
          </a:prstGeom>
          <a:noFill/>
          <a:ln/>
        </p:spPr>
        <p:txBody>
          <a:bodyPr wrap="square" lIns="0" tIns="0" rIns="0" bIns="0" rtlCol="0" anchor="ctr"/>
          <a:lstStyle/>
          <a:p>
            <a:pPr algn="ctr" indent="0" marL="0">
              <a:buNone/>
            </a:pPr>
            <a:r>
              <a:rPr lang="en-US" sz="1200" b="1" dirty="0">
                <a:solidFill>
                  <a:srgbClr val="E3B23C"/>
                </a:solidFill>
                <a:latin typeface="Calibri" pitchFamily="34" charset="0"/>
                <a:ea typeface="Calibri" pitchFamily="34" charset="-122"/>
                <a:cs typeface="Calibri" pitchFamily="34" charset="-120"/>
              </a:rPr>
              <a:t>04</a:t>
            </a:r>
            <a:endParaRPr lang="en-US" sz="1200" dirty="0"/>
          </a:p>
        </p:txBody>
      </p:sp>
      <p:sp>
        <p:nvSpPr>
          <p:cNvPr id="23" name="Text 21"/>
          <p:cNvSpPr/>
          <p:nvPr/>
        </p:nvSpPr>
        <p:spPr>
          <a:xfrm>
            <a:off x="1325880" y="3584448"/>
            <a:ext cx="2514600" cy="292608"/>
          </a:xfrm>
          <a:prstGeom prst="rect">
            <a:avLst/>
          </a:prstGeom>
          <a:noFill/>
          <a:ln/>
        </p:spPr>
        <p:txBody>
          <a:bodyPr wrap="square" lIns="0" tIns="0" rIns="0" bIns="0" rtlCol="0" anchor="ctr"/>
          <a:lstStyle/>
          <a:p>
            <a:pPr indent="0" marL="0">
              <a:buNone/>
            </a:pPr>
            <a:r>
              <a:rPr lang="en-US" sz="1250" b="1" dirty="0">
                <a:solidFill>
                  <a:srgbClr val="1D2B4F"/>
                </a:solidFill>
                <a:latin typeface="Calibri" pitchFamily="34" charset="0"/>
                <a:ea typeface="Calibri" pitchFamily="34" charset="-122"/>
                <a:cs typeface="Calibri" pitchFamily="34" charset="-120"/>
              </a:rPr>
              <a:t>Date formatting</a:t>
            </a:r>
            <a:endParaRPr lang="en-US" sz="1250" dirty="0"/>
          </a:p>
        </p:txBody>
      </p:sp>
      <p:sp>
        <p:nvSpPr>
          <p:cNvPr id="24" name="Text 22"/>
          <p:cNvSpPr/>
          <p:nvPr/>
        </p:nvSpPr>
        <p:spPr>
          <a:xfrm>
            <a:off x="731520" y="4087368"/>
            <a:ext cx="3127248"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Attendance dates converted to DD/MM/YYYY and session years verified against the delivery calendar.</a:t>
            </a:r>
            <a:endParaRPr lang="en-US" sz="1200" dirty="0"/>
          </a:p>
        </p:txBody>
      </p:sp>
      <p:sp>
        <p:nvSpPr>
          <p:cNvPr id="25" name="Shape 23"/>
          <p:cNvSpPr/>
          <p:nvPr/>
        </p:nvSpPr>
        <p:spPr>
          <a:xfrm>
            <a:off x="4297680" y="3310128"/>
            <a:ext cx="3520440" cy="1645920"/>
          </a:xfrm>
          <a:prstGeom prst="roundRect">
            <a:avLst>
              <a:gd name="adj" fmla="val 4444"/>
            </a:avLst>
          </a:prstGeom>
          <a:solidFill>
            <a:srgbClr val="F5F5F2"/>
          </a:solidFill>
          <a:ln w="6350">
            <a:solidFill>
              <a:srgbClr val="E3E6EB"/>
            </a:solidFill>
            <a:prstDash val="solid"/>
          </a:ln>
        </p:spPr>
      </p:sp>
      <p:sp>
        <p:nvSpPr>
          <p:cNvPr id="26" name="Shape 24"/>
          <p:cNvSpPr/>
          <p:nvPr/>
        </p:nvSpPr>
        <p:spPr>
          <a:xfrm>
            <a:off x="4526280" y="3511296"/>
            <a:ext cx="457200" cy="457200"/>
          </a:xfrm>
          <a:prstGeom prst="ellipse">
            <a:avLst/>
          </a:prstGeom>
          <a:solidFill>
            <a:srgbClr val="1D2B4F"/>
          </a:solidFill>
          <a:ln/>
        </p:spPr>
      </p:sp>
      <p:sp>
        <p:nvSpPr>
          <p:cNvPr id="27" name="Text 25"/>
          <p:cNvSpPr/>
          <p:nvPr/>
        </p:nvSpPr>
        <p:spPr>
          <a:xfrm>
            <a:off x="4526280" y="3602736"/>
            <a:ext cx="457200" cy="274320"/>
          </a:xfrm>
          <a:prstGeom prst="rect">
            <a:avLst/>
          </a:prstGeom>
          <a:noFill/>
          <a:ln/>
        </p:spPr>
        <p:txBody>
          <a:bodyPr wrap="square" lIns="0" tIns="0" rIns="0" bIns="0" rtlCol="0" anchor="ctr"/>
          <a:lstStyle/>
          <a:p>
            <a:pPr algn="ctr" indent="0" marL="0">
              <a:buNone/>
            </a:pPr>
            <a:r>
              <a:rPr lang="en-US" sz="1200" b="1" dirty="0">
                <a:solidFill>
                  <a:srgbClr val="E3B23C"/>
                </a:solidFill>
                <a:latin typeface="Calibri" pitchFamily="34" charset="0"/>
                <a:ea typeface="Calibri" pitchFamily="34" charset="-122"/>
                <a:cs typeface="Calibri" pitchFamily="34" charset="-120"/>
              </a:rPr>
              <a:t>05</a:t>
            </a:r>
            <a:endParaRPr lang="en-US" sz="1200" dirty="0"/>
          </a:p>
        </p:txBody>
      </p:sp>
      <p:sp>
        <p:nvSpPr>
          <p:cNvPr id="28" name="Text 26"/>
          <p:cNvSpPr/>
          <p:nvPr/>
        </p:nvSpPr>
        <p:spPr>
          <a:xfrm>
            <a:off x="5120640" y="3584448"/>
            <a:ext cx="2514600" cy="292608"/>
          </a:xfrm>
          <a:prstGeom prst="rect">
            <a:avLst/>
          </a:prstGeom>
          <a:noFill/>
          <a:ln/>
        </p:spPr>
        <p:txBody>
          <a:bodyPr wrap="square" lIns="0" tIns="0" rIns="0" bIns="0" rtlCol="0" anchor="ctr"/>
          <a:lstStyle/>
          <a:p>
            <a:pPr indent="0" marL="0">
              <a:buNone/>
            </a:pPr>
            <a:r>
              <a:rPr lang="en-US" sz="1250" b="1" dirty="0">
                <a:solidFill>
                  <a:srgbClr val="1D2B4F"/>
                </a:solidFill>
                <a:latin typeface="Calibri" pitchFamily="34" charset="0"/>
                <a:ea typeface="Calibri" pitchFamily="34" charset="-122"/>
                <a:cs typeface="Calibri" pitchFamily="34" charset="-120"/>
              </a:rPr>
              <a:t>Response standardisation</a:t>
            </a:r>
            <a:endParaRPr lang="en-US" sz="1250" dirty="0"/>
          </a:p>
        </p:txBody>
      </p:sp>
      <p:sp>
        <p:nvSpPr>
          <p:cNvPr id="29" name="Text 27"/>
          <p:cNvSpPr/>
          <p:nvPr/>
        </p:nvSpPr>
        <p:spPr>
          <a:xfrm>
            <a:off x="4526280" y="4087368"/>
            <a:ext cx="3127248"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Free-text learning and feedback responses grouped into consistent themes for aggregation.</a:t>
            </a:r>
            <a:endParaRPr lang="en-US" sz="1200" dirty="0"/>
          </a:p>
        </p:txBody>
      </p:sp>
      <p:sp>
        <p:nvSpPr>
          <p:cNvPr id="30" name="Shape 28"/>
          <p:cNvSpPr/>
          <p:nvPr/>
        </p:nvSpPr>
        <p:spPr>
          <a:xfrm>
            <a:off x="8092440" y="3310128"/>
            <a:ext cx="3520440" cy="1645920"/>
          </a:xfrm>
          <a:prstGeom prst="roundRect">
            <a:avLst>
              <a:gd name="adj" fmla="val 4444"/>
            </a:avLst>
          </a:prstGeom>
          <a:solidFill>
            <a:srgbClr val="F5F5F2"/>
          </a:solidFill>
          <a:ln w="6350">
            <a:solidFill>
              <a:srgbClr val="E3E6EB"/>
            </a:solidFill>
            <a:prstDash val="solid"/>
          </a:ln>
        </p:spPr>
      </p:sp>
      <p:sp>
        <p:nvSpPr>
          <p:cNvPr id="31" name="Shape 29"/>
          <p:cNvSpPr/>
          <p:nvPr/>
        </p:nvSpPr>
        <p:spPr>
          <a:xfrm>
            <a:off x="8321040" y="3511296"/>
            <a:ext cx="457200" cy="457200"/>
          </a:xfrm>
          <a:prstGeom prst="ellipse">
            <a:avLst/>
          </a:prstGeom>
          <a:solidFill>
            <a:srgbClr val="1D2B4F"/>
          </a:solidFill>
          <a:ln/>
        </p:spPr>
      </p:sp>
      <p:sp>
        <p:nvSpPr>
          <p:cNvPr id="32" name="Text 30"/>
          <p:cNvSpPr/>
          <p:nvPr/>
        </p:nvSpPr>
        <p:spPr>
          <a:xfrm>
            <a:off x="8321040" y="3602736"/>
            <a:ext cx="457200" cy="274320"/>
          </a:xfrm>
          <a:prstGeom prst="rect">
            <a:avLst/>
          </a:prstGeom>
          <a:noFill/>
          <a:ln/>
        </p:spPr>
        <p:txBody>
          <a:bodyPr wrap="square" lIns="0" tIns="0" rIns="0" bIns="0" rtlCol="0" anchor="ctr"/>
          <a:lstStyle/>
          <a:p>
            <a:pPr algn="ctr" indent="0" marL="0">
              <a:buNone/>
            </a:pPr>
            <a:r>
              <a:rPr lang="en-US" sz="1200" b="1" dirty="0">
                <a:solidFill>
                  <a:srgbClr val="E3B23C"/>
                </a:solidFill>
                <a:latin typeface="Calibri" pitchFamily="34" charset="0"/>
                <a:ea typeface="Calibri" pitchFamily="34" charset="-122"/>
                <a:cs typeface="Calibri" pitchFamily="34" charset="-120"/>
              </a:rPr>
              <a:t>06</a:t>
            </a:r>
            <a:endParaRPr lang="en-US" sz="1200" dirty="0"/>
          </a:p>
        </p:txBody>
      </p:sp>
      <p:sp>
        <p:nvSpPr>
          <p:cNvPr id="33" name="Text 31"/>
          <p:cNvSpPr/>
          <p:nvPr/>
        </p:nvSpPr>
        <p:spPr>
          <a:xfrm>
            <a:off x="8915400" y="3584448"/>
            <a:ext cx="2514600" cy="292608"/>
          </a:xfrm>
          <a:prstGeom prst="rect">
            <a:avLst/>
          </a:prstGeom>
          <a:noFill/>
          <a:ln/>
        </p:spPr>
        <p:txBody>
          <a:bodyPr wrap="square" lIns="0" tIns="0" rIns="0" bIns="0" rtlCol="0" anchor="ctr"/>
          <a:lstStyle/>
          <a:p>
            <a:pPr indent="0" marL="0">
              <a:buNone/>
            </a:pPr>
            <a:r>
              <a:rPr lang="en-US" sz="1250" b="1" dirty="0">
                <a:solidFill>
                  <a:srgbClr val="1D2B4F"/>
                </a:solidFill>
                <a:latin typeface="Calibri" pitchFamily="34" charset="0"/>
                <a:ea typeface="Calibri" pitchFamily="34" charset="-122"/>
                <a:cs typeface="Calibri" pitchFamily="34" charset="-120"/>
              </a:rPr>
              <a:t>Validation</a:t>
            </a:r>
            <a:endParaRPr lang="en-US" sz="1250" dirty="0"/>
          </a:p>
        </p:txBody>
      </p:sp>
      <p:sp>
        <p:nvSpPr>
          <p:cNvPr id="34" name="Text 32"/>
          <p:cNvSpPr/>
          <p:nvPr/>
        </p:nvSpPr>
        <p:spPr>
          <a:xfrm>
            <a:off x="8321040" y="4087368"/>
            <a:ext cx="3127248"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Programme totals reconciled against the participation headline and referral scores confirmed within the 0 to 10 range.</a:t>
            </a:r>
            <a:endParaRPr lang="en-US" sz="1200" dirty="0"/>
          </a:p>
        </p:txBody>
      </p:sp>
      <p:sp>
        <p:nvSpPr>
          <p:cNvPr id="35" name="Shape 33"/>
          <p:cNvSpPr/>
          <p:nvPr/>
        </p:nvSpPr>
        <p:spPr>
          <a:xfrm>
            <a:off x="502920" y="5321808"/>
            <a:ext cx="11155680" cy="914400"/>
          </a:xfrm>
          <a:prstGeom prst="roundRect">
            <a:avLst>
              <a:gd name="adj" fmla="val 8000"/>
            </a:avLst>
          </a:prstGeom>
          <a:solidFill>
            <a:srgbClr val="1D2B4F"/>
          </a:solidFill>
          <a:ln/>
        </p:spPr>
      </p:sp>
      <p:sp>
        <p:nvSpPr>
          <p:cNvPr id="36" name="Text 34"/>
          <p:cNvSpPr/>
          <p:nvPr/>
        </p:nvSpPr>
        <p:spPr>
          <a:xfrm>
            <a:off x="777240" y="5440680"/>
            <a:ext cx="1280160" cy="256032"/>
          </a:xfrm>
          <a:prstGeom prst="rect">
            <a:avLst/>
          </a:prstGeom>
          <a:noFill/>
          <a:ln/>
        </p:spPr>
        <p:txBody>
          <a:bodyPr wrap="square" lIns="0" tIns="0" rIns="0" bIns="0" rtlCol="0" anchor="ctr"/>
          <a:lstStyle/>
          <a:p>
            <a:pPr indent="0" marL="0">
              <a:buNone/>
            </a:pPr>
            <a:r>
              <a:rPr lang="en-US" sz="1200" b="1" dirty="0">
                <a:solidFill>
                  <a:srgbClr val="E3B23C"/>
                </a:solidFill>
                <a:latin typeface="Calibri" pitchFamily="34" charset="0"/>
                <a:ea typeface="Calibri" pitchFamily="34" charset="-122"/>
                <a:cs typeface="Calibri" pitchFamily="34" charset="-120"/>
              </a:rPr>
              <a:t>Result</a:t>
            </a:r>
            <a:endParaRPr lang="en-US" sz="1200" dirty="0"/>
          </a:p>
        </p:txBody>
      </p:sp>
      <p:sp>
        <p:nvSpPr>
          <p:cNvPr id="37" name="Text 35"/>
          <p:cNvSpPr/>
          <p:nvPr/>
        </p:nvSpPr>
        <p:spPr>
          <a:xfrm>
            <a:off x="777240" y="5696712"/>
            <a:ext cx="10607040" cy="457200"/>
          </a:xfrm>
          <a:prstGeom prst="rect">
            <a:avLst/>
          </a:prstGeom>
          <a:noFill/>
          <a:ln/>
        </p:spPr>
        <p:txBody>
          <a:bodyPr wrap="square" lIns="0" tIns="0" rIns="0" bIns="0" rtlCol="0" anchor="t"/>
          <a:lstStyle/>
          <a:p>
            <a:pPr indent="0" marL="0">
              <a:lnSpc>
                <a:spcPts val="1500"/>
              </a:lnSpc>
              <a:buNone/>
            </a:pPr>
            <a:r>
              <a:rPr lang="en-US" sz="1200" dirty="0">
                <a:solidFill>
                  <a:srgbClr val="D7DEE8"/>
                </a:solidFill>
                <a:latin typeface="Calibri" pitchFamily="34" charset="0"/>
                <a:ea typeface="Calibri" pitchFamily="34" charset="-122"/>
                <a:cs typeface="Calibri" pitchFamily="34" charset="-120"/>
              </a:rPr>
              <a:t>A clean attendance register in which every row is attributable to a known participant, every programme aggregates correctly, and free-text feedback is countable rather than merely readable.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03 · DATA QUALITY</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Two Data Quality Findings</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graphicFrame>
        <p:nvGraphicFramePr>
          <p:cNvPr id="5" name="Chart 0" descr=""/>
          <p:cNvGraphicFramePr/>
          <p:nvPr/>
        </p:nvGraphicFramePr>
        <p:xfrm>
          <a:off x="502920" y="1371600"/>
          <a:ext cx="5120640" cy="2148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897880" y="1371600"/>
            <a:ext cx="5760720" cy="274320"/>
          </a:xfrm>
          <a:prstGeom prst="rect">
            <a:avLst/>
          </a:prstGeom>
          <a:noFill/>
          <a:ln/>
        </p:spPr>
        <p:txBody>
          <a:bodyPr wrap="square" lIns="0" tIns="0" rIns="0" bIns="0" rtlCol="0" anchor="ctr"/>
          <a:lstStyle/>
          <a:p>
            <a:pPr indent="0" marL="0">
              <a:buNone/>
            </a:pPr>
            <a:r>
              <a:rPr lang="en-US" sz="1300" b="1" dirty="0">
                <a:solidFill>
                  <a:srgbClr val="B85042"/>
                </a:solidFill>
                <a:latin typeface="Calibri" pitchFamily="34" charset="0"/>
                <a:ea typeface="Calibri" pitchFamily="34" charset="-122"/>
                <a:cs typeface="Calibri" pitchFamily="34" charset="-120"/>
              </a:rPr>
              <a:t>Finding 1 — Identity fragmentation</a:t>
            </a:r>
            <a:endParaRPr lang="en-US" sz="1300" dirty="0"/>
          </a:p>
        </p:txBody>
      </p:sp>
      <p:sp>
        <p:nvSpPr>
          <p:cNvPr id="7" name="Text 4"/>
          <p:cNvSpPr/>
          <p:nvPr/>
        </p:nvSpPr>
        <p:spPr>
          <a:xfrm>
            <a:off x="5897880" y="1719072"/>
            <a:ext cx="5760720"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Participants wrote their names differently at each session. 169 distinct name strings resolved to 66 real people once spelling, partial surnames and spacing were reconciled. 177 of 517 rows needed correction.</a:t>
            </a:r>
            <a:endParaRPr lang="en-US" sz="1200" dirty="0"/>
          </a:p>
        </p:txBody>
      </p:sp>
      <p:sp>
        <p:nvSpPr>
          <p:cNvPr id="8" name="Text 5"/>
          <p:cNvSpPr/>
          <p:nvPr/>
        </p:nvSpPr>
        <p:spPr>
          <a:xfrm>
            <a:off x="5897880" y="2578608"/>
            <a:ext cx="5760720" cy="8229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Taken at face value, the register would have reported roughly 2.6 times more unique participants than the programme actually reached, and every retention measure would have collapsed.</a:t>
            </a:r>
            <a:endParaRPr lang="en-US" sz="1200" dirty="0"/>
          </a:p>
        </p:txBody>
      </p:sp>
      <p:sp>
        <p:nvSpPr>
          <p:cNvPr id="9" name="Shape 6"/>
          <p:cNvSpPr/>
          <p:nvPr/>
        </p:nvSpPr>
        <p:spPr>
          <a:xfrm>
            <a:off x="502920" y="3794760"/>
            <a:ext cx="11155680" cy="2148840"/>
          </a:xfrm>
          <a:prstGeom prst="roundRect">
            <a:avLst>
              <a:gd name="adj" fmla="val 3404"/>
            </a:avLst>
          </a:prstGeom>
          <a:solidFill>
            <a:srgbClr val="FDF3F1"/>
          </a:solidFill>
          <a:ln w="6350">
            <a:solidFill>
              <a:srgbClr val="B85042"/>
            </a:solidFill>
            <a:prstDash val="solid"/>
          </a:ln>
        </p:spPr>
      </p:sp>
      <p:sp>
        <p:nvSpPr>
          <p:cNvPr id="10" name="Text 7"/>
          <p:cNvSpPr/>
          <p:nvPr/>
        </p:nvSpPr>
        <p:spPr>
          <a:xfrm>
            <a:off x="777240" y="3977640"/>
            <a:ext cx="5486400" cy="274320"/>
          </a:xfrm>
          <a:prstGeom prst="rect">
            <a:avLst/>
          </a:prstGeom>
          <a:noFill/>
          <a:ln/>
        </p:spPr>
        <p:txBody>
          <a:bodyPr wrap="square" lIns="0" tIns="0" rIns="0" bIns="0" rtlCol="0" anchor="ctr"/>
          <a:lstStyle/>
          <a:p>
            <a:pPr indent="0" marL="0">
              <a:buNone/>
            </a:pPr>
            <a:r>
              <a:rPr lang="en-US" sz="1300" b="1" dirty="0">
                <a:solidFill>
                  <a:srgbClr val="B85042"/>
                </a:solidFill>
                <a:latin typeface="Calibri" pitchFamily="34" charset="0"/>
                <a:ea typeface="Calibri" pitchFamily="34" charset="-122"/>
                <a:cs typeface="Calibri" pitchFamily="34" charset="-120"/>
              </a:rPr>
              <a:t>Finding 2 — Session year recorded incorrectly</a:t>
            </a:r>
            <a:endParaRPr lang="en-US" sz="1300" dirty="0"/>
          </a:p>
        </p:txBody>
      </p:sp>
      <p:sp>
        <p:nvSpPr>
          <p:cNvPr id="11" name="Text 8"/>
          <p:cNvSpPr/>
          <p:nvPr/>
        </p:nvSpPr>
        <p:spPr>
          <a:xfrm>
            <a:off x="777240" y="4297680"/>
            <a:ext cx="10607040" cy="822960"/>
          </a:xfrm>
          <a:prstGeom prst="rect">
            <a:avLst/>
          </a:prstGeom>
          <a:noFill/>
          <a:ln/>
        </p:spPr>
        <p:txBody>
          <a:bodyPr wrap="square" lIns="0" tIns="0" rIns="0" bIns="0" rtlCol="0" anchor="t"/>
          <a:lstStyle/>
          <a:p>
            <a:pPr indent="0" marL="0">
              <a:lnSpc>
                <a:spcPts val="1400"/>
              </a:lnSpc>
              <a:buNone/>
            </a:pPr>
            <a:r>
              <a:rPr lang="en-US" sz="1200" dirty="0">
                <a:solidFill>
                  <a:srgbClr val="7A3B32"/>
                </a:solidFill>
                <a:latin typeface="Calibri" pitchFamily="34" charset="0"/>
                <a:ea typeface="Calibri" pitchFamily="34" charset="-122"/>
                <a:cs typeface="Calibri" pitchFamily="34" charset="-120"/>
              </a:rPr>
              <a:t>Eight of the fifteen sessions in the extract carry a 2024 year stamp for dates that fall in 2025: the two January Storytelling sessions and all six Rehearsal sessions from March and April. The delivery sequence makes the error clear, since Storytelling ran from October to December 2024 and continued into January 2025 before Rehearsal began that March.</a:t>
            </a:r>
            <a:endParaRPr lang="en-US" sz="1200" dirty="0"/>
          </a:p>
        </p:txBody>
      </p:sp>
      <p:sp>
        <p:nvSpPr>
          <p:cNvPr id="12" name="Text 9"/>
          <p:cNvSpPr/>
          <p:nvPr/>
        </p:nvSpPr>
        <p:spPr>
          <a:xfrm>
            <a:off x="777240" y="5138928"/>
            <a:ext cx="10607040" cy="640080"/>
          </a:xfrm>
          <a:prstGeom prst="rect">
            <a:avLst/>
          </a:prstGeom>
          <a:noFill/>
          <a:ln/>
        </p:spPr>
        <p:txBody>
          <a:bodyPr wrap="square" lIns="0" tIns="0" rIns="0" bIns="0" rtlCol="0" anchor="t"/>
          <a:lstStyle/>
          <a:p>
            <a:pPr indent="0" marL="0">
              <a:lnSpc>
                <a:spcPts val="1400"/>
              </a:lnSpc>
              <a:buNone/>
            </a:pPr>
            <a:r>
              <a:rPr lang="en-US" sz="1200" b="1" dirty="0">
                <a:solidFill>
                  <a:srgbClr val="7A3B32"/>
                </a:solidFill>
                <a:latin typeface="Calibri" pitchFamily="34" charset="0"/>
                <a:ea typeface="Calibri" pitchFamily="34" charset="-122"/>
                <a:cs typeface="Calibri" pitchFamily="34" charset="-120"/>
              </a:rPr>
              <a:t>Left uncorrected, the programme would appear to have run Rehearsal six months before Storytelling began, and any year-on-year comparison would be meaningless. The published dashboard reflects the corrected years.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D2B4F"/>
        </a:solidFill>
      </p:bgPr>
    </p:bg>
    <p:spTree>
      <p:nvGrpSpPr>
        <p:cNvPr id="1" name=""/>
        <p:cNvGrpSpPr/>
        <p:nvPr/>
      </p:nvGrpSpPr>
      <p:grpSpPr>
        <a:xfrm>
          <a:off x="0" y="0"/>
          <a:ext cx="0" cy="0"/>
          <a:chOff x="0" y="0"/>
          <a:chExt cx="0" cy="0"/>
        </a:xfrm>
      </p:grpSpPr>
      <p:sp>
        <p:nvSpPr>
          <p:cNvPr id="2" name="Text 0"/>
          <p:cNvSpPr/>
          <p:nvPr/>
        </p:nvSpPr>
        <p:spPr>
          <a:xfrm>
            <a:off x="502920" y="411480"/>
            <a:ext cx="5486400" cy="256032"/>
          </a:xfrm>
          <a:prstGeom prst="rect">
            <a:avLst/>
          </a:prstGeom>
          <a:noFill/>
          <a:ln/>
        </p:spPr>
        <p:txBody>
          <a:bodyPr wrap="square" lIns="0" tIns="0" rIns="0" bIns="0" rtlCol="0" anchor="ctr"/>
          <a:lstStyle/>
          <a:p>
            <a:pPr indent="0" marL="0">
              <a:buNone/>
            </a:pPr>
            <a:r>
              <a:rPr lang="en-US" sz="1200" b="1" spc="200" kern="0" dirty="0">
                <a:solidFill>
                  <a:srgbClr val="E3B23C"/>
                </a:solidFill>
                <a:latin typeface="Calibri" pitchFamily="34" charset="0"/>
                <a:ea typeface="Calibri" pitchFamily="34" charset="-122"/>
                <a:cs typeface="Calibri" pitchFamily="34" charset="-120"/>
              </a:rPr>
              <a:t>04 · ENGAGEMENT FINDINGS</a:t>
            </a:r>
            <a:endParaRPr lang="en-US" sz="1200" dirty="0"/>
          </a:p>
        </p:txBody>
      </p:sp>
      <p:sp>
        <p:nvSpPr>
          <p:cNvPr id="3" name="Text 1"/>
          <p:cNvSpPr/>
          <p:nvPr/>
        </p:nvSpPr>
        <p:spPr>
          <a:xfrm>
            <a:off x="502920" y="73152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Headline Position</a:t>
            </a:r>
            <a:endParaRPr lang="en-US" sz="3000" dirty="0"/>
          </a:p>
        </p:txBody>
      </p:sp>
      <p:sp>
        <p:nvSpPr>
          <p:cNvPr id="4" name="Shape 2"/>
          <p:cNvSpPr/>
          <p:nvPr/>
        </p:nvSpPr>
        <p:spPr>
          <a:xfrm>
            <a:off x="502920" y="1600200"/>
            <a:ext cx="2651760" cy="1554480"/>
          </a:xfrm>
          <a:prstGeom prst="roundRect">
            <a:avLst>
              <a:gd name="adj" fmla="val 4706"/>
            </a:avLst>
          </a:prstGeom>
          <a:solidFill>
            <a:srgbClr val="2B3E63"/>
          </a:solidFill>
          <a:ln/>
        </p:spPr>
      </p:sp>
      <p:sp>
        <p:nvSpPr>
          <p:cNvPr id="5" name="Text 3"/>
          <p:cNvSpPr/>
          <p:nvPr/>
        </p:nvSpPr>
        <p:spPr>
          <a:xfrm>
            <a:off x="731520" y="1783080"/>
            <a:ext cx="219456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560</a:t>
            </a:r>
            <a:endParaRPr lang="en-US" sz="3000" dirty="0"/>
          </a:p>
        </p:txBody>
      </p:sp>
      <p:sp>
        <p:nvSpPr>
          <p:cNvPr id="6" name="Text 4"/>
          <p:cNvSpPr/>
          <p:nvPr/>
        </p:nvSpPr>
        <p:spPr>
          <a:xfrm>
            <a:off x="731520" y="2359152"/>
            <a:ext cx="22860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Total attendances</a:t>
            </a:r>
            <a:endParaRPr lang="en-US" sz="1200" dirty="0"/>
          </a:p>
        </p:txBody>
      </p:sp>
      <p:sp>
        <p:nvSpPr>
          <p:cNvPr id="7" name="Text 5"/>
          <p:cNvSpPr/>
          <p:nvPr/>
        </p:nvSpPr>
        <p:spPr>
          <a:xfrm>
            <a:off x="731520" y="2615184"/>
            <a:ext cx="2286000" cy="411480"/>
          </a:xfrm>
          <a:prstGeom prst="rect">
            <a:avLst/>
          </a:prstGeom>
          <a:noFill/>
          <a:ln/>
        </p:spPr>
        <p:txBody>
          <a:bodyPr wrap="square" lIns="0" tIns="0" rIns="0" bIns="0" rtlCol="0" anchor="t"/>
          <a:lstStyle/>
          <a:p>
            <a:pPr indent="0" marL="0">
              <a:lnSpc>
                <a:spcPts val="1200"/>
              </a:lnSpc>
              <a:buNone/>
            </a:pPr>
            <a:r>
              <a:rPr lang="en-US" sz="1200" dirty="0">
                <a:solidFill>
                  <a:srgbClr val="9FB0C6"/>
                </a:solidFill>
                <a:latin typeface="Calibri" pitchFamily="34" charset="0"/>
                <a:ea typeface="Calibri" pitchFamily="34" charset="-122"/>
                <a:cs typeface="Calibri" pitchFamily="34" charset="-120"/>
              </a:rPr>
              <a:t>Across 16 delivered sessions</a:t>
            </a:r>
            <a:endParaRPr lang="en-US" sz="1200" dirty="0"/>
          </a:p>
        </p:txBody>
      </p:sp>
      <p:sp>
        <p:nvSpPr>
          <p:cNvPr id="8" name="Shape 6"/>
          <p:cNvSpPr/>
          <p:nvPr/>
        </p:nvSpPr>
        <p:spPr>
          <a:xfrm>
            <a:off x="3355848" y="1600200"/>
            <a:ext cx="2651760" cy="1554480"/>
          </a:xfrm>
          <a:prstGeom prst="roundRect">
            <a:avLst>
              <a:gd name="adj" fmla="val 4706"/>
            </a:avLst>
          </a:prstGeom>
          <a:solidFill>
            <a:srgbClr val="2B3E63"/>
          </a:solidFill>
          <a:ln/>
        </p:spPr>
      </p:sp>
      <p:sp>
        <p:nvSpPr>
          <p:cNvPr id="9" name="Text 7"/>
          <p:cNvSpPr/>
          <p:nvPr/>
        </p:nvSpPr>
        <p:spPr>
          <a:xfrm>
            <a:off x="3584448" y="1783080"/>
            <a:ext cx="2194560" cy="548640"/>
          </a:xfrm>
          <a:prstGeom prst="rect">
            <a:avLst/>
          </a:prstGeom>
          <a:noFill/>
          <a:ln/>
        </p:spPr>
        <p:txBody>
          <a:bodyPr wrap="square" lIns="0" tIns="0" rIns="0" bIns="0" rtlCol="0" anchor="ctr"/>
          <a:lstStyle/>
          <a:p>
            <a:pPr indent="0" marL="0">
              <a:buNone/>
            </a:pPr>
            <a:r>
              <a:rPr lang="en-US" sz="3000" b="1" dirty="0">
                <a:solidFill>
                  <a:srgbClr val="E3B23C"/>
                </a:solidFill>
                <a:latin typeface="Cambria" pitchFamily="34" charset="0"/>
                <a:ea typeface="Cambria" pitchFamily="34" charset="-122"/>
                <a:cs typeface="Cambria" pitchFamily="34" charset="-120"/>
              </a:rPr>
              <a:t>66</a:t>
            </a:r>
            <a:endParaRPr lang="en-US" sz="3000" dirty="0"/>
          </a:p>
        </p:txBody>
      </p:sp>
      <p:sp>
        <p:nvSpPr>
          <p:cNvPr id="10" name="Text 8"/>
          <p:cNvSpPr/>
          <p:nvPr/>
        </p:nvSpPr>
        <p:spPr>
          <a:xfrm>
            <a:off x="3584448" y="2359152"/>
            <a:ext cx="22860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Unique participants</a:t>
            </a:r>
            <a:endParaRPr lang="en-US" sz="1200" dirty="0"/>
          </a:p>
        </p:txBody>
      </p:sp>
      <p:sp>
        <p:nvSpPr>
          <p:cNvPr id="11" name="Text 9"/>
          <p:cNvSpPr/>
          <p:nvPr/>
        </p:nvSpPr>
        <p:spPr>
          <a:xfrm>
            <a:off x="3584448" y="2615184"/>
            <a:ext cx="2286000" cy="411480"/>
          </a:xfrm>
          <a:prstGeom prst="rect">
            <a:avLst/>
          </a:prstGeom>
          <a:noFill/>
          <a:ln/>
        </p:spPr>
        <p:txBody>
          <a:bodyPr wrap="square" lIns="0" tIns="0" rIns="0" bIns="0" rtlCol="0" anchor="t"/>
          <a:lstStyle/>
          <a:p>
            <a:pPr indent="0" marL="0">
              <a:lnSpc>
                <a:spcPts val="1200"/>
              </a:lnSpc>
              <a:buNone/>
            </a:pPr>
            <a:r>
              <a:rPr lang="en-US" sz="1200" dirty="0">
                <a:solidFill>
                  <a:srgbClr val="9FB0C6"/>
                </a:solidFill>
                <a:latin typeface="Calibri" pitchFamily="34" charset="0"/>
                <a:ea typeface="Calibri" pitchFamily="34" charset="-122"/>
                <a:cs typeface="Calibri" pitchFamily="34" charset="-120"/>
              </a:rPr>
              <a:t>True reach after name correction</a:t>
            </a:r>
            <a:endParaRPr lang="en-US" sz="1200" dirty="0"/>
          </a:p>
        </p:txBody>
      </p:sp>
      <p:sp>
        <p:nvSpPr>
          <p:cNvPr id="12" name="Shape 10"/>
          <p:cNvSpPr/>
          <p:nvPr/>
        </p:nvSpPr>
        <p:spPr>
          <a:xfrm>
            <a:off x="6208776" y="1600200"/>
            <a:ext cx="2651760" cy="1554480"/>
          </a:xfrm>
          <a:prstGeom prst="roundRect">
            <a:avLst>
              <a:gd name="adj" fmla="val 4706"/>
            </a:avLst>
          </a:prstGeom>
          <a:solidFill>
            <a:srgbClr val="2B3E63"/>
          </a:solidFill>
          <a:ln/>
        </p:spPr>
      </p:sp>
      <p:sp>
        <p:nvSpPr>
          <p:cNvPr id="13" name="Text 11"/>
          <p:cNvSpPr/>
          <p:nvPr/>
        </p:nvSpPr>
        <p:spPr>
          <a:xfrm>
            <a:off x="6437376" y="1783080"/>
            <a:ext cx="2194560" cy="548640"/>
          </a:xfrm>
          <a:prstGeom prst="rect">
            <a:avLst/>
          </a:prstGeom>
          <a:noFill/>
          <a:ln/>
        </p:spPr>
        <p:txBody>
          <a:bodyPr wrap="square" lIns="0" tIns="0" rIns="0" bIns="0" rtlCol="0" anchor="ctr"/>
          <a:lstStyle/>
          <a:p>
            <a:pPr indent="0" marL="0">
              <a:buNone/>
            </a:pPr>
            <a:r>
              <a:rPr lang="en-US" sz="3000" b="1" dirty="0">
                <a:solidFill>
                  <a:srgbClr val="E3B23C"/>
                </a:solidFill>
                <a:latin typeface="Cambria" pitchFamily="34" charset="0"/>
                <a:ea typeface="Cambria" pitchFamily="34" charset="-122"/>
                <a:cs typeface="Cambria" pitchFamily="34" charset="-120"/>
              </a:rPr>
              <a:t>8.5</a:t>
            </a:r>
            <a:endParaRPr lang="en-US" sz="3000" dirty="0"/>
          </a:p>
        </p:txBody>
      </p:sp>
      <p:sp>
        <p:nvSpPr>
          <p:cNvPr id="14" name="Text 12"/>
          <p:cNvSpPr/>
          <p:nvPr/>
        </p:nvSpPr>
        <p:spPr>
          <a:xfrm>
            <a:off x="6437376" y="2359152"/>
            <a:ext cx="22860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Attendances per person</a:t>
            </a:r>
            <a:endParaRPr lang="en-US" sz="1200" dirty="0"/>
          </a:p>
        </p:txBody>
      </p:sp>
      <p:sp>
        <p:nvSpPr>
          <p:cNvPr id="15" name="Text 13"/>
          <p:cNvSpPr/>
          <p:nvPr/>
        </p:nvSpPr>
        <p:spPr>
          <a:xfrm>
            <a:off x="6437376" y="2615184"/>
            <a:ext cx="2286000" cy="411480"/>
          </a:xfrm>
          <a:prstGeom prst="rect">
            <a:avLst/>
          </a:prstGeom>
          <a:noFill/>
          <a:ln/>
        </p:spPr>
        <p:txBody>
          <a:bodyPr wrap="square" lIns="0" tIns="0" rIns="0" bIns="0" rtlCol="0" anchor="t"/>
          <a:lstStyle/>
          <a:p>
            <a:pPr indent="0" marL="0">
              <a:lnSpc>
                <a:spcPts val="1200"/>
              </a:lnSpc>
              <a:buNone/>
            </a:pPr>
            <a:r>
              <a:rPr lang="en-US" sz="1200" dirty="0">
                <a:solidFill>
                  <a:srgbClr val="9FB0C6"/>
                </a:solidFill>
                <a:latin typeface="Calibri" pitchFamily="34" charset="0"/>
                <a:ea typeface="Calibri" pitchFamily="34" charset="-122"/>
                <a:cs typeface="Calibri" pitchFamily="34" charset="-120"/>
              </a:rPr>
              <a:t>Average across the programme</a:t>
            </a:r>
            <a:endParaRPr lang="en-US" sz="1200" dirty="0"/>
          </a:p>
        </p:txBody>
      </p:sp>
      <p:sp>
        <p:nvSpPr>
          <p:cNvPr id="16" name="Shape 14"/>
          <p:cNvSpPr/>
          <p:nvPr/>
        </p:nvSpPr>
        <p:spPr>
          <a:xfrm>
            <a:off x="9061704" y="1600200"/>
            <a:ext cx="2651760" cy="1554480"/>
          </a:xfrm>
          <a:prstGeom prst="roundRect">
            <a:avLst>
              <a:gd name="adj" fmla="val 4706"/>
            </a:avLst>
          </a:prstGeom>
          <a:solidFill>
            <a:srgbClr val="2B3E63"/>
          </a:solidFill>
          <a:ln/>
        </p:spPr>
      </p:sp>
      <p:sp>
        <p:nvSpPr>
          <p:cNvPr id="17" name="Text 15"/>
          <p:cNvSpPr/>
          <p:nvPr/>
        </p:nvSpPr>
        <p:spPr>
          <a:xfrm>
            <a:off x="9290304" y="1783080"/>
            <a:ext cx="219456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35.0</a:t>
            </a:r>
            <a:endParaRPr lang="en-US" sz="3000" dirty="0"/>
          </a:p>
        </p:txBody>
      </p:sp>
      <p:sp>
        <p:nvSpPr>
          <p:cNvPr id="18" name="Text 16"/>
          <p:cNvSpPr/>
          <p:nvPr/>
        </p:nvSpPr>
        <p:spPr>
          <a:xfrm>
            <a:off x="9290304" y="2359152"/>
            <a:ext cx="22860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Average per session</a:t>
            </a:r>
            <a:endParaRPr lang="en-US" sz="1200" dirty="0"/>
          </a:p>
        </p:txBody>
      </p:sp>
      <p:sp>
        <p:nvSpPr>
          <p:cNvPr id="19" name="Text 17"/>
          <p:cNvSpPr/>
          <p:nvPr/>
        </p:nvSpPr>
        <p:spPr>
          <a:xfrm>
            <a:off x="9290304" y="2615184"/>
            <a:ext cx="2286000" cy="411480"/>
          </a:xfrm>
          <a:prstGeom prst="rect">
            <a:avLst/>
          </a:prstGeom>
          <a:noFill/>
          <a:ln/>
        </p:spPr>
        <p:txBody>
          <a:bodyPr wrap="square" lIns="0" tIns="0" rIns="0" bIns="0" rtlCol="0" anchor="t"/>
          <a:lstStyle/>
          <a:p>
            <a:pPr indent="0" marL="0">
              <a:lnSpc>
                <a:spcPts val="1200"/>
              </a:lnSpc>
              <a:buNone/>
            </a:pPr>
            <a:r>
              <a:rPr lang="en-US" sz="1200" dirty="0">
                <a:solidFill>
                  <a:srgbClr val="9FB0C6"/>
                </a:solidFill>
                <a:latin typeface="Calibri" pitchFamily="34" charset="0"/>
                <a:ea typeface="Calibri" pitchFamily="34" charset="-122"/>
                <a:cs typeface="Calibri" pitchFamily="34" charset="-120"/>
              </a:rPr>
              <a:t>Consistent across the run</a:t>
            </a:r>
            <a:endParaRPr lang="en-US" sz="1200" dirty="0"/>
          </a:p>
        </p:txBody>
      </p:sp>
      <p:sp>
        <p:nvSpPr>
          <p:cNvPr id="20" name="Shape 18"/>
          <p:cNvSpPr/>
          <p:nvPr/>
        </p:nvSpPr>
        <p:spPr>
          <a:xfrm>
            <a:off x="502920" y="3337560"/>
            <a:ext cx="2651760" cy="1371600"/>
          </a:xfrm>
          <a:prstGeom prst="roundRect">
            <a:avLst>
              <a:gd name="adj" fmla="val 5333"/>
            </a:avLst>
          </a:prstGeom>
          <a:solidFill>
            <a:srgbClr val="2B3E63"/>
          </a:solidFill>
          <a:ln/>
        </p:spPr>
      </p:sp>
      <p:sp>
        <p:nvSpPr>
          <p:cNvPr id="21" name="Text 19"/>
          <p:cNvSpPr/>
          <p:nvPr/>
        </p:nvSpPr>
        <p:spPr>
          <a:xfrm>
            <a:off x="731520" y="3520440"/>
            <a:ext cx="2286000"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9.45</a:t>
            </a:r>
            <a:endParaRPr lang="en-US" sz="2500" dirty="0"/>
          </a:p>
        </p:txBody>
      </p:sp>
      <p:sp>
        <p:nvSpPr>
          <p:cNvPr id="22" name="Text 20"/>
          <p:cNvSpPr/>
          <p:nvPr/>
        </p:nvSpPr>
        <p:spPr>
          <a:xfrm>
            <a:off x="731520" y="4005072"/>
            <a:ext cx="2286000" cy="256032"/>
          </a:xfrm>
          <a:prstGeom prst="rect">
            <a:avLst/>
          </a:prstGeom>
          <a:noFill/>
          <a:ln/>
        </p:spPr>
        <p:txBody>
          <a:bodyPr wrap="square" lIns="0" tIns="0" rIns="0" bIns="0" rtlCol="0" anchor="ctr"/>
          <a:lstStyle/>
          <a:p>
            <a:pPr indent="0" marL="0">
              <a:buNone/>
            </a:pPr>
            <a:r>
              <a:rPr lang="en-US" sz="1200" b="1" dirty="0">
                <a:solidFill>
                  <a:srgbClr val="E3B23C"/>
                </a:solidFill>
                <a:latin typeface="Calibri" pitchFamily="34" charset="0"/>
                <a:ea typeface="Calibri" pitchFamily="34" charset="-122"/>
                <a:cs typeface="Calibri" pitchFamily="34" charset="-120"/>
              </a:rPr>
              <a:t>Referral rating</a:t>
            </a:r>
            <a:endParaRPr lang="en-US" sz="1200" dirty="0"/>
          </a:p>
        </p:txBody>
      </p:sp>
      <p:sp>
        <p:nvSpPr>
          <p:cNvPr id="23" name="Text 21"/>
          <p:cNvSpPr/>
          <p:nvPr/>
        </p:nvSpPr>
        <p:spPr>
          <a:xfrm>
            <a:off x="731520" y="4261104"/>
            <a:ext cx="2286000" cy="274320"/>
          </a:xfrm>
          <a:prstGeom prst="rect">
            <a:avLst/>
          </a:prstGeom>
          <a:noFill/>
          <a:ln/>
        </p:spPr>
        <p:txBody>
          <a:bodyPr wrap="square" lIns="0" tIns="0" rIns="0" bIns="0" rtlCol="0" anchor="ctr"/>
          <a:lstStyle/>
          <a:p>
            <a:pPr indent="0" marL="0">
              <a:buNone/>
            </a:pPr>
            <a:r>
              <a:rPr lang="en-US" sz="1200" dirty="0">
                <a:solidFill>
                  <a:srgbClr val="9FB0C6"/>
                </a:solidFill>
                <a:latin typeface="Calibri" pitchFamily="34" charset="0"/>
                <a:ea typeface="Calibri" pitchFamily="34" charset="-122"/>
                <a:cs typeface="Calibri" pitchFamily="34" charset="-120"/>
              </a:rPr>
              <a:t>Out of a possible 10</a:t>
            </a:r>
            <a:endParaRPr lang="en-US" sz="1200" dirty="0"/>
          </a:p>
        </p:txBody>
      </p:sp>
      <p:sp>
        <p:nvSpPr>
          <p:cNvPr id="24" name="Shape 22"/>
          <p:cNvSpPr/>
          <p:nvPr/>
        </p:nvSpPr>
        <p:spPr>
          <a:xfrm>
            <a:off x="3355848" y="3337560"/>
            <a:ext cx="2651760" cy="1371600"/>
          </a:xfrm>
          <a:prstGeom prst="roundRect">
            <a:avLst>
              <a:gd name="adj" fmla="val 5333"/>
            </a:avLst>
          </a:prstGeom>
          <a:solidFill>
            <a:srgbClr val="2B3E63"/>
          </a:solidFill>
          <a:ln/>
        </p:spPr>
      </p:sp>
      <p:sp>
        <p:nvSpPr>
          <p:cNvPr id="25" name="Text 23"/>
          <p:cNvSpPr/>
          <p:nvPr/>
        </p:nvSpPr>
        <p:spPr>
          <a:xfrm>
            <a:off x="3584448" y="3520440"/>
            <a:ext cx="2286000"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0</a:t>
            </a:r>
            <a:endParaRPr lang="en-US" sz="2500" dirty="0"/>
          </a:p>
        </p:txBody>
      </p:sp>
      <p:sp>
        <p:nvSpPr>
          <p:cNvPr id="26" name="Text 24"/>
          <p:cNvSpPr/>
          <p:nvPr/>
        </p:nvSpPr>
        <p:spPr>
          <a:xfrm>
            <a:off x="3584448" y="4005072"/>
            <a:ext cx="2286000" cy="256032"/>
          </a:xfrm>
          <a:prstGeom prst="rect">
            <a:avLst/>
          </a:prstGeom>
          <a:noFill/>
          <a:ln/>
        </p:spPr>
        <p:txBody>
          <a:bodyPr wrap="square" lIns="0" tIns="0" rIns="0" bIns="0" rtlCol="0" anchor="ctr"/>
          <a:lstStyle/>
          <a:p>
            <a:pPr indent="0" marL="0">
              <a:buNone/>
            </a:pPr>
            <a:r>
              <a:rPr lang="en-US" sz="1200" b="1" dirty="0">
                <a:solidFill>
                  <a:srgbClr val="E3B23C"/>
                </a:solidFill>
                <a:latin typeface="Calibri" pitchFamily="34" charset="0"/>
                <a:ea typeface="Calibri" pitchFamily="34" charset="-122"/>
                <a:cs typeface="Calibri" pitchFamily="34" charset="-120"/>
              </a:rPr>
              <a:t>Detractors</a:t>
            </a:r>
            <a:endParaRPr lang="en-US" sz="1200" dirty="0"/>
          </a:p>
        </p:txBody>
      </p:sp>
      <p:sp>
        <p:nvSpPr>
          <p:cNvPr id="27" name="Text 25"/>
          <p:cNvSpPr/>
          <p:nvPr/>
        </p:nvSpPr>
        <p:spPr>
          <a:xfrm>
            <a:off x="3584448" y="4261104"/>
            <a:ext cx="2286000" cy="274320"/>
          </a:xfrm>
          <a:prstGeom prst="rect">
            <a:avLst/>
          </a:prstGeom>
          <a:noFill/>
          <a:ln/>
        </p:spPr>
        <p:txBody>
          <a:bodyPr wrap="square" lIns="0" tIns="0" rIns="0" bIns="0" rtlCol="0" anchor="ctr"/>
          <a:lstStyle/>
          <a:p>
            <a:pPr indent="0" marL="0">
              <a:buNone/>
            </a:pPr>
            <a:r>
              <a:rPr lang="en-US" sz="1200" dirty="0">
                <a:solidFill>
                  <a:srgbClr val="9FB0C6"/>
                </a:solidFill>
                <a:latin typeface="Calibri" pitchFamily="34" charset="0"/>
                <a:ea typeface="Calibri" pitchFamily="34" charset="-122"/>
                <a:cs typeface="Calibri" pitchFamily="34" charset="-120"/>
              </a:rPr>
              <a:t>No score below 8 recorded</a:t>
            </a:r>
            <a:endParaRPr lang="en-US" sz="1200" dirty="0"/>
          </a:p>
        </p:txBody>
      </p:sp>
      <p:sp>
        <p:nvSpPr>
          <p:cNvPr id="28" name="Shape 26"/>
          <p:cNvSpPr/>
          <p:nvPr/>
        </p:nvSpPr>
        <p:spPr>
          <a:xfrm>
            <a:off x="6208776" y="3337560"/>
            <a:ext cx="2651760" cy="1371600"/>
          </a:xfrm>
          <a:prstGeom prst="roundRect">
            <a:avLst>
              <a:gd name="adj" fmla="val 5333"/>
            </a:avLst>
          </a:prstGeom>
          <a:solidFill>
            <a:srgbClr val="2B3E63"/>
          </a:solidFill>
          <a:ln/>
        </p:spPr>
      </p:sp>
      <p:sp>
        <p:nvSpPr>
          <p:cNvPr id="29" name="Text 27"/>
          <p:cNvSpPr/>
          <p:nvPr/>
        </p:nvSpPr>
        <p:spPr>
          <a:xfrm>
            <a:off x="6437376" y="3520440"/>
            <a:ext cx="2286000"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93%</a:t>
            </a:r>
            <a:endParaRPr lang="en-US" sz="2500" dirty="0"/>
          </a:p>
        </p:txBody>
      </p:sp>
      <p:sp>
        <p:nvSpPr>
          <p:cNvPr id="30" name="Text 28"/>
          <p:cNvSpPr/>
          <p:nvPr/>
        </p:nvSpPr>
        <p:spPr>
          <a:xfrm>
            <a:off x="6437376" y="4005072"/>
            <a:ext cx="2286000" cy="256032"/>
          </a:xfrm>
          <a:prstGeom prst="rect">
            <a:avLst/>
          </a:prstGeom>
          <a:noFill/>
          <a:ln/>
        </p:spPr>
        <p:txBody>
          <a:bodyPr wrap="square" lIns="0" tIns="0" rIns="0" bIns="0" rtlCol="0" anchor="ctr"/>
          <a:lstStyle/>
          <a:p>
            <a:pPr indent="0" marL="0">
              <a:buNone/>
            </a:pPr>
            <a:r>
              <a:rPr lang="en-US" sz="1200" b="1" dirty="0">
                <a:solidFill>
                  <a:srgbClr val="E3B23C"/>
                </a:solidFill>
                <a:latin typeface="Calibri" pitchFamily="34" charset="0"/>
                <a:ea typeface="Calibri" pitchFamily="34" charset="-122"/>
                <a:cs typeface="Calibri" pitchFamily="34" charset="-120"/>
              </a:rPr>
              <a:t>Are young people</a:t>
            </a:r>
            <a:endParaRPr lang="en-US" sz="1200" dirty="0"/>
          </a:p>
        </p:txBody>
      </p:sp>
      <p:sp>
        <p:nvSpPr>
          <p:cNvPr id="31" name="Text 29"/>
          <p:cNvSpPr/>
          <p:nvPr/>
        </p:nvSpPr>
        <p:spPr>
          <a:xfrm>
            <a:off x="6437376" y="4261104"/>
            <a:ext cx="2286000" cy="274320"/>
          </a:xfrm>
          <a:prstGeom prst="rect">
            <a:avLst/>
          </a:prstGeom>
          <a:noFill/>
          <a:ln/>
        </p:spPr>
        <p:txBody>
          <a:bodyPr wrap="square" lIns="0" tIns="0" rIns="0" bIns="0" rtlCol="0" anchor="ctr"/>
          <a:lstStyle/>
          <a:p>
            <a:pPr indent="0" marL="0">
              <a:buNone/>
            </a:pPr>
            <a:r>
              <a:rPr lang="en-US" sz="1200" dirty="0">
                <a:solidFill>
                  <a:srgbClr val="9FB0C6"/>
                </a:solidFill>
                <a:latin typeface="Calibri" pitchFamily="34" charset="0"/>
                <a:ea typeface="Calibri" pitchFamily="34" charset="-122"/>
                <a:cs typeface="Calibri" pitchFamily="34" charset="-120"/>
              </a:rPr>
              <a:t>Programme's core audience</a:t>
            </a:r>
            <a:endParaRPr lang="en-US" sz="1200" dirty="0"/>
          </a:p>
        </p:txBody>
      </p:sp>
      <p:sp>
        <p:nvSpPr>
          <p:cNvPr id="32" name="Shape 30"/>
          <p:cNvSpPr/>
          <p:nvPr/>
        </p:nvSpPr>
        <p:spPr>
          <a:xfrm>
            <a:off x="9061704" y="3337560"/>
            <a:ext cx="2651760" cy="1371600"/>
          </a:xfrm>
          <a:prstGeom prst="roundRect">
            <a:avLst>
              <a:gd name="adj" fmla="val 5333"/>
            </a:avLst>
          </a:prstGeom>
          <a:solidFill>
            <a:srgbClr val="2B3E63"/>
          </a:solidFill>
          <a:ln/>
        </p:spPr>
      </p:sp>
      <p:sp>
        <p:nvSpPr>
          <p:cNvPr id="33" name="Text 31"/>
          <p:cNvSpPr/>
          <p:nvPr/>
        </p:nvSpPr>
        <p:spPr>
          <a:xfrm>
            <a:off x="9290304" y="3520440"/>
            <a:ext cx="2286000"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50%</a:t>
            </a:r>
            <a:endParaRPr lang="en-US" sz="2500" dirty="0"/>
          </a:p>
        </p:txBody>
      </p:sp>
      <p:sp>
        <p:nvSpPr>
          <p:cNvPr id="34" name="Text 32"/>
          <p:cNvSpPr/>
          <p:nvPr/>
        </p:nvSpPr>
        <p:spPr>
          <a:xfrm>
            <a:off x="9290304" y="4005072"/>
            <a:ext cx="2286000" cy="256032"/>
          </a:xfrm>
          <a:prstGeom prst="rect">
            <a:avLst/>
          </a:prstGeom>
          <a:noFill/>
          <a:ln/>
        </p:spPr>
        <p:txBody>
          <a:bodyPr wrap="square" lIns="0" tIns="0" rIns="0" bIns="0" rtlCol="0" anchor="ctr"/>
          <a:lstStyle/>
          <a:p>
            <a:pPr indent="0" marL="0">
              <a:buNone/>
            </a:pPr>
            <a:r>
              <a:rPr lang="en-US" sz="1200" b="1" dirty="0">
                <a:solidFill>
                  <a:srgbClr val="E3B23C"/>
                </a:solidFill>
                <a:latin typeface="Calibri" pitchFamily="34" charset="0"/>
                <a:ea typeface="Calibri" pitchFamily="34" charset="-122"/>
                <a:cs typeface="Calibri" pitchFamily="34" charset="-120"/>
              </a:rPr>
              <a:t>Attended 10+ sessions</a:t>
            </a:r>
            <a:endParaRPr lang="en-US" sz="1200" dirty="0"/>
          </a:p>
        </p:txBody>
      </p:sp>
      <p:sp>
        <p:nvSpPr>
          <p:cNvPr id="35" name="Text 33"/>
          <p:cNvSpPr/>
          <p:nvPr/>
        </p:nvSpPr>
        <p:spPr>
          <a:xfrm>
            <a:off x="9290304" y="4261104"/>
            <a:ext cx="2286000" cy="274320"/>
          </a:xfrm>
          <a:prstGeom prst="rect">
            <a:avLst/>
          </a:prstGeom>
          <a:noFill/>
          <a:ln/>
        </p:spPr>
        <p:txBody>
          <a:bodyPr wrap="square" lIns="0" tIns="0" rIns="0" bIns="0" rtlCol="0" anchor="ctr"/>
          <a:lstStyle/>
          <a:p>
            <a:pPr indent="0" marL="0">
              <a:buNone/>
            </a:pPr>
            <a:r>
              <a:rPr lang="en-US" sz="1200" dirty="0">
                <a:solidFill>
                  <a:srgbClr val="9FB0C6"/>
                </a:solidFill>
                <a:latin typeface="Calibri" pitchFamily="34" charset="0"/>
                <a:ea typeface="Calibri" pitchFamily="34" charset="-122"/>
                <a:cs typeface="Calibri" pitchFamily="34" charset="-120"/>
              </a:rPr>
              <a:t>33 of 66 participants</a:t>
            </a:r>
            <a:endParaRPr lang="en-US" sz="1200" dirty="0"/>
          </a:p>
        </p:txBody>
      </p:sp>
      <p:sp>
        <p:nvSpPr>
          <p:cNvPr id="36" name="Shape 34"/>
          <p:cNvSpPr/>
          <p:nvPr/>
        </p:nvSpPr>
        <p:spPr>
          <a:xfrm>
            <a:off x="502920" y="4983480"/>
            <a:ext cx="11155680" cy="1051560"/>
          </a:xfrm>
          <a:prstGeom prst="roundRect">
            <a:avLst>
              <a:gd name="adj" fmla="val 6957"/>
            </a:avLst>
          </a:prstGeom>
          <a:solidFill>
            <a:srgbClr val="2E2A18"/>
          </a:solidFill>
          <a:ln w="9525">
            <a:solidFill>
              <a:srgbClr val="E3B23C"/>
            </a:solidFill>
            <a:prstDash val="solid"/>
          </a:ln>
        </p:spPr>
      </p:sp>
      <p:sp>
        <p:nvSpPr>
          <p:cNvPr id="37" name="Text 35"/>
          <p:cNvSpPr/>
          <p:nvPr/>
        </p:nvSpPr>
        <p:spPr>
          <a:xfrm>
            <a:off x="777240" y="5120640"/>
            <a:ext cx="1828800" cy="256032"/>
          </a:xfrm>
          <a:prstGeom prst="rect">
            <a:avLst/>
          </a:prstGeom>
          <a:noFill/>
          <a:ln/>
        </p:spPr>
        <p:txBody>
          <a:bodyPr wrap="square" lIns="0" tIns="0" rIns="0" bIns="0" rtlCol="0" anchor="ctr"/>
          <a:lstStyle/>
          <a:p>
            <a:pPr indent="0" marL="0">
              <a:buNone/>
            </a:pPr>
            <a:r>
              <a:rPr lang="en-US" sz="1200" b="1" dirty="0">
                <a:solidFill>
                  <a:srgbClr val="E3B23C"/>
                </a:solidFill>
                <a:latin typeface="Calibri" pitchFamily="34" charset="0"/>
                <a:ea typeface="Calibri" pitchFamily="34" charset="-122"/>
                <a:cs typeface="Calibri" pitchFamily="34" charset="-120"/>
              </a:rPr>
              <a:t>Read this first</a:t>
            </a:r>
            <a:endParaRPr lang="en-US" sz="1200" dirty="0"/>
          </a:p>
        </p:txBody>
      </p:sp>
      <p:sp>
        <p:nvSpPr>
          <p:cNvPr id="38" name="Text 36"/>
          <p:cNvSpPr/>
          <p:nvPr/>
        </p:nvSpPr>
        <p:spPr>
          <a:xfrm>
            <a:off x="777240" y="5376672"/>
            <a:ext cx="10607040" cy="548640"/>
          </a:xfrm>
          <a:prstGeom prst="rect">
            <a:avLst/>
          </a:prstGeom>
          <a:noFill/>
          <a:ln/>
        </p:spPr>
        <p:txBody>
          <a:bodyPr wrap="square" lIns="0" tIns="0" rIns="0" bIns="0" rtlCol="0" anchor="t"/>
          <a:lstStyle/>
          <a:p>
            <a:pPr indent="0" marL="0">
              <a:lnSpc>
                <a:spcPts val="1600"/>
              </a:lnSpc>
              <a:buNone/>
            </a:pPr>
            <a:r>
              <a:rPr lang="en-US" sz="1200" dirty="0">
                <a:solidFill>
                  <a:srgbClr val="E8DCC0"/>
                </a:solidFill>
                <a:latin typeface="Calibri" pitchFamily="34" charset="0"/>
                <a:ea typeface="Calibri" pitchFamily="34" charset="-122"/>
                <a:cs typeface="Calibri" pitchFamily="34" charset="-120"/>
              </a:rPr>
              <a:t>560 attendances came from just 66 people. This is not a programme that reached a large audience once; it is a programme that reached a small audience repeatedly, roughly eight or nine times each. Retention, not reach, is what this data measures.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04 · FINDINGS</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Participation Across the Three Strands</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graphicFrame>
        <p:nvGraphicFramePr>
          <p:cNvPr id="5" name="Chart 0" descr=""/>
          <p:cNvGraphicFramePr/>
          <p:nvPr/>
        </p:nvGraphicFramePr>
        <p:xfrm>
          <a:off x="502920" y="1371600"/>
          <a:ext cx="5486400"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263640" y="1371600"/>
          <a:ext cx="5394960" cy="2651760"/>
        </p:xfrm>
        <a:graphic xmlns:a="http://schemas.openxmlformats.org/drawingml/2006/main">
          <a:graphicData uri="http://schemas.openxmlformats.org/drawingml/2006/chart">
            <c:chart xmlns:c="http://schemas.openxmlformats.org/drawingml/2006/chart" r:id="rId2"/>
          </a:graphicData>
        </a:graphic>
      </p:graphicFrame>
      <p:sp>
        <p:nvSpPr>
          <p:cNvPr id="7" name="Text 3"/>
          <p:cNvSpPr/>
          <p:nvPr/>
        </p:nvSpPr>
        <p:spPr>
          <a:xfrm>
            <a:off x="502920" y="4297680"/>
            <a:ext cx="384048" cy="292608"/>
          </a:xfrm>
          <a:prstGeom prst="rect">
            <a:avLst/>
          </a:prstGeom>
          <a:noFill/>
          <a:ln/>
        </p:spPr>
        <p:txBody>
          <a:bodyPr wrap="square" lIns="0" tIns="0" rIns="0" bIns="0" rtlCol="0" anchor="ctr"/>
          <a:lstStyle/>
          <a:p>
            <a:pPr indent="0" marL="0">
              <a:buNone/>
            </a:pPr>
            <a:r>
              <a:rPr lang="en-US" sz="1700" b="1" dirty="0">
                <a:solidFill>
                  <a:srgbClr val="C9A227"/>
                </a:solidFill>
                <a:latin typeface="Cambria" pitchFamily="34" charset="0"/>
                <a:ea typeface="Cambria" pitchFamily="34" charset="-122"/>
                <a:cs typeface="Cambria" pitchFamily="34" charset="-120"/>
              </a:rPr>
              <a:t>01</a:t>
            </a:r>
            <a:endParaRPr lang="en-US" sz="1700" dirty="0"/>
          </a:p>
        </p:txBody>
      </p:sp>
      <p:sp>
        <p:nvSpPr>
          <p:cNvPr id="8" name="Text 4"/>
          <p:cNvSpPr/>
          <p:nvPr/>
        </p:nvSpPr>
        <p:spPr>
          <a:xfrm>
            <a:off x="886968" y="4297680"/>
            <a:ext cx="3182112" cy="274320"/>
          </a:xfrm>
          <a:prstGeom prst="rect">
            <a:avLst/>
          </a:prstGeom>
          <a:noFill/>
          <a:ln/>
        </p:spPr>
        <p:txBody>
          <a:bodyPr wrap="square" lIns="0" tIns="0" rIns="0" bIns="0" rtlCol="0" anchor="ctr"/>
          <a:lstStyle/>
          <a:p>
            <a:pPr indent="0" marL="0">
              <a:buNone/>
            </a:pPr>
            <a:r>
              <a:rPr lang="en-US" sz="1300" b="1" dirty="0">
                <a:solidFill>
                  <a:srgbClr val="1D2B4F"/>
                </a:solidFill>
                <a:latin typeface="Calibri" pitchFamily="34" charset="0"/>
                <a:ea typeface="Calibri" pitchFamily="34" charset="-122"/>
                <a:cs typeface="Calibri" pitchFamily="34" charset="-120"/>
              </a:rPr>
              <a:t>Storytelling leads on volume</a:t>
            </a:r>
            <a:endParaRPr lang="en-US" sz="1300" dirty="0"/>
          </a:p>
        </p:txBody>
      </p:sp>
      <p:sp>
        <p:nvSpPr>
          <p:cNvPr id="9" name="Text 5"/>
          <p:cNvSpPr/>
          <p:nvPr/>
        </p:nvSpPr>
        <p:spPr>
          <a:xfrm>
            <a:off x="886968" y="4608576"/>
            <a:ext cx="3182112" cy="1051560"/>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300 attendances across 8 sessions, 53.6% of all participation and the longest-running strand.</a:t>
            </a:r>
            <a:endParaRPr lang="en-US" sz="1200" dirty="0"/>
          </a:p>
        </p:txBody>
      </p:sp>
      <p:sp>
        <p:nvSpPr>
          <p:cNvPr id="10" name="Text 6"/>
          <p:cNvSpPr/>
          <p:nvPr/>
        </p:nvSpPr>
        <p:spPr>
          <a:xfrm>
            <a:off x="4297680" y="4297680"/>
            <a:ext cx="384048" cy="292608"/>
          </a:xfrm>
          <a:prstGeom prst="rect">
            <a:avLst/>
          </a:prstGeom>
          <a:noFill/>
          <a:ln/>
        </p:spPr>
        <p:txBody>
          <a:bodyPr wrap="square" lIns="0" tIns="0" rIns="0" bIns="0" rtlCol="0" anchor="ctr"/>
          <a:lstStyle/>
          <a:p>
            <a:pPr indent="0" marL="0">
              <a:buNone/>
            </a:pPr>
            <a:r>
              <a:rPr lang="en-US" sz="1700" b="1" dirty="0">
                <a:solidFill>
                  <a:srgbClr val="6FA287"/>
                </a:solidFill>
                <a:latin typeface="Cambria" pitchFamily="34" charset="0"/>
                <a:ea typeface="Cambria" pitchFamily="34" charset="-122"/>
                <a:cs typeface="Cambria" pitchFamily="34" charset="-120"/>
              </a:rPr>
              <a:t>02</a:t>
            </a:r>
            <a:endParaRPr lang="en-US" sz="1700" dirty="0"/>
          </a:p>
        </p:txBody>
      </p:sp>
      <p:sp>
        <p:nvSpPr>
          <p:cNvPr id="11" name="Text 7"/>
          <p:cNvSpPr/>
          <p:nvPr/>
        </p:nvSpPr>
        <p:spPr>
          <a:xfrm>
            <a:off x="4681728" y="4297680"/>
            <a:ext cx="3182112" cy="274320"/>
          </a:xfrm>
          <a:prstGeom prst="rect">
            <a:avLst/>
          </a:prstGeom>
          <a:noFill/>
          <a:ln/>
        </p:spPr>
        <p:txBody>
          <a:bodyPr wrap="square" lIns="0" tIns="0" rIns="0" bIns="0" rtlCol="0" anchor="ctr"/>
          <a:lstStyle/>
          <a:p>
            <a:pPr indent="0" marL="0">
              <a:buNone/>
            </a:pPr>
            <a:r>
              <a:rPr lang="en-US" sz="1300" b="1" dirty="0">
                <a:solidFill>
                  <a:srgbClr val="1D2B4F"/>
                </a:solidFill>
                <a:latin typeface="Calibri" pitchFamily="34" charset="0"/>
                <a:ea typeface="Calibri" pitchFamily="34" charset="-122"/>
                <a:cs typeface="Calibri" pitchFamily="34" charset="-120"/>
              </a:rPr>
              <a:t>Rehearsal matches it per session</a:t>
            </a:r>
            <a:endParaRPr lang="en-US" sz="1300" dirty="0"/>
          </a:p>
        </p:txBody>
      </p:sp>
      <p:sp>
        <p:nvSpPr>
          <p:cNvPr id="12" name="Text 8"/>
          <p:cNvSpPr/>
          <p:nvPr/>
        </p:nvSpPr>
        <p:spPr>
          <a:xfrm>
            <a:off x="4681728" y="4608576"/>
            <a:ext cx="3182112" cy="1051560"/>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35.7 against 37.5 average attendance. The gap in totals is session count, not weaker draw.</a:t>
            </a:r>
            <a:endParaRPr lang="en-US" sz="1200" dirty="0"/>
          </a:p>
        </p:txBody>
      </p:sp>
      <p:sp>
        <p:nvSpPr>
          <p:cNvPr id="13" name="Text 9"/>
          <p:cNvSpPr/>
          <p:nvPr/>
        </p:nvSpPr>
        <p:spPr>
          <a:xfrm>
            <a:off x="8092440" y="4297680"/>
            <a:ext cx="384048" cy="292608"/>
          </a:xfrm>
          <a:prstGeom prst="rect">
            <a:avLst/>
          </a:prstGeom>
          <a:noFill/>
          <a:ln/>
        </p:spPr>
        <p:txBody>
          <a:bodyPr wrap="square" lIns="0" tIns="0" rIns="0" bIns="0" rtlCol="0" anchor="ctr"/>
          <a:lstStyle/>
          <a:p>
            <a:pPr indent="0" marL="0">
              <a:buNone/>
            </a:pPr>
            <a:r>
              <a:rPr lang="en-US" sz="1700" b="1" dirty="0">
                <a:solidFill>
                  <a:srgbClr val="7FB2D9"/>
                </a:solidFill>
                <a:latin typeface="Cambria" pitchFamily="34" charset="0"/>
                <a:ea typeface="Cambria" pitchFamily="34" charset="-122"/>
                <a:cs typeface="Cambria" pitchFamily="34" charset="-120"/>
              </a:rPr>
              <a:t>03</a:t>
            </a:r>
            <a:endParaRPr lang="en-US" sz="1700" dirty="0"/>
          </a:p>
        </p:txBody>
      </p:sp>
      <p:sp>
        <p:nvSpPr>
          <p:cNvPr id="14" name="Text 10"/>
          <p:cNvSpPr/>
          <p:nvPr/>
        </p:nvSpPr>
        <p:spPr>
          <a:xfrm>
            <a:off x="8476488" y="4297680"/>
            <a:ext cx="3182112" cy="274320"/>
          </a:xfrm>
          <a:prstGeom prst="rect">
            <a:avLst/>
          </a:prstGeom>
          <a:noFill/>
          <a:ln/>
        </p:spPr>
        <p:txBody>
          <a:bodyPr wrap="square" lIns="0" tIns="0" rIns="0" bIns="0" rtlCol="0" anchor="ctr"/>
          <a:lstStyle/>
          <a:p>
            <a:pPr indent="0" marL="0">
              <a:buNone/>
            </a:pPr>
            <a:r>
              <a:rPr lang="en-US" sz="1300" b="1" dirty="0">
                <a:solidFill>
                  <a:srgbClr val="1D2B4F"/>
                </a:solidFill>
                <a:latin typeface="Calibri" pitchFamily="34" charset="0"/>
                <a:ea typeface="Calibri" pitchFamily="34" charset="-122"/>
                <a:cs typeface="Calibri" pitchFamily="34" charset="-120"/>
              </a:rPr>
              <a:t>Oral History is nascent</a:t>
            </a:r>
            <a:endParaRPr lang="en-US" sz="1300" dirty="0"/>
          </a:p>
        </p:txBody>
      </p:sp>
      <p:sp>
        <p:nvSpPr>
          <p:cNvPr id="15" name="Text 11"/>
          <p:cNvSpPr/>
          <p:nvPr/>
        </p:nvSpPr>
        <p:spPr>
          <a:xfrm>
            <a:off x="8476488" y="4608576"/>
            <a:ext cx="3182112" cy="1051560"/>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A single session with 10 attendees. Too early to compare, and its figures should be read as a pilot.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04 · FINDINGS</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The Retention Story</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graphicFrame>
        <p:nvGraphicFramePr>
          <p:cNvPr id="5" name="Chart 0" descr=""/>
          <p:cNvGraphicFramePr/>
          <p:nvPr/>
        </p:nvGraphicFramePr>
        <p:xfrm>
          <a:off x="502920" y="1371600"/>
          <a:ext cx="5486400" cy="27432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263640" y="1417320"/>
            <a:ext cx="5394960" cy="274320"/>
          </a:xfrm>
          <a:prstGeom prst="rect">
            <a:avLst/>
          </a:prstGeom>
          <a:noFill/>
          <a:ln/>
        </p:spPr>
        <p:txBody>
          <a:bodyPr wrap="square" lIns="0" tIns="0" rIns="0" bIns="0" rtlCol="0" anchor="ctr"/>
          <a:lstStyle/>
          <a:p>
            <a:pPr indent="0" marL="0">
              <a:buNone/>
            </a:pPr>
            <a:r>
              <a:rPr lang="en-US" sz="1300" b="1" dirty="0">
                <a:solidFill>
                  <a:srgbClr val="B8891F"/>
                </a:solidFill>
                <a:latin typeface="Calibri" pitchFamily="34" charset="0"/>
                <a:ea typeface="Calibri" pitchFamily="34" charset="-122"/>
                <a:cs typeface="Calibri" pitchFamily="34" charset="-120"/>
              </a:rPr>
              <a:t>Half the cohort became regulars</a:t>
            </a:r>
            <a:endParaRPr lang="en-US" sz="1300" dirty="0"/>
          </a:p>
        </p:txBody>
      </p:sp>
      <p:sp>
        <p:nvSpPr>
          <p:cNvPr id="7" name="Text 4"/>
          <p:cNvSpPr/>
          <p:nvPr/>
        </p:nvSpPr>
        <p:spPr>
          <a:xfrm>
            <a:off x="6263640" y="1783080"/>
            <a:ext cx="5394960" cy="77724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33 of 66 participants attended ten or more sessions. Eight attended fourteen or fifteen of the sixteen delivered, which is close to perfect attendance across a seven-month programme.</a:t>
            </a:r>
            <a:endParaRPr lang="en-US" sz="1200" dirty="0"/>
          </a:p>
        </p:txBody>
      </p:sp>
      <p:sp>
        <p:nvSpPr>
          <p:cNvPr id="8" name="Text 5"/>
          <p:cNvSpPr/>
          <p:nvPr/>
        </p:nvSpPr>
        <p:spPr>
          <a:xfrm>
            <a:off x="6263640" y="2697480"/>
            <a:ext cx="5394960" cy="274320"/>
          </a:xfrm>
          <a:prstGeom prst="rect">
            <a:avLst/>
          </a:prstGeom>
          <a:noFill/>
          <a:ln/>
        </p:spPr>
        <p:txBody>
          <a:bodyPr wrap="square" lIns="0" tIns="0" rIns="0" bIns="0" rtlCol="0" anchor="ctr"/>
          <a:lstStyle/>
          <a:p>
            <a:pPr indent="0" marL="0">
              <a:buNone/>
            </a:pPr>
            <a:r>
              <a:rPr lang="en-US" sz="1300" b="1" dirty="0">
                <a:solidFill>
                  <a:srgbClr val="B8891F"/>
                </a:solidFill>
                <a:latin typeface="Calibri" pitchFamily="34" charset="0"/>
                <a:ea typeface="Calibri" pitchFamily="34" charset="-122"/>
                <a:cs typeface="Calibri" pitchFamily="34" charset="-120"/>
              </a:rPr>
              <a:t>A quarter attended only once</a:t>
            </a:r>
            <a:endParaRPr lang="en-US" sz="1300" dirty="0"/>
          </a:p>
        </p:txBody>
      </p:sp>
      <p:sp>
        <p:nvSpPr>
          <p:cNvPr id="9" name="Text 6"/>
          <p:cNvSpPr/>
          <p:nvPr/>
        </p:nvSpPr>
        <p:spPr>
          <a:xfrm>
            <a:off x="6263640" y="3063240"/>
            <a:ext cx="5394960" cy="86868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17 participants appear a single time. This is the clearest improvement opportunity in the dataset: the programme converts attendees into regulars very effectively, but a quarter of those who try it never return.</a:t>
            </a:r>
            <a:endParaRPr lang="en-US" sz="1200" dirty="0"/>
          </a:p>
        </p:txBody>
      </p:sp>
      <p:sp>
        <p:nvSpPr>
          <p:cNvPr id="10" name="Shape 7"/>
          <p:cNvSpPr/>
          <p:nvPr/>
        </p:nvSpPr>
        <p:spPr>
          <a:xfrm>
            <a:off x="502920" y="4434840"/>
            <a:ext cx="11155680" cy="1508760"/>
          </a:xfrm>
          <a:prstGeom prst="roundRect">
            <a:avLst>
              <a:gd name="adj" fmla="val 4848"/>
            </a:avLst>
          </a:prstGeom>
          <a:solidFill>
            <a:srgbClr val="FDF6E3"/>
          </a:solidFill>
          <a:ln w="6350">
            <a:solidFill>
              <a:srgbClr val="E3B23C"/>
            </a:solidFill>
            <a:prstDash val="solid"/>
          </a:ln>
        </p:spPr>
      </p:sp>
      <p:sp>
        <p:nvSpPr>
          <p:cNvPr id="11" name="Text 8"/>
          <p:cNvSpPr/>
          <p:nvPr/>
        </p:nvSpPr>
        <p:spPr>
          <a:xfrm>
            <a:off x="777240" y="4617720"/>
            <a:ext cx="4572000" cy="256032"/>
          </a:xfrm>
          <a:prstGeom prst="rect">
            <a:avLst/>
          </a:prstGeom>
          <a:noFill/>
          <a:ln/>
        </p:spPr>
        <p:txBody>
          <a:bodyPr wrap="square" lIns="0" tIns="0" rIns="0" bIns="0" rtlCol="0" anchor="ctr"/>
          <a:lstStyle/>
          <a:p>
            <a:pPr indent="0" marL="0">
              <a:buNone/>
            </a:pPr>
            <a:r>
              <a:rPr lang="en-US" sz="1250" b="1" dirty="0">
                <a:solidFill>
                  <a:srgbClr val="B8891F"/>
                </a:solidFill>
                <a:latin typeface="Calibri" pitchFamily="34" charset="0"/>
                <a:ea typeface="Calibri" pitchFamily="34" charset="-122"/>
                <a:cs typeface="Calibri" pitchFamily="34" charset="-120"/>
              </a:rPr>
              <a:t>What this means for evaluation</a:t>
            </a:r>
            <a:endParaRPr lang="en-US" sz="1250" dirty="0"/>
          </a:p>
        </p:txBody>
      </p:sp>
      <p:sp>
        <p:nvSpPr>
          <p:cNvPr id="12" name="Text 9"/>
          <p:cNvSpPr/>
          <p:nvPr/>
        </p:nvSpPr>
        <p:spPr>
          <a:xfrm>
            <a:off x="777240" y="4919472"/>
            <a:ext cx="10607040" cy="914400"/>
          </a:xfrm>
          <a:prstGeom prst="rect">
            <a:avLst/>
          </a:prstGeom>
          <a:noFill/>
          <a:ln/>
        </p:spPr>
        <p:txBody>
          <a:bodyPr wrap="square" lIns="0" tIns="0" rIns="0" bIns="0" rtlCol="0" anchor="t"/>
          <a:lstStyle/>
          <a:p>
            <a:pPr indent="0" marL="0">
              <a:lnSpc>
                <a:spcPts val="1500"/>
              </a:lnSpc>
              <a:buNone/>
            </a:pPr>
            <a:r>
              <a:rPr lang="en-US" sz="1200" dirty="0">
                <a:solidFill>
                  <a:srgbClr val="6B5416"/>
                </a:solidFill>
                <a:latin typeface="Calibri" pitchFamily="34" charset="0"/>
                <a:ea typeface="Calibri" pitchFamily="34" charset="-122"/>
                <a:cs typeface="Calibri" pitchFamily="34" charset="-120"/>
              </a:rPr>
              <a:t>Reporting 560 attendances as the headline overstates reach; reporting 66 participants understates impact. Both are true and they measure different things. A funder asking "how many people did you reach" should be told 66; a funder asking "how much cultural contact did you deliver" should be told 560. Presenting only one number invites the wrong conclusion.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04 · FINDINGS</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Who Attends</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graphicFrame>
        <p:nvGraphicFramePr>
          <p:cNvPr id="5" name="Chart 0" descr=""/>
          <p:cNvGraphicFramePr/>
          <p:nvPr/>
        </p:nvGraphicFramePr>
        <p:xfrm>
          <a:off x="502920" y="1371600"/>
          <a:ext cx="5486400" cy="31546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263640" y="1371600"/>
          <a:ext cx="5394960" cy="3154680"/>
        </p:xfrm>
        <a:graphic xmlns:a="http://schemas.openxmlformats.org/drawingml/2006/main">
          <a:graphicData uri="http://schemas.openxmlformats.org/drawingml/2006/chart">
            <c:chart xmlns:c="http://schemas.openxmlformats.org/drawingml/2006/chart" r:id="rId2"/>
          </a:graphicData>
        </a:graphic>
      </p:graphicFrame>
      <p:sp>
        <p:nvSpPr>
          <p:cNvPr id="7" name="Text 3"/>
          <p:cNvSpPr/>
          <p:nvPr/>
        </p:nvSpPr>
        <p:spPr>
          <a:xfrm>
            <a:off x="502920" y="4754880"/>
            <a:ext cx="384048" cy="292608"/>
          </a:xfrm>
          <a:prstGeom prst="rect">
            <a:avLst/>
          </a:prstGeom>
          <a:noFill/>
          <a:ln/>
        </p:spPr>
        <p:txBody>
          <a:bodyPr wrap="square" lIns="0" tIns="0" rIns="0" bIns="0" rtlCol="0" anchor="ctr"/>
          <a:lstStyle/>
          <a:p>
            <a:pPr indent="0" marL="0">
              <a:buNone/>
            </a:pPr>
            <a:r>
              <a:rPr lang="en-US" sz="1700" b="1" dirty="0">
                <a:solidFill>
                  <a:srgbClr val="1D2B4F"/>
                </a:solidFill>
                <a:latin typeface="Cambria" pitchFamily="34" charset="0"/>
                <a:ea typeface="Cambria" pitchFamily="34" charset="-122"/>
                <a:cs typeface="Cambria" pitchFamily="34" charset="-120"/>
              </a:rPr>
              <a:t>01</a:t>
            </a:r>
            <a:endParaRPr lang="en-US" sz="1700" dirty="0"/>
          </a:p>
        </p:txBody>
      </p:sp>
      <p:sp>
        <p:nvSpPr>
          <p:cNvPr id="8" name="Text 4"/>
          <p:cNvSpPr/>
          <p:nvPr/>
        </p:nvSpPr>
        <p:spPr>
          <a:xfrm>
            <a:off x="886968" y="4754880"/>
            <a:ext cx="3182112" cy="274320"/>
          </a:xfrm>
          <a:prstGeom prst="rect">
            <a:avLst/>
          </a:prstGeom>
          <a:noFill/>
          <a:ln/>
        </p:spPr>
        <p:txBody>
          <a:bodyPr wrap="square" lIns="0" tIns="0" rIns="0" bIns="0" rtlCol="0" anchor="ctr"/>
          <a:lstStyle/>
          <a:p>
            <a:pPr indent="0" marL="0">
              <a:buNone/>
            </a:pPr>
            <a:r>
              <a:rPr lang="en-US" sz="1300" b="1" dirty="0">
                <a:solidFill>
                  <a:srgbClr val="1D2B4F"/>
                </a:solidFill>
                <a:latin typeface="Calibri" pitchFamily="34" charset="0"/>
                <a:ea typeface="Calibri" pitchFamily="34" charset="-122"/>
                <a:cs typeface="Calibri" pitchFamily="34" charset="-120"/>
              </a:rPr>
              <a:t>A consistent gender split</a:t>
            </a:r>
            <a:endParaRPr lang="en-US" sz="1300" dirty="0"/>
          </a:p>
        </p:txBody>
      </p:sp>
      <p:sp>
        <p:nvSpPr>
          <p:cNvPr id="9" name="Text 5"/>
          <p:cNvSpPr/>
          <p:nvPr/>
        </p:nvSpPr>
        <p:spPr>
          <a:xfrm>
            <a:off x="886968" y="5065776"/>
            <a:ext cx="3182112" cy="1051560"/>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Male attendance runs about 55% in every strand. The balance holds regardless of programme content.</a:t>
            </a:r>
            <a:endParaRPr lang="en-US" sz="1200" dirty="0"/>
          </a:p>
        </p:txBody>
      </p:sp>
      <p:sp>
        <p:nvSpPr>
          <p:cNvPr id="10" name="Text 6"/>
          <p:cNvSpPr/>
          <p:nvPr/>
        </p:nvSpPr>
        <p:spPr>
          <a:xfrm>
            <a:off x="4297680" y="4754880"/>
            <a:ext cx="384048" cy="292608"/>
          </a:xfrm>
          <a:prstGeom prst="rect">
            <a:avLst/>
          </a:prstGeom>
          <a:noFill/>
          <a:ln/>
        </p:spPr>
        <p:txBody>
          <a:bodyPr wrap="square" lIns="0" tIns="0" rIns="0" bIns="0" rtlCol="0" anchor="ctr"/>
          <a:lstStyle/>
          <a:p>
            <a:pPr indent="0" marL="0">
              <a:buNone/>
            </a:pPr>
            <a:r>
              <a:rPr lang="en-US" sz="1700" b="1" dirty="0">
                <a:solidFill>
                  <a:srgbClr val="B8891F"/>
                </a:solidFill>
                <a:latin typeface="Cambria" pitchFamily="34" charset="0"/>
                <a:ea typeface="Cambria" pitchFamily="34" charset="-122"/>
                <a:cs typeface="Cambria" pitchFamily="34" charset="-120"/>
              </a:rPr>
              <a:t>02</a:t>
            </a:r>
            <a:endParaRPr lang="en-US" sz="1700" dirty="0"/>
          </a:p>
        </p:txBody>
      </p:sp>
      <p:sp>
        <p:nvSpPr>
          <p:cNvPr id="11" name="Text 7"/>
          <p:cNvSpPr/>
          <p:nvPr/>
        </p:nvSpPr>
        <p:spPr>
          <a:xfrm>
            <a:off x="4681728" y="4754880"/>
            <a:ext cx="3182112" cy="274320"/>
          </a:xfrm>
          <a:prstGeom prst="rect">
            <a:avLst/>
          </a:prstGeom>
          <a:noFill/>
          <a:ln/>
        </p:spPr>
        <p:txBody>
          <a:bodyPr wrap="square" lIns="0" tIns="0" rIns="0" bIns="0" rtlCol="0" anchor="ctr"/>
          <a:lstStyle/>
          <a:p>
            <a:pPr indent="0" marL="0">
              <a:buNone/>
            </a:pPr>
            <a:r>
              <a:rPr lang="en-US" sz="1300" b="1" dirty="0">
                <a:solidFill>
                  <a:srgbClr val="1D2B4F"/>
                </a:solidFill>
                <a:latin typeface="Calibri" pitchFamily="34" charset="0"/>
                <a:ea typeface="Calibri" pitchFamily="34" charset="-122"/>
                <a:cs typeface="Calibri" pitchFamily="34" charset="-120"/>
              </a:rPr>
              <a:t>Overwhelmingly young people</a:t>
            </a:r>
            <a:endParaRPr lang="en-US" sz="1300" dirty="0"/>
          </a:p>
        </p:txBody>
      </p:sp>
      <p:sp>
        <p:nvSpPr>
          <p:cNvPr id="12" name="Text 8"/>
          <p:cNvSpPr/>
          <p:nvPr/>
        </p:nvSpPr>
        <p:spPr>
          <a:xfrm>
            <a:off x="4681728" y="5065776"/>
            <a:ext cx="3182112" cy="1051560"/>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479 of 517 attendances, roughly 93%. The programme is reaching its intended audience.</a:t>
            </a:r>
            <a:endParaRPr lang="en-US" sz="1200" dirty="0"/>
          </a:p>
        </p:txBody>
      </p:sp>
      <p:sp>
        <p:nvSpPr>
          <p:cNvPr id="13" name="Text 9"/>
          <p:cNvSpPr/>
          <p:nvPr/>
        </p:nvSpPr>
        <p:spPr>
          <a:xfrm>
            <a:off x="8092440" y="4754880"/>
            <a:ext cx="384048" cy="292608"/>
          </a:xfrm>
          <a:prstGeom prst="rect">
            <a:avLst/>
          </a:prstGeom>
          <a:noFill/>
          <a:ln/>
        </p:spPr>
        <p:txBody>
          <a:bodyPr wrap="square" lIns="0" tIns="0" rIns="0" bIns="0" rtlCol="0" anchor="ctr"/>
          <a:lstStyle/>
          <a:p>
            <a:pPr indent="0" marL="0">
              <a:buNone/>
            </a:pPr>
            <a:r>
              <a:rPr lang="en-US" sz="1700" b="1" dirty="0">
                <a:solidFill>
                  <a:srgbClr val="B85042"/>
                </a:solidFill>
                <a:latin typeface="Cambria" pitchFamily="34" charset="0"/>
                <a:ea typeface="Cambria" pitchFamily="34" charset="-122"/>
                <a:cs typeface="Cambria" pitchFamily="34" charset="-120"/>
              </a:rPr>
              <a:t>03</a:t>
            </a:r>
            <a:endParaRPr lang="en-US" sz="1700" dirty="0"/>
          </a:p>
        </p:txBody>
      </p:sp>
      <p:sp>
        <p:nvSpPr>
          <p:cNvPr id="14" name="Text 10"/>
          <p:cNvSpPr/>
          <p:nvPr/>
        </p:nvSpPr>
        <p:spPr>
          <a:xfrm>
            <a:off x="8476488" y="4754880"/>
            <a:ext cx="3182112" cy="274320"/>
          </a:xfrm>
          <a:prstGeom prst="rect">
            <a:avLst/>
          </a:prstGeom>
          <a:noFill/>
          <a:ln/>
        </p:spPr>
        <p:txBody>
          <a:bodyPr wrap="square" lIns="0" tIns="0" rIns="0" bIns="0" rtlCol="0" anchor="ctr"/>
          <a:lstStyle/>
          <a:p>
            <a:pPr indent="0" marL="0">
              <a:buNone/>
            </a:pPr>
            <a:r>
              <a:rPr lang="en-US" sz="1300" b="1" dirty="0">
                <a:solidFill>
                  <a:srgbClr val="1D2B4F"/>
                </a:solidFill>
                <a:latin typeface="Calibri" pitchFamily="34" charset="0"/>
                <a:ea typeface="Calibri" pitchFamily="34" charset="-122"/>
                <a:cs typeface="Calibri" pitchFamily="34" charset="-120"/>
              </a:rPr>
              <a:t>Thin volunteer pipeline</a:t>
            </a:r>
            <a:endParaRPr lang="en-US" sz="1300" dirty="0"/>
          </a:p>
        </p:txBody>
      </p:sp>
      <p:sp>
        <p:nvSpPr>
          <p:cNvPr id="15" name="Text 11"/>
          <p:cNvSpPr/>
          <p:nvPr/>
        </p:nvSpPr>
        <p:spPr>
          <a:xfrm>
            <a:off x="8476488" y="5065776"/>
            <a:ext cx="3182112" cy="1051560"/>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36 volunteer and 2 trustee attendances. Adult participation is minimal and worth attention.</a:t>
            </a:r>
            <a:endParaRPr lang="en-US" sz="1200" dirty="0"/>
          </a:p>
        </p:txBody>
      </p:sp>
      <p:sp>
        <p:nvSpPr>
          <p:cNvPr id="16" name="Text 12"/>
          <p:cNvSpPr/>
          <p:nvPr/>
        </p:nvSpPr>
        <p:spPr>
          <a:xfrm>
            <a:off x="502920" y="6172200"/>
            <a:ext cx="11155680" cy="274320"/>
          </a:xfrm>
          <a:prstGeom prst="rect">
            <a:avLst/>
          </a:prstGeom>
          <a:noFill/>
          <a:ln/>
        </p:spPr>
        <p:txBody>
          <a:bodyPr wrap="square" lIns="0" tIns="0" rIns="0" bIns="0" rtlCol="0" anchor="ctr"/>
          <a:lstStyle/>
          <a:p>
            <a:pPr indent="0" marL="0">
              <a:buNone/>
            </a:pPr>
            <a:r>
              <a:rPr lang="en-US" sz="1200" i="1" dirty="0">
                <a:solidFill>
                  <a:srgbClr val="5F6B7A"/>
                </a:solidFill>
                <a:latin typeface="Calibri" pitchFamily="34" charset="0"/>
                <a:ea typeface="Calibri" pitchFamily="34" charset="-122"/>
                <a:cs typeface="Calibri" pitchFamily="34" charset="-120"/>
              </a:rPr>
              <a:t>Gender and audience-type figures are drawn from the 517-response analysis extract.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05 · SATISFACTION</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Satisfaction: An Unusually Clean Result</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graphicFrame>
        <p:nvGraphicFramePr>
          <p:cNvPr id="5" name="Chart 0" descr=""/>
          <p:cNvGraphicFramePr/>
          <p:nvPr/>
        </p:nvGraphicFramePr>
        <p:xfrm>
          <a:off x="502920" y="1371600"/>
          <a:ext cx="5120640" cy="26517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897880" y="1417320"/>
            <a:ext cx="5760720" cy="274320"/>
          </a:xfrm>
          <a:prstGeom prst="rect">
            <a:avLst/>
          </a:prstGeom>
          <a:noFill/>
          <a:ln/>
        </p:spPr>
        <p:txBody>
          <a:bodyPr wrap="square" lIns="0" tIns="0" rIns="0" bIns="0" rtlCol="0" anchor="ctr"/>
          <a:lstStyle/>
          <a:p>
            <a:pPr indent="0" marL="0">
              <a:buNone/>
            </a:pPr>
            <a:r>
              <a:rPr lang="en-US" sz="1300" b="1" dirty="0">
                <a:solidFill>
                  <a:srgbClr val="B8891F"/>
                </a:solidFill>
                <a:latin typeface="Calibri" pitchFamily="34" charset="0"/>
                <a:ea typeface="Calibri" pitchFamily="34" charset="-122"/>
                <a:cs typeface="Calibri" pitchFamily="34" charset="-120"/>
              </a:rPr>
              <a:t>Nobody scored below 8</a:t>
            </a:r>
            <a:endParaRPr lang="en-US" sz="1300" dirty="0"/>
          </a:p>
        </p:txBody>
      </p:sp>
      <p:sp>
        <p:nvSpPr>
          <p:cNvPr id="7" name="Text 4"/>
          <p:cNvSpPr/>
          <p:nvPr/>
        </p:nvSpPr>
        <p:spPr>
          <a:xfrm>
            <a:off x="5897880" y="1783080"/>
            <a:ext cx="5760720" cy="77724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Across 517 responses on a 0 to 10 scale, the lowest score recorded was 8. There are no detractors in this dataset at all, which is rare enough to be worth stating explicitly rather than burying in an average.</a:t>
            </a:r>
            <a:endParaRPr lang="en-US" sz="1200" dirty="0"/>
          </a:p>
        </p:txBody>
      </p:sp>
      <p:sp>
        <p:nvSpPr>
          <p:cNvPr id="8" name="Text 5"/>
          <p:cNvSpPr/>
          <p:nvPr/>
        </p:nvSpPr>
        <p:spPr>
          <a:xfrm>
            <a:off x="5897880" y="2651760"/>
            <a:ext cx="5760720" cy="274320"/>
          </a:xfrm>
          <a:prstGeom prst="rect">
            <a:avLst/>
          </a:prstGeom>
          <a:noFill/>
          <a:ln/>
        </p:spPr>
        <p:txBody>
          <a:bodyPr wrap="square" lIns="0" tIns="0" rIns="0" bIns="0" rtlCol="0" anchor="ctr"/>
          <a:lstStyle/>
          <a:p>
            <a:pPr indent="0" marL="0">
              <a:buNone/>
            </a:pPr>
            <a:r>
              <a:rPr lang="en-US" sz="1300" b="1" dirty="0">
                <a:solidFill>
                  <a:srgbClr val="B8891F"/>
                </a:solidFill>
                <a:latin typeface="Calibri" pitchFamily="34" charset="0"/>
                <a:ea typeface="Calibri" pitchFamily="34" charset="-122"/>
                <a:cs typeface="Calibri" pitchFamily="34" charset="-120"/>
              </a:rPr>
              <a:t>Consistent across strands</a:t>
            </a:r>
            <a:endParaRPr lang="en-US" sz="1300" dirty="0"/>
          </a:p>
        </p:txBody>
      </p:sp>
      <p:sp>
        <p:nvSpPr>
          <p:cNvPr id="9" name="Text 6"/>
          <p:cNvSpPr/>
          <p:nvPr/>
        </p:nvSpPr>
        <p:spPr>
          <a:xfrm>
            <a:off x="5897880" y="3017520"/>
            <a:ext cx="5760720" cy="86868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Rehearsal 9.45, Storytelling 9.43, Oral History 9.80. Satisfaction does not depend on which strand a participant attends, so the result reflects programme delivery rather than one strong format carrying the average.</a:t>
            </a:r>
            <a:endParaRPr lang="en-US" sz="1200" dirty="0"/>
          </a:p>
        </p:txBody>
      </p:sp>
      <p:sp>
        <p:nvSpPr>
          <p:cNvPr id="10" name="Shape 7"/>
          <p:cNvSpPr/>
          <p:nvPr/>
        </p:nvSpPr>
        <p:spPr>
          <a:xfrm>
            <a:off x="502920" y="4343400"/>
            <a:ext cx="11155680" cy="1600200"/>
          </a:xfrm>
          <a:prstGeom prst="roundRect">
            <a:avLst>
              <a:gd name="adj" fmla="val 4571"/>
            </a:avLst>
          </a:prstGeom>
          <a:solidFill>
            <a:srgbClr val="F5F5F2"/>
          </a:solidFill>
          <a:ln w="6350">
            <a:solidFill>
              <a:srgbClr val="E3E6EB"/>
            </a:solidFill>
            <a:prstDash val="solid"/>
          </a:ln>
        </p:spPr>
      </p:sp>
      <p:sp>
        <p:nvSpPr>
          <p:cNvPr id="11" name="Text 8"/>
          <p:cNvSpPr/>
          <p:nvPr/>
        </p:nvSpPr>
        <p:spPr>
          <a:xfrm>
            <a:off x="777240" y="4526280"/>
            <a:ext cx="4572000" cy="256032"/>
          </a:xfrm>
          <a:prstGeom prst="rect">
            <a:avLst/>
          </a:prstGeom>
          <a:noFill/>
          <a:ln/>
        </p:spPr>
        <p:txBody>
          <a:bodyPr wrap="square" lIns="0" tIns="0" rIns="0" bIns="0" rtlCol="0" anchor="ctr"/>
          <a:lstStyle/>
          <a:p>
            <a:pPr indent="0" marL="0">
              <a:buNone/>
            </a:pPr>
            <a:r>
              <a:rPr lang="en-US" sz="1250" b="1" dirty="0">
                <a:solidFill>
                  <a:srgbClr val="1D2B4F"/>
                </a:solidFill>
                <a:latin typeface="Calibri" pitchFamily="34" charset="0"/>
                <a:ea typeface="Calibri" pitchFamily="34" charset="-122"/>
                <a:cs typeface="Calibri" pitchFamily="34" charset="-120"/>
              </a:rPr>
              <a:t>How to read this honestly</a:t>
            </a:r>
            <a:endParaRPr lang="en-US" sz="1250" dirty="0"/>
          </a:p>
        </p:txBody>
      </p:sp>
      <p:sp>
        <p:nvSpPr>
          <p:cNvPr id="12" name="Text 9"/>
          <p:cNvSpPr/>
          <p:nvPr/>
        </p:nvSpPr>
        <p:spPr>
          <a:xfrm>
            <a:off x="777240" y="4846320"/>
            <a:ext cx="10607040" cy="960120"/>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Exit surveys collected in the room from an audience that is largely made up of returning regulars will skew positive: the people most likely to give a low score are the seventeen who never came back, and most of them answered once at most. The score is a strong signal of how retained participants feel, and a weak signal of how the programme is received by those who tried it once. Both readings should be presented together.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05 · QUALITATIVE</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What Participants Say They Learned</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graphicFrame>
        <p:nvGraphicFramePr>
          <p:cNvPr id="5" name="Chart 0" descr=""/>
          <p:cNvGraphicFramePr/>
          <p:nvPr/>
        </p:nvGraphicFramePr>
        <p:xfrm>
          <a:off x="502920" y="1371600"/>
          <a:ext cx="685800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635240" y="1463040"/>
            <a:ext cx="4023360" cy="274320"/>
          </a:xfrm>
          <a:prstGeom prst="rect">
            <a:avLst/>
          </a:prstGeom>
          <a:noFill/>
          <a:ln/>
        </p:spPr>
        <p:txBody>
          <a:bodyPr wrap="square" lIns="0" tIns="0" rIns="0" bIns="0" rtlCol="0" anchor="ctr"/>
          <a:lstStyle/>
          <a:p>
            <a:pPr indent="0" marL="0">
              <a:buNone/>
            </a:pPr>
            <a:r>
              <a:rPr lang="en-US" sz="1300" b="1" dirty="0">
                <a:solidFill>
                  <a:srgbClr val="B8891F"/>
                </a:solidFill>
                <a:latin typeface="Calibri" pitchFamily="34" charset="0"/>
                <a:ea typeface="Calibri" pitchFamily="34" charset="-122"/>
                <a:cs typeface="Calibri" pitchFamily="34" charset="-120"/>
              </a:rPr>
              <a:t>Material culture leads</a:t>
            </a:r>
            <a:endParaRPr lang="en-US" sz="1300" dirty="0"/>
          </a:p>
        </p:txBody>
      </p:sp>
      <p:sp>
        <p:nvSpPr>
          <p:cNvPr id="7" name="Text 4"/>
          <p:cNvSpPr/>
          <p:nvPr/>
        </p:nvSpPr>
        <p:spPr>
          <a:xfrm>
            <a:off x="7635240" y="1828800"/>
            <a:ext cx="4023360" cy="91440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Traditional outfit styles is the most cited learning at 116 mentions, ahead of proverbs at 78. Tangible, visual heritage lands more memorably than oral heritage.</a:t>
            </a:r>
            <a:endParaRPr lang="en-US" sz="1200" dirty="0"/>
          </a:p>
        </p:txBody>
      </p:sp>
      <p:sp>
        <p:nvSpPr>
          <p:cNvPr id="8" name="Text 5"/>
          <p:cNvSpPr/>
          <p:nvPr/>
        </p:nvSpPr>
        <p:spPr>
          <a:xfrm>
            <a:off x="7635240" y="2971800"/>
            <a:ext cx="4023360" cy="274320"/>
          </a:xfrm>
          <a:prstGeom prst="rect">
            <a:avLst/>
          </a:prstGeom>
          <a:noFill/>
          <a:ln/>
        </p:spPr>
        <p:txBody>
          <a:bodyPr wrap="square" lIns="0" tIns="0" rIns="0" bIns="0" rtlCol="0" anchor="ctr"/>
          <a:lstStyle/>
          <a:p>
            <a:pPr indent="0" marL="0">
              <a:buNone/>
            </a:pPr>
            <a:r>
              <a:rPr lang="en-US" sz="1300" b="1" dirty="0">
                <a:solidFill>
                  <a:srgbClr val="B8891F"/>
                </a:solidFill>
                <a:latin typeface="Calibri" pitchFamily="34" charset="0"/>
                <a:ea typeface="Calibri" pitchFamily="34" charset="-122"/>
                <a:cs typeface="Calibri" pitchFamily="34" charset="-120"/>
              </a:rPr>
              <a:t>Language and symbol follow</a:t>
            </a:r>
            <a:endParaRPr lang="en-US" sz="1300" dirty="0"/>
          </a:p>
        </p:txBody>
      </p:sp>
      <p:sp>
        <p:nvSpPr>
          <p:cNvPr id="9" name="Text 6"/>
          <p:cNvSpPr/>
          <p:nvPr/>
        </p:nvSpPr>
        <p:spPr>
          <a:xfrm>
            <a:off x="7635240" y="3337560"/>
            <a:ext cx="4023360" cy="96012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Proverbs, Aroko symbolic messaging and formal greetings together account for 206 mentions, confirming that the language-based content is landing even though it ranks below costume.</a:t>
            </a:r>
            <a:endParaRPr lang="en-US" sz="1200" dirty="0"/>
          </a:p>
        </p:txBody>
      </p:sp>
      <p:sp>
        <p:nvSpPr>
          <p:cNvPr id="10" name="Text 7"/>
          <p:cNvSpPr/>
          <p:nvPr/>
        </p:nvSpPr>
        <p:spPr>
          <a:xfrm>
            <a:off x="7635240" y="4526280"/>
            <a:ext cx="4023360" cy="274320"/>
          </a:xfrm>
          <a:prstGeom prst="rect">
            <a:avLst/>
          </a:prstGeom>
          <a:noFill/>
          <a:ln/>
        </p:spPr>
        <p:txBody>
          <a:bodyPr wrap="square" lIns="0" tIns="0" rIns="0" bIns="0" rtlCol="0" anchor="ctr"/>
          <a:lstStyle/>
          <a:p>
            <a:pPr indent="0" marL="0">
              <a:buNone/>
            </a:pPr>
            <a:r>
              <a:rPr lang="en-US" sz="1300" b="1" dirty="0">
                <a:solidFill>
                  <a:srgbClr val="B8891F"/>
                </a:solidFill>
                <a:latin typeface="Calibri" pitchFamily="34" charset="0"/>
                <a:ea typeface="Calibri" pitchFamily="34" charset="-122"/>
                <a:cs typeface="Calibri" pitchFamily="34" charset="-120"/>
              </a:rPr>
              <a:t>Practical skills trail</a:t>
            </a:r>
            <a:endParaRPr lang="en-US" sz="1300" dirty="0"/>
          </a:p>
        </p:txBody>
      </p:sp>
      <p:sp>
        <p:nvSpPr>
          <p:cNvPr id="11" name="Text 8"/>
          <p:cNvSpPr/>
          <p:nvPr/>
        </p:nvSpPr>
        <p:spPr>
          <a:xfrm>
            <a:off x="7635240" y="4892040"/>
            <a:ext cx="4023360" cy="86868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Camera work draws only 14 mentions despite featuring in Rehearsal sessions, suggesting technical content is less memorable than cultural content.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05 · QUALITATIVE</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What Participants Ask For</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graphicFrame>
        <p:nvGraphicFramePr>
          <p:cNvPr id="5" name="Chart 0" descr=""/>
          <p:cNvGraphicFramePr/>
          <p:nvPr/>
        </p:nvGraphicFramePr>
        <p:xfrm>
          <a:off x="502920" y="1371600"/>
          <a:ext cx="6858000" cy="35661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635240" y="1417320"/>
            <a:ext cx="4023360" cy="274320"/>
          </a:xfrm>
          <a:prstGeom prst="rect">
            <a:avLst/>
          </a:prstGeom>
          <a:noFill/>
          <a:ln/>
        </p:spPr>
        <p:txBody>
          <a:bodyPr wrap="square" lIns="0" tIns="0" rIns="0" bIns="0" rtlCol="0" anchor="ctr"/>
          <a:lstStyle/>
          <a:p>
            <a:pPr indent="0" marL="0">
              <a:buNone/>
            </a:pPr>
            <a:r>
              <a:rPr lang="en-US" sz="1300" b="1" dirty="0">
                <a:solidFill>
                  <a:srgbClr val="B8891F"/>
                </a:solidFill>
                <a:latin typeface="Calibri" pitchFamily="34" charset="0"/>
                <a:ea typeface="Calibri" pitchFamily="34" charset="-122"/>
                <a:cs typeface="Calibri" pitchFamily="34" charset="-120"/>
              </a:rPr>
              <a:t>The top requests are not complaints</a:t>
            </a:r>
            <a:endParaRPr lang="en-US" sz="1300" dirty="0"/>
          </a:p>
        </p:txBody>
      </p:sp>
      <p:sp>
        <p:nvSpPr>
          <p:cNvPr id="7" name="Text 4"/>
          <p:cNvSpPr/>
          <p:nvPr/>
        </p:nvSpPr>
        <p:spPr>
          <a:xfrm>
            <a:off x="7635240" y="1783080"/>
            <a:ext cx="4023360" cy="10515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Asked what could be improved, 128 participants said they wanted the next rehearsal and 109 cited new friends. The single largest body of feedback is a request for more of the same, which is an engagement signal rather than a criticism.</a:t>
            </a:r>
            <a:endParaRPr lang="en-US" sz="1200" dirty="0"/>
          </a:p>
        </p:txBody>
      </p:sp>
      <p:sp>
        <p:nvSpPr>
          <p:cNvPr id="8" name="Text 5"/>
          <p:cNvSpPr/>
          <p:nvPr/>
        </p:nvSpPr>
        <p:spPr>
          <a:xfrm>
            <a:off x="7635240" y="2926080"/>
            <a:ext cx="4023360" cy="457200"/>
          </a:xfrm>
          <a:prstGeom prst="rect">
            <a:avLst/>
          </a:prstGeom>
          <a:noFill/>
          <a:ln/>
        </p:spPr>
        <p:txBody>
          <a:bodyPr wrap="square" lIns="0" tIns="0" rIns="0" bIns="0" rtlCol="0" anchor="ctr"/>
          <a:lstStyle/>
          <a:p>
            <a:pPr indent="0" marL="0">
              <a:buNone/>
            </a:pPr>
            <a:r>
              <a:rPr lang="en-US" sz="1300" b="1" dirty="0">
                <a:solidFill>
                  <a:srgbClr val="B8891F"/>
                </a:solidFill>
                <a:latin typeface="Calibri" pitchFamily="34" charset="0"/>
                <a:ea typeface="Calibri" pitchFamily="34" charset="-122"/>
                <a:cs typeface="Calibri" pitchFamily="34" charset="-120"/>
              </a:rPr>
              <a:t>Hospitality matters more than expected</a:t>
            </a:r>
            <a:endParaRPr lang="en-US" sz="1300" dirty="0"/>
          </a:p>
        </p:txBody>
      </p:sp>
      <p:sp>
        <p:nvSpPr>
          <p:cNvPr id="9" name="Text 6"/>
          <p:cNvSpPr/>
          <p:nvPr/>
        </p:nvSpPr>
        <p:spPr>
          <a:xfrm>
            <a:off x="7635240" y="3429000"/>
            <a:ext cx="4023360" cy="86868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Food appears in 109 mentions across meals and appetizers, ranking above costume. Catering is functioning as a genuine driver of the experience, not an incidental extra.</a:t>
            </a:r>
            <a:endParaRPr lang="en-US" sz="1200" dirty="0"/>
          </a:p>
        </p:txBody>
      </p:sp>
      <p:sp>
        <p:nvSpPr>
          <p:cNvPr id="10" name="Shape 7"/>
          <p:cNvSpPr/>
          <p:nvPr/>
        </p:nvSpPr>
        <p:spPr>
          <a:xfrm>
            <a:off x="502920" y="5120640"/>
            <a:ext cx="11155680" cy="868680"/>
          </a:xfrm>
          <a:prstGeom prst="roundRect">
            <a:avLst>
              <a:gd name="adj" fmla="val 8421"/>
            </a:avLst>
          </a:prstGeom>
          <a:solidFill>
            <a:srgbClr val="F5F5F2"/>
          </a:solidFill>
          <a:ln w="6350">
            <a:solidFill>
              <a:srgbClr val="E3E6EB"/>
            </a:solidFill>
            <a:prstDash val="solid"/>
          </a:ln>
        </p:spPr>
      </p:sp>
      <p:sp>
        <p:nvSpPr>
          <p:cNvPr id="11" name="Text 8"/>
          <p:cNvSpPr/>
          <p:nvPr/>
        </p:nvSpPr>
        <p:spPr>
          <a:xfrm>
            <a:off x="777240" y="5285232"/>
            <a:ext cx="10607040" cy="566928"/>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The social finding deserves emphasis: 109 people described making new friends as what the programme should offer more of. For a heritage initiative aimed at young people, peer connection is doing as much work as the cultural content.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06 · DELIVERABLE</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The Power BI Report</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pic>
        <p:nvPicPr>
          <p:cNvPr id="5" name="Image 0" descr="cross_baseline.png">    </p:cNvPr>
          <p:cNvPicPr>
            <a:picLocks noChangeAspect="1"/>
          </p:cNvPicPr>
          <p:nvPr/>
        </p:nvPicPr>
        <p:blipFill>
          <a:blip r:embed="rId1"/>
          <a:stretch>
            <a:fillRect/>
          </a:stretch>
        </p:blipFill>
        <p:spPr>
          <a:xfrm>
            <a:off x="502920" y="1371600"/>
            <a:ext cx="6858000" cy="3886200"/>
          </a:xfrm>
          <a:prstGeom prst="rect">
            <a:avLst/>
          </a:prstGeom>
        </p:spPr>
      </p:pic>
      <p:sp>
        <p:nvSpPr>
          <p:cNvPr id="6" name="Text 3"/>
          <p:cNvSpPr/>
          <p:nvPr/>
        </p:nvSpPr>
        <p:spPr>
          <a:xfrm>
            <a:off x="7635240" y="1371600"/>
            <a:ext cx="4023360" cy="274320"/>
          </a:xfrm>
          <a:prstGeom prst="rect">
            <a:avLst/>
          </a:prstGeom>
          <a:noFill/>
          <a:ln/>
        </p:spPr>
        <p:txBody>
          <a:bodyPr wrap="square" lIns="0" tIns="0" rIns="0" bIns="0" rtlCol="0" anchor="ctr"/>
          <a:lstStyle/>
          <a:p>
            <a:pPr indent="0" marL="0">
              <a:buNone/>
            </a:pPr>
            <a:r>
              <a:rPr lang="en-US" sz="1350" b="1" dirty="0">
                <a:solidFill>
                  <a:srgbClr val="B8891F"/>
                </a:solidFill>
                <a:latin typeface="Calibri" pitchFamily="34" charset="0"/>
                <a:ea typeface="Calibri" pitchFamily="34" charset="-122"/>
                <a:cs typeface="Calibri" pitchFamily="34" charset="-120"/>
              </a:rPr>
              <a:t>Four-page report</a:t>
            </a:r>
            <a:endParaRPr lang="en-US" sz="1350" dirty="0"/>
          </a:p>
        </p:txBody>
      </p:sp>
      <p:sp>
        <p:nvSpPr>
          <p:cNvPr id="7" name="Text 4"/>
          <p:cNvSpPr/>
          <p:nvPr/>
        </p:nvSpPr>
        <p:spPr>
          <a:xfrm>
            <a:off x="7635240" y="1719072"/>
            <a:ext cx="4023360" cy="1005840"/>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A Summary page carrying programme-wide KPIs, plus one drill-through page per strand with its own participation, gender, feedback and referral views.</a:t>
            </a:r>
            <a:endParaRPr lang="en-US" sz="1200" dirty="0"/>
          </a:p>
        </p:txBody>
      </p:sp>
      <p:sp>
        <p:nvSpPr>
          <p:cNvPr id="8" name="Text 5"/>
          <p:cNvSpPr/>
          <p:nvPr/>
        </p:nvSpPr>
        <p:spPr>
          <a:xfrm>
            <a:off x="7635240" y="2816352"/>
            <a:ext cx="4023360" cy="274320"/>
          </a:xfrm>
          <a:prstGeom prst="rect">
            <a:avLst/>
          </a:prstGeom>
          <a:noFill/>
          <a:ln/>
        </p:spPr>
        <p:txBody>
          <a:bodyPr wrap="square" lIns="0" tIns="0" rIns="0" bIns="0" rtlCol="0" anchor="ctr"/>
          <a:lstStyle/>
          <a:p>
            <a:pPr indent="0" marL="0">
              <a:buNone/>
            </a:pPr>
            <a:r>
              <a:rPr lang="en-US" sz="1350" b="1" dirty="0">
                <a:solidFill>
                  <a:srgbClr val="B8891F"/>
                </a:solidFill>
                <a:latin typeface="Calibri" pitchFamily="34" charset="0"/>
                <a:ea typeface="Calibri" pitchFamily="34" charset="-122"/>
                <a:cs typeface="Calibri" pitchFamily="34" charset="-120"/>
              </a:rPr>
              <a:t>Colour identity per strand</a:t>
            </a:r>
            <a:endParaRPr lang="en-US" sz="1350" dirty="0"/>
          </a:p>
        </p:txBody>
      </p:sp>
      <p:sp>
        <p:nvSpPr>
          <p:cNvPr id="9" name="Text 6"/>
          <p:cNvSpPr/>
          <p:nvPr/>
        </p:nvSpPr>
        <p:spPr>
          <a:xfrm>
            <a:off x="7635240" y="3163824"/>
            <a:ext cx="4023360" cy="1005840"/>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Storytelling gold, Rehearsal green, Oral History blue. The mapping holds on every visual across all four pages, so a colour never means two things.</a:t>
            </a:r>
            <a:endParaRPr lang="en-US" sz="1200" dirty="0"/>
          </a:p>
        </p:txBody>
      </p:sp>
      <p:sp>
        <p:nvSpPr>
          <p:cNvPr id="10" name="Text 7"/>
          <p:cNvSpPr/>
          <p:nvPr/>
        </p:nvSpPr>
        <p:spPr>
          <a:xfrm>
            <a:off x="7635240" y="4261104"/>
            <a:ext cx="4023360" cy="274320"/>
          </a:xfrm>
          <a:prstGeom prst="rect">
            <a:avLst/>
          </a:prstGeom>
          <a:noFill/>
          <a:ln/>
        </p:spPr>
        <p:txBody>
          <a:bodyPr wrap="square" lIns="0" tIns="0" rIns="0" bIns="0" rtlCol="0" anchor="ctr"/>
          <a:lstStyle/>
          <a:p>
            <a:pPr indent="0" marL="0">
              <a:buNone/>
            </a:pPr>
            <a:r>
              <a:rPr lang="en-US" sz="1350" b="1" dirty="0">
                <a:solidFill>
                  <a:srgbClr val="B8891F"/>
                </a:solidFill>
                <a:latin typeface="Calibri" pitchFamily="34" charset="0"/>
                <a:ea typeface="Calibri" pitchFamily="34" charset="-122"/>
                <a:cs typeface="Calibri" pitchFamily="34" charset="-120"/>
              </a:rPr>
              <a:t>Weighted measures</a:t>
            </a:r>
            <a:endParaRPr lang="en-US" sz="1350" dirty="0"/>
          </a:p>
        </p:txBody>
      </p:sp>
      <p:sp>
        <p:nvSpPr>
          <p:cNvPr id="11" name="Text 8"/>
          <p:cNvSpPr/>
          <p:nvPr/>
        </p:nvSpPr>
        <p:spPr>
          <a:xfrm>
            <a:off x="7635240" y="4608576"/>
            <a:ext cx="4023360" cy="1005840"/>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The 9.45 referral rating is participation-weighted, not an average of the three strand averages, which would have returned a different figure.</a:t>
            </a:r>
            <a:endParaRPr lang="en-US" sz="1200" dirty="0"/>
          </a:p>
        </p:txBody>
      </p:sp>
      <p:sp>
        <p:nvSpPr>
          <p:cNvPr id="12" name="Shape 9"/>
          <p:cNvSpPr/>
          <p:nvPr/>
        </p:nvSpPr>
        <p:spPr>
          <a:xfrm>
            <a:off x="502920" y="5440680"/>
            <a:ext cx="6858000" cy="1051560"/>
          </a:xfrm>
          <a:prstGeom prst="roundRect">
            <a:avLst>
              <a:gd name="adj" fmla="val 6957"/>
            </a:avLst>
          </a:prstGeom>
          <a:solidFill>
            <a:srgbClr val="F5F5F2"/>
          </a:solidFill>
          <a:ln w="6350">
            <a:solidFill>
              <a:srgbClr val="E3E6EB"/>
            </a:solidFill>
            <a:prstDash val="solid"/>
          </a:ln>
        </p:spPr>
      </p:sp>
      <p:sp>
        <p:nvSpPr>
          <p:cNvPr id="13" name="Text 10"/>
          <p:cNvSpPr/>
          <p:nvPr/>
        </p:nvSpPr>
        <p:spPr>
          <a:xfrm>
            <a:off x="777240" y="5586984"/>
            <a:ext cx="6309360" cy="237744"/>
          </a:xfrm>
          <a:prstGeom prst="rect">
            <a:avLst/>
          </a:prstGeom>
          <a:noFill/>
          <a:ln/>
        </p:spPr>
        <p:txBody>
          <a:bodyPr wrap="square" lIns="0" tIns="0" rIns="0" bIns="0" rtlCol="0" anchor="ctr"/>
          <a:lstStyle/>
          <a:p>
            <a:pPr indent="0" marL="0">
              <a:buNone/>
            </a:pPr>
            <a:r>
              <a:rPr lang="en-US" sz="1200" b="1" dirty="0">
                <a:solidFill>
                  <a:srgbClr val="1D2B4F"/>
                </a:solidFill>
                <a:latin typeface="Calibri" pitchFamily="34" charset="0"/>
                <a:ea typeface="Calibri" pitchFamily="34" charset="-122"/>
                <a:cs typeface="Calibri" pitchFamily="34" charset="-120"/>
              </a:rPr>
              <a:t>The baseline state</a:t>
            </a:r>
            <a:endParaRPr lang="en-US" sz="1200" dirty="0"/>
          </a:p>
        </p:txBody>
      </p:sp>
      <p:sp>
        <p:nvSpPr>
          <p:cNvPr id="14" name="Text 11"/>
          <p:cNvSpPr/>
          <p:nvPr/>
        </p:nvSpPr>
        <p:spPr>
          <a:xfrm>
            <a:off x="777240" y="5861304"/>
            <a:ext cx="6309360" cy="539496"/>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Every session opens here: 560 attendances, 66 participants, 9.45 rating, 16 sessions. All nine visuals are live, and clicking any element cross-filters the rest. The slides that follow compare against this state.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06 · INTERACTIVITY</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Cross-Filtering: Selecting Rehearsal</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pic>
        <p:nvPicPr>
          <p:cNvPr id="5" name="Image 0" descr="cross_rehearsal.png">    </p:cNvPr>
          <p:cNvPicPr>
            <a:picLocks noChangeAspect="1"/>
          </p:cNvPicPr>
          <p:nvPr/>
        </p:nvPicPr>
        <p:blipFill>
          <a:blip r:embed="rId1"/>
          <a:stretch>
            <a:fillRect/>
          </a:stretch>
        </p:blipFill>
        <p:spPr>
          <a:xfrm>
            <a:off x="502920" y="1371600"/>
            <a:ext cx="6858000" cy="3886200"/>
          </a:xfrm>
          <a:prstGeom prst="rect">
            <a:avLst/>
          </a:prstGeom>
        </p:spPr>
      </p:pic>
      <p:sp>
        <p:nvSpPr>
          <p:cNvPr id="6" name="Shape 3"/>
          <p:cNvSpPr/>
          <p:nvPr/>
        </p:nvSpPr>
        <p:spPr>
          <a:xfrm>
            <a:off x="7635240" y="1371600"/>
            <a:ext cx="1920240" cy="1847088"/>
          </a:xfrm>
          <a:prstGeom prst="roundRect">
            <a:avLst>
              <a:gd name="adj" fmla="val 3960"/>
            </a:avLst>
          </a:prstGeom>
          <a:solidFill>
            <a:srgbClr val="F5F5F2"/>
          </a:solidFill>
          <a:ln w="6350">
            <a:solidFill>
              <a:srgbClr val="E3E6EB"/>
            </a:solidFill>
            <a:prstDash val="solid"/>
          </a:ln>
        </p:spPr>
      </p:sp>
      <p:sp>
        <p:nvSpPr>
          <p:cNvPr id="7" name="Text 4"/>
          <p:cNvSpPr/>
          <p:nvPr/>
        </p:nvSpPr>
        <p:spPr>
          <a:xfrm>
            <a:off x="7799832" y="1481328"/>
            <a:ext cx="1591056" cy="457200"/>
          </a:xfrm>
          <a:prstGeom prst="rect">
            <a:avLst/>
          </a:prstGeom>
          <a:noFill/>
          <a:ln/>
        </p:spPr>
        <p:txBody>
          <a:bodyPr wrap="square" lIns="0" tIns="0" rIns="0" bIns="0" rtlCol="0" anchor="t"/>
          <a:lstStyle/>
          <a:p>
            <a:pPr indent="0" marL="0">
              <a:buNone/>
            </a:pPr>
            <a:r>
              <a:rPr lang="en-US" sz="2400" b="1" dirty="0">
                <a:solidFill>
                  <a:srgbClr val="6FA287"/>
                </a:solidFill>
                <a:latin typeface="Cambria" pitchFamily="34" charset="0"/>
                <a:ea typeface="Cambria" pitchFamily="34" charset="-122"/>
                <a:cs typeface="Cambria" pitchFamily="34" charset="-120"/>
              </a:rPr>
              <a:t>250</a:t>
            </a:r>
            <a:endParaRPr lang="en-US" sz="2400" dirty="0"/>
          </a:p>
        </p:txBody>
      </p:sp>
      <p:sp>
        <p:nvSpPr>
          <p:cNvPr id="8" name="Text 5"/>
          <p:cNvSpPr/>
          <p:nvPr/>
        </p:nvSpPr>
        <p:spPr>
          <a:xfrm>
            <a:off x="7799832" y="1920240"/>
            <a:ext cx="1591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Participation</a:t>
            </a:r>
            <a:endParaRPr lang="en-US" sz="1200" dirty="0"/>
          </a:p>
        </p:txBody>
      </p:sp>
      <p:sp>
        <p:nvSpPr>
          <p:cNvPr id="9" name="Text 6"/>
          <p:cNvSpPr/>
          <p:nvPr/>
        </p:nvSpPr>
        <p:spPr>
          <a:xfrm>
            <a:off x="7799832" y="2304288"/>
            <a:ext cx="1591056"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Down from 560 (44.6%)</a:t>
            </a:r>
            <a:endParaRPr lang="en-US" sz="1200" dirty="0"/>
          </a:p>
        </p:txBody>
      </p:sp>
      <p:sp>
        <p:nvSpPr>
          <p:cNvPr id="10" name="Shape 7"/>
          <p:cNvSpPr/>
          <p:nvPr/>
        </p:nvSpPr>
        <p:spPr>
          <a:xfrm>
            <a:off x="9738360" y="1371600"/>
            <a:ext cx="1920240" cy="1847088"/>
          </a:xfrm>
          <a:prstGeom prst="roundRect">
            <a:avLst>
              <a:gd name="adj" fmla="val 3960"/>
            </a:avLst>
          </a:prstGeom>
          <a:solidFill>
            <a:srgbClr val="F5F5F2"/>
          </a:solidFill>
          <a:ln w="6350">
            <a:solidFill>
              <a:srgbClr val="E3E6EB"/>
            </a:solidFill>
            <a:prstDash val="solid"/>
          </a:ln>
        </p:spPr>
      </p:sp>
      <p:sp>
        <p:nvSpPr>
          <p:cNvPr id="11" name="Text 8"/>
          <p:cNvSpPr/>
          <p:nvPr/>
        </p:nvSpPr>
        <p:spPr>
          <a:xfrm>
            <a:off x="9902952" y="1481328"/>
            <a:ext cx="1591056" cy="457200"/>
          </a:xfrm>
          <a:prstGeom prst="rect">
            <a:avLst/>
          </a:prstGeom>
          <a:noFill/>
          <a:ln/>
        </p:spPr>
        <p:txBody>
          <a:bodyPr wrap="square" lIns="0" tIns="0" rIns="0" bIns="0" rtlCol="0" anchor="t"/>
          <a:lstStyle/>
          <a:p>
            <a:pPr indent="0" marL="0">
              <a:buNone/>
            </a:pPr>
            <a:r>
              <a:rPr lang="en-US" sz="2400" b="1" dirty="0">
                <a:solidFill>
                  <a:srgbClr val="1D2B4F"/>
                </a:solidFill>
                <a:latin typeface="Cambria" pitchFamily="34" charset="0"/>
                <a:ea typeface="Cambria" pitchFamily="34" charset="-122"/>
                <a:cs typeface="Cambria" pitchFamily="34" charset="-120"/>
              </a:rPr>
              <a:t>50</a:t>
            </a:r>
            <a:endParaRPr lang="en-US" sz="2400" dirty="0"/>
          </a:p>
        </p:txBody>
      </p:sp>
      <p:sp>
        <p:nvSpPr>
          <p:cNvPr id="12" name="Text 9"/>
          <p:cNvSpPr/>
          <p:nvPr/>
        </p:nvSpPr>
        <p:spPr>
          <a:xfrm>
            <a:off x="9902952" y="1920240"/>
            <a:ext cx="1591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Unique participants</a:t>
            </a:r>
            <a:endParaRPr lang="en-US" sz="1200" dirty="0"/>
          </a:p>
        </p:txBody>
      </p:sp>
      <p:sp>
        <p:nvSpPr>
          <p:cNvPr id="13" name="Text 10"/>
          <p:cNvSpPr/>
          <p:nvPr/>
        </p:nvSpPr>
        <p:spPr>
          <a:xfrm>
            <a:off x="9902952" y="2304288"/>
            <a:ext cx="1591056"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Down from 66</a:t>
            </a:r>
            <a:endParaRPr lang="en-US" sz="1200" dirty="0"/>
          </a:p>
        </p:txBody>
      </p:sp>
      <p:sp>
        <p:nvSpPr>
          <p:cNvPr id="14" name="Shape 11"/>
          <p:cNvSpPr/>
          <p:nvPr/>
        </p:nvSpPr>
        <p:spPr>
          <a:xfrm>
            <a:off x="7635240" y="3401568"/>
            <a:ext cx="1920240" cy="1847088"/>
          </a:xfrm>
          <a:prstGeom prst="roundRect">
            <a:avLst>
              <a:gd name="adj" fmla="val 3960"/>
            </a:avLst>
          </a:prstGeom>
          <a:solidFill>
            <a:srgbClr val="F5F5F2"/>
          </a:solidFill>
          <a:ln w="6350">
            <a:solidFill>
              <a:srgbClr val="E3E6EB"/>
            </a:solidFill>
            <a:prstDash val="solid"/>
          </a:ln>
        </p:spPr>
      </p:sp>
      <p:sp>
        <p:nvSpPr>
          <p:cNvPr id="15" name="Text 12"/>
          <p:cNvSpPr/>
          <p:nvPr/>
        </p:nvSpPr>
        <p:spPr>
          <a:xfrm>
            <a:off x="7799832" y="3511296"/>
            <a:ext cx="1591056" cy="457200"/>
          </a:xfrm>
          <a:prstGeom prst="rect">
            <a:avLst/>
          </a:prstGeom>
          <a:noFill/>
          <a:ln/>
        </p:spPr>
        <p:txBody>
          <a:bodyPr wrap="square" lIns="0" tIns="0" rIns="0" bIns="0" rtlCol="0" anchor="t"/>
          <a:lstStyle/>
          <a:p>
            <a:pPr indent="0" marL="0">
              <a:buNone/>
            </a:pPr>
            <a:r>
              <a:rPr lang="en-US" sz="2400" b="1" dirty="0">
                <a:solidFill>
                  <a:srgbClr val="1D2B4F"/>
                </a:solidFill>
                <a:latin typeface="Cambria" pitchFamily="34" charset="0"/>
                <a:ea typeface="Cambria" pitchFamily="34" charset="-122"/>
                <a:cs typeface="Cambria" pitchFamily="34" charset="-120"/>
              </a:rPr>
              <a:t>9.45</a:t>
            </a:r>
            <a:endParaRPr lang="en-US" sz="2400" dirty="0"/>
          </a:p>
        </p:txBody>
      </p:sp>
      <p:sp>
        <p:nvSpPr>
          <p:cNvPr id="16" name="Text 13"/>
          <p:cNvSpPr/>
          <p:nvPr/>
        </p:nvSpPr>
        <p:spPr>
          <a:xfrm>
            <a:off x="7799832" y="3950208"/>
            <a:ext cx="1591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Referral rating</a:t>
            </a:r>
            <a:endParaRPr lang="en-US" sz="1200" dirty="0"/>
          </a:p>
        </p:txBody>
      </p:sp>
      <p:sp>
        <p:nvSpPr>
          <p:cNvPr id="17" name="Text 14"/>
          <p:cNvSpPr/>
          <p:nvPr/>
        </p:nvSpPr>
        <p:spPr>
          <a:xfrm>
            <a:off x="7799832" y="4334256"/>
            <a:ext cx="1591056"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Unchanged from the overall figure</a:t>
            </a:r>
            <a:endParaRPr lang="en-US" sz="1200" dirty="0"/>
          </a:p>
        </p:txBody>
      </p:sp>
      <p:sp>
        <p:nvSpPr>
          <p:cNvPr id="18" name="Shape 15"/>
          <p:cNvSpPr/>
          <p:nvPr/>
        </p:nvSpPr>
        <p:spPr>
          <a:xfrm>
            <a:off x="9738360" y="3401568"/>
            <a:ext cx="1920240" cy="1847088"/>
          </a:xfrm>
          <a:prstGeom prst="roundRect">
            <a:avLst>
              <a:gd name="adj" fmla="val 3960"/>
            </a:avLst>
          </a:prstGeom>
          <a:solidFill>
            <a:srgbClr val="F5F5F2"/>
          </a:solidFill>
          <a:ln w="6350">
            <a:solidFill>
              <a:srgbClr val="E3E6EB"/>
            </a:solidFill>
            <a:prstDash val="solid"/>
          </a:ln>
        </p:spPr>
      </p:sp>
      <p:sp>
        <p:nvSpPr>
          <p:cNvPr id="19" name="Text 16"/>
          <p:cNvSpPr/>
          <p:nvPr/>
        </p:nvSpPr>
        <p:spPr>
          <a:xfrm>
            <a:off x="9902952" y="3511296"/>
            <a:ext cx="1591056" cy="457200"/>
          </a:xfrm>
          <a:prstGeom prst="rect">
            <a:avLst/>
          </a:prstGeom>
          <a:noFill/>
          <a:ln/>
        </p:spPr>
        <p:txBody>
          <a:bodyPr wrap="square" lIns="0" tIns="0" rIns="0" bIns="0" rtlCol="0" anchor="t"/>
          <a:lstStyle/>
          <a:p>
            <a:pPr indent="0" marL="0">
              <a:buNone/>
            </a:pPr>
            <a:r>
              <a:rPr lang="en-US" sz="2400" b="1" dirty="0">
                <a:solidFill>
                  <a:srgbClr val="1D2B4F"/>
                </a:solidFill>
                <a:latin typeface="Cambria" pitchFamily="34" charset="0"/>
                <a:ea typeface="Cambria" pitchFamily="34" charset="-122"/>
                <a:cs typeface="Cambria" pitchFamily="34" charset="-120"/>
              </a:rPr>
              <a:t>7 / 0</a:t>
            </a:r>
            <a:endParaRPr lang="en-US" sz="2400" dirty="0"/>
          </a:p>
        </p:txBody>
      </p:sp>
      <p:sp>
        <p:nvSpPr>
          <p:cNvPr id="20" name="Text 17"/>
          <p:cNvSpPr/>
          <p:nvPr/>
        </p:nvSpPr>
        <p:spPr>
          <a:xfrm>
            <a:off x="9902952" y="3950208"/>
            <a:ext cx="1591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Sessions shown</a:t>
            </a:r>
            <a:endParaRPr lang="en-US" sz="1200" dirty="0"/>
          </a:p>
        </p:txBody>
      </p:sp>
      <p:sp>
        <p:nvSpPr>
          <p:cNvPr id="21" name="Text 18"/>
          <p:cNvSpPr/>
          <p:nvPr/>
        </p:nvSpPr>
        <p:spPr>
          <a:xfrm>
            <a:off x="9902952" y="4334256"/>
            <a:ext cx="1591056"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Rehearsal / Storytelling</a:t>
            </a:r>
            <a:endParaRPr lang="en-US" sz="1200" dirty="0"/>
          </a:p>
        </p:txBody>
      </p:sp>
      <p:sp>
        <p:nvSpPr>
          <p:cNvPr id="22" name="Shape 19"/>
          <p:cNvSpPr/>
          <p:nvPr/>
        </p:nvSpPr>
        <p:spPr>
          <a:xfrm>
            <a:off x="502920" y="5440680"/>
            <a:ext cx="11155680" cy="1051560"/>
          </a:xfrm>
          <a:prstGeom prst="roundRect">
            <a:avLst>
              <a:gd name="adj" fmla="val 6957"/>
            </a:avLst>
          </a:prstGeom>
          <a:solidFill>
            <a:srgbClr val="F5F5F2"/>
          </a:solidFill>
          <a:ln w="6350">
            <a:solidFill>
              <a:srgbClr val="E3E6EB"/>
            </a:solidFill>
            <a:prstDash val="solid"/>
          </a:ln>
        </p:spPr>
      </p:sp>
      <p:sp>
        <p:nvSpPr>
          <p:cNvPr id="23" name="Text 20"/>
          <p:cNvSpPr/>
          <p:nvPr/>
        </p:nvSpPr>
        <p:spPr>
          <a:xfrm>
            <a:off x="777240" y="5586984"/>
            <a:ext cx="10607040" cy="237744"/>
          </a:xfrm>
          <a:prstGeom prst="rect">
            <a:avLst/>
          </a:prstGeom>
          <a:noFill/>
          <a:ln/>
        </p:spPr>
        <p:txBody>
          <a:bodyPr wrap="square" lIns="0" tIns="0" rIns="0" bIns="0" rtlCol="0" anchor="ctr"/>
          <a:lstStyle/>
          <a:p>
            <a:pPr indent="0" marL="0">
              <a:buNone/>
            </a:pPr>
            <a:r>
              <a:rPr lang="en-US" sz="1200" b="1" dirty="0">
                <a:solidFill>
                  <a:srgbClr val="1D2B4F"/>
                </a:solidFill>
                <a:latin typeface="Calibri" pitchFamily="34" charset="0"/>
                <a:ea typeface="Calibri" pitchFamily="34" charset="-122"/>
                <a:cs typeface="Calibri" pitchFamily="34" charset="-120"/>
              </a:rPr>
              <a:t>What one click changed</a:t>
            </a:r>
            <a:endParaRPr lang="en-US" sz="1200" dirty="0"/>
          </a:p>
        </p:txBody>
      </p:sp>
      <p:sp>
        <p:nvSpPr>
          <p:cNvPr id="24" name="Text 21"/>
          <p:cNvSpPr/>
          <p:nvPr/>
        </p:nvSpPr>
        <p:spPr>
          <a:xfrm>
            <a:off x="777240" y="5861304"/>
            <a:ext cx="10607040" cy="539496"/>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A single click on the Rehearsal slice filtered the KPI cards, the session bars, the learnings table and the word cloud together. The new "Rehearsal" tag beside the title is the report's own confirmation the filter is active — every non-Rehearsal category is dimmed rather than removed, which is Power BI cross-highlighting exactly as intended.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06 · INTERACTIVITY</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Cross-Filtering: Selecting Storytelling</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pic>
        <p:nvPicPr>
          <p:cNvPr id="5" name="Image 0" descr="cross_storytelling.png">    </p:cNvPr>
          <p:cNvPicPr>
            <a:picLocks noChangeAspect="1"/>
          </p:cNvPicPr>
          <p:nvPr/>
        </p:nvPicPr>
        <p:blipFill>
          <a:blip r:embed="rId1"/>
          <a:stretch>
            <a:fillRect/>
          </a:stretch>
        </p:blipFill>
        <p:spPr>
          <a:xfrm>
            <a:off x="502920" y="1371600"/>
            <a:ext cx="6858000" cy="3886200"/>
          </a:xfrm>
          <a:prstGeom prst="rect">
            <a:avLst/>
          </a:prstGeom>
        </p:spPr>
      </p:pic>
      <p:sp>
        <p:nvSpPr>
          <p:cNvPr id="6" name="Shape 3"/>
          <p:cNvSpPr/>
          <p:nvPr/>
        </p:nvSpPr>
        <p:spPr>
          <a:xfrm>
            <a:off x="7635240" y="1371600"/>
            <a:ext cx="1920240" cy="1847088"/>
          </a:xfrm>
          <a:prstGeom prst="roundRect">
            <a:avLst>
              <a:gd name="adj" fmla="val 3960"/>
            </a:avLst>
          </a:prstGeom>
          <a:solidFill>
            <a:srgbClr val="F5F5F2"/>
          </a:solidFill>
          <a:ln w="6350">
            <a:solidFill>
              <a:srgbClr val="E3E6EB"/>
            </a:solidFill>
            <a:prstDash val="solid"/>
          </a:ln>
        </p:spPr>
      </p:sp>
      <p:sp>
        <p:nvSpPr>
          <p:cNvPr id="7" name="Text 4"/>
          <p:cNvSpPr/>
          <p:nvPr/>
        </p:nvSpPr>
        <p:spPr>
          <a:xfrm>
            <a:off x="7799832" y="1481328"/>
            <a:ext cx="1591056" cy="457200"/>
          </a:xfrm>
          <a:prstGeom prst="rect">
            <a:avLst/>
          </a:prstGeom>
          <a:noFill/>
          <a:ln/>
        </p:spPr>
        <p:txBody>
          <a:bodyPr wrap="square" lIns="0" tIns="0" rIns="0" bIns="0" rtlCol="0" anchor="t"/>
          <a:lstStyle/>
          <a:p>
            <a:pPr indent="0" marL="0">
              <a:buNone/>
            </a:pPr>
            <a:r>
              <a:rPr lang="en-US" sz="2400" b="1" dirty="0">
                <a:solidFill>
                  <a:srgbClr val="C9A227"/>
                </a:solidFill>
                <a:latin typeface="Cambria" pitchFamily="34" charset="0"/>
                <a:ea typeface="Cambria" pitchFamily="34" charset="-122"/>
                <a:cs typeface="Cambria" pitchFamily="34" charset="-120"/>
              </a:rPr>
              <a:t>300</a:t>
            </a:r>
            <a:endParaRPr lang="en-US" sz="2400" dirty="0"/>
          </a:p>
        </p:txBody>
      </p:sp>
      <p:sp>
        <p:nvSpPr>
          <p:cNvPr id="8" name="Text 5"/>
          <p:cNvSpPr/>
          <p:nvPr/>
        </p:nvSpPr>
        <p:spPr>
          <a:xfrm>
            <a:off x="7799832" y="1920240"/>
            <a:ext cx="1591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Participation</a:t>
            </a:r>
            <a:endParaRPr lang="en-US" sz="1200" dirty="0"/>
          </a:p>
        </p:txBody>
      </p:sp>
      <p:sp>
        <p:nvSpPr>
          <p:cNvPr id="9" name="Text 6"/>
          <p:cNvSpPr/>
          <p:nvPr/>
        </p:nvSpPr>
        <p:spPr>
          <a:xfrm>
            <a:off x="7799832" y="2304288"/>
            <a:ext cx="1591056"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53.6% of the total</a:t>
            </a:r>
            <a:endParaRPr lang="en-US" sz="1200" dirty="0"/>
          </a:p>
        </p:txBody>
      </p:sp>
      <p:sp>
        <p:nvSpPr>
          <p:cNvPr id="10" name="Shape 7"/>
          <p:cNvSpPr/>
          <p:nvPr/>
        </p:nvSpPr>
        <p:spPr>
          <a:xfrm>
            <a:off x="9738360" y="1371600"/>
            <a:ext cx="1920240" cy="1847088"/>
          </a:xfrm>
          <a:prstGeom prst="roundRect">
            <a:avLst>
              <a:gd name="adj" fmla="val 3960"/>
            </a:avLst>
          </a:prstGeom>
          <a:solidFill>
            <a:srgbClr val="F5F5F2"/>
          </a:solidFill>
          <a:ln w="6350">
            <a:solidFill>
              <a:srgbClr val="E3E6EB"/>
            </a:solidFill>
            <a:prstDash val="solid"/>
          </a:ln>
        </p:spPr>
      </p:sp>
      <p:sp>
        <p:nvSpPr>
          <p:cNvPr id="11" name="Text 8"/>
          <p:cNvSpPr/>
          <p:nvPr/>
        </p:nvSpPr>
        <p:spPr>
          <a:xfrm>
            <a:off x="9902952" y="1481328"/>
            <a:ext cx="1591056" cy="457200"/>
          </a:xfrm>
          <a:prstGeom prst="rect">
            <a:avLst/>
          </a:prstGeom>
          <a:noFill/>
          <a:ln/>
        </p:spPr>
        <p:txBody>
          <a:bodyPr wrap="square" lIns="0" tIns="0" rIns="0" bIns="0" rtlCol="0" anchor="t"/>
          <a:lstStyle/>
          <a:p>
            <a:pPr indent="0" marL="0">
              <a:buNone/>
            </a:pPr>
            <a:r>
              <a:rPr lang="en-US" sz="2400" b="1" dirty="0">
                <a:solidFill>
                  <a:srgbClr val="1D2B4F"/>
                </a:solidFill>
                <a:latin typeface="Cambria" pitchFamily="34" charset="0"/>
                <a:ea typeface="Cambria" pitchFamily="34" charset="-122"/>
                <a:cs typeface="Cambria" pitchFamily="34" charset="-120"/>
              </a:rPr>
              <a:t>55</a:t>
            </a:r>
            <a:endParaRPr lang="en-US" sz="2400" dirty="0"/>
          </a:p>
        </p:txBody>
      </p:sp>
      <p:sp>
        <p:nvSpPr>
          <p:cNvPr id="12" name="Text 9"/>
          <p:cNvSpPr/>
          <p:nvPr/>
        </p:nvSpPr>
        <p:spPr>
          <a:xfrm>
            <a:off x="9902952" y="1920240"/>
            <a:ext cx="1591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Unique participants</a:t>
            </a:r>
            <a:endParaRPr lang="en-US" sz="1200" dirty="0"/>
          </a:p>
        </p:txBody>
      </p:sp>
      <p:sp>
        <p:nvSpPr>
          <p:cNvPr id="13" name="Text 10"/>
          <p:cNvSpPr/>
          <p:nvPr/>
        </p:nvSpPr>
        <p:spPr>
          <a:xfrm>
            <a:off x="9902952" y="2304288"/>
            <a:ext cx="1591056"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Down from 66</a:t>
            </a:r>
            <a:endParaRPr lang="en-US" sz="1200" dirty="0"/>
          </a:p>
        </p:txBody>
      </p:sp>
      <p:sp>
        <p:nvSpPr>
          <p:cNvPr id="14" name="Shape 11"/>
          <p:cNvSpPr/>
          <p:nvPr/>
        </p:nvSpPr>
        <p:spPr>
          <a:xfrm>
            <a:off x="7635240" y="3401568"/>
            <a:ext cx="1920240" cy="1847088"/>
          </a:xfrm>
          <a:prstGeom prst="roundRect">
            <a:avLst>
              <a:gd name="adj" fmla="val 3960"/>
            </a:avLst>
          </a:prstGeom>
          <a:solidFill>
            <a:srgbClr val="F5F5F2"/>
          </a:solidFill>
          <a:ln w="6350">
            <a:solidFill>
              <a:srgbClr val="E3E6EB"/>
            </a:solidFill>
            <a:prstDash val="solid"/>
          </a:ln>
        </p:spPr>
      </p:sp>
      <p:sp>
        <p:nvSpPr>
          <p:cNvPr id="15" name="Text 12"/>
          <p:cNvSpPr/>
          <p:nvPr/>
        </p:nvSpPr>
        <p:spPr>
          <a:xfrm>
            <a:off x="7799832" y="3511296"/>
            <a:ext cx="1591056" cy="457200"/>
          </a:xfrm>
          <a:prstGeom prst="rect">
            <a:avLst/>
          </a:prstGeom>
          <a:noFill/>
          <a:ln/>
        </p:spPr>
        <p:txBody>
          <a:bodyPr wrap="square" lIns="0" tIns="0" rIns="0" bIns="0" rtlCol="0" anchor="t"/>
          <a:lstStyle/>
          <a:p>
            <a:pPr indent="0" marL="0">
              <a:buNone/>
            </a:pPr>
            <a:r>
              <a:rPr lang="en-US" sz="2400" b="1" dirty="0">
                <a:solidFill>
                  <a:srgbClr val="1D2B4F"/>
                </a:solidFill>
                <a:latin typeface="Cambria" pitchFamily="34" charset="0"/>
                <a:ea typeface="Cambria" pitchFamily="34" charset="-122"/>
                <a:cs typeface="Cambria" pitchFamily="34" charset="-120"/>
              </a:rPr>
              <a:t>9.43</a:t>
            </a:r>
            <a:endParaRPr lang="en-US" sz="2400" dirty="0"/>
          </a:p>
        </p:txBody>
      </p:sp>
      <p:sp>
        <p:nvSpPr>
          <p:cNvPr id="16" name="Text 13"/>
          <p:cNvSpPr/>
          <p:nvPr/>
        </p:nvSpPr>
        <p:spPr>
          <a:xfrm>
            <a:off x="7799832" y="3950208"/>
            <a:ext cx="1591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Referral rating</a:t>
            </a:r>
            <a:endParaRPr lang="en-US" sz="1200" dirty="0"/>
          </a:p>
        </p:txBody>
      </p:sp>
      <p:sp>
        <p:nvSpPr>
          <p:cNvPr id="17" name="Text 14"/>
          <p:cNvSpPr/>
          <p:nvPr/>
        </p:nvSpPr>
        <p:spPr>
          <a:xfrm>
            <a:off x="7799832" y="4334256"/>
            <a:ext cx="1591056"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Marginally below the 9.45 overall figure</a:t>
            </a:r>
            <a:endParaRPr lang="en-US" sz="1200" dirty="0"/>
          </a:p>
        </p:txBody>
      </p:sp>
      <p:sp>
        <p:nvSpPr>
          <p:cNvPr id="18" name="Shape 15"/>
          <p:cNvSpPr/>
          <p:nvPr/>
        </p:nvSpPr>
        <p:spPr>
          <a:xfrm>
            <a:off x="9738360" y="3401568"/>
            <a:ext cx="1920240" cy="1847088"/>
          </a:xfrm>
          <a:prstGeom prst="roundRect">
            <a:avLst>
              <a:gd name="adj" fmla="val 3960"/>
            </a:avLst>
          </a:prstGeom>
          <a:solidFill>
            <a:srgbClr val="F5F5F2"/>
          </a:solidFill>
          <a:ln w="6350">
            <a:solidFill>
              <a:srgbClr val="E3E6EB"/>
            </a:solidFill>
            <a:prstDash val="solid"/>
          </a:ln>
        </p:spPr>
      </p:sp>
      <p:sp>
        <p:nvSpPr>
          <p:cNvPr id="19" name="Text 16"/>
          <p:cNvSpPr/>
          <p:nvPr/>
        </p:nvSpPr>
        <p:spPr>
          <a:xfrm>
            <a:off x="9902952" y="3511296"/>
            <a:ext cx="1591056" cy="457200"/>
          </a:xfrm>
          <a:prstGeom prst="rect">
            <a:avLst/>
          </a:prstGeom>
          <a:noFill/>
          <a:ln/>
        </p:spPr>
        <p:txBody>
          <a:bodyPr wrap="square" lIns="0" tIns="0" rIns="0" bIns="0" rtlCol="0" anchor="t"/>
          <a:lstStyle/>
          <a:p>
            <a:pPr indent="0" marL="0">
              <a:buNone/>
            </a:pPr>
            <a:r>
              <a:rPr lang="en-US" sz="2400" b="1" dirty="0">
                <a:solidFill>
                  <a:srgbClr val="1D2B4F"/>
                </a:solidFill>
                <a:latin typeface="Cambria" pitchFamily="34" charset="0"/>
                <a:ea typeface="Cambria" pitchFamily="34" charset="-122"/>
                <a:cs typeface="Cambria" pitchFamily="34" charset="-120"/>
              </a:rPr>
              <a:t>8 / 0</a:t>
            </a:r>
            <a:endParaRPr lang="en-US" sz="2400" dirty="0"/>
          </a:p>
        </p:txBody>
      </p:sp>
      <p:sp>
        <p:nvSpPr>
          <p:cNvPr id="20" name="Text 17"/>
          <p:cNvSpPr/>
          <p:nvPr/>
        </p:nvSpPr>
        <p:spPr>
          <a:xfrm>
            <a:off x="9902952" y="3950208"/>
            <a:ext cx="1591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Sessions shown</a:t>
            </a:r>
            <a:endParaRPr lang="en-US" sz="1200" dirty="0"/>
          </a:p>
        </p:txBody>
      </p:sp>
      <p:sp>
        <p:nvSpPr>
          <p:cNvPr id="21" name="Text 18"/>
          <p:cNvSpPr/>
          <p:nvPr/>
        </p:nvSpPr>
        <p:spPr>
          <a:xfrm>
            <a:off x="9902952" y="4334256"/>
            <a:ext cx="1591056"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Storytelling / Rehearsal</a:t>
            </a:r>
            <a:endParaRPr lang="en-US" sz="1200" dirty="0"/>
          </a:p>
        </p:txBody>
      </p:sp>
      <p:sp>
        <p:nvSpPr>
          <p:cNvPr id="22" name="Shape 19"/>
          <p:cNvSpPr/>
          <p:nvPr/>
        </p:nvSpPr>
        <p:spPr>
          <a:xfrm>
            <a:off x="502920" y="5440680"/>
            <a:ext cx="11155680" cy="1051560"/>
          </a:xfrm>
          <a:prstGeom prst="roundRect">
            <a:avLst>
              <a:gd name="adj" fmla="val 6957"/>
            </a:avLst>
          </a:prstGeom>
          <a:solidFill>
            <a:srgbClr val="F5F5F2"/>
          </a:solidFill>
          <a:ln w="6350">
            <a:solidFill>
              <a:srgbClr val="E3E6EB"/>
            </a:solidFill>
            <a:prstDash val="solid"/>
          </a:ln>
        </p:spPr>
      </p:sp>
      <p:sp>
        <p:nvSpPr>
          <p:cNvPr id="23" name="Text 20"/>
          <p:cNvSpPr/>
          <p:nvPr/>
        </p:nvSpPr>
        <p:spPr>
          <a:xfrm>
            <a:off x="777240" y="5586984"/>
            <a:ext cx="10607040" cy="237744"/>
          </a:xfrm>
          <a:prstGeom prst="rect">
            <a:avLst/>
          </a:prstGeom>
          <a:noFill/>
          <a:ln/>
        </p:spPr>
        <p:txBody>
          <a:bodyPr wrap="square" lIns="0" tIns="0" rIns="0" bIns="0" rtlCol="0" anchor="ctr"/>
          <a:lstStyle/>
          <a:p>
            <a:pPr indent="0" marL="0">
              <a:buNone/>
            </a:pPr>
            <a:r>
              <a:rPr lang="en-US" sz="1200" b="1" dirty="0">
                <a:solidFill>
                  <a:srgbClr val="1D2B4F"/>
                </a:solidFill>
                <a:latin typeface="Calibri" pitchFamily="34" charset="0"/>
                <a:ea typeface="Calibri" pitchFamily="34" charset="-122"/>
                <a:cs typeface="Calibri" pitchFamily="34" charset="-120"/>
              </a:rPr>
              <a:t>What one click changed</a:t>
            </a:r>
            <a:endParaRPr lang="en-US" sz="1200" dirty="0"/>
          </a:p>
        </p:txBody>
      </p:sp>
      <p:sp>
        <p:nvSpPr>
          <p:cNvPr id="24" name="Text 21"/>
          <p:cNvSpPr/>
          <p:nvPr/>
        </p:nvSpPr>
        <p:spPr>
          <a:xfrm>
            <a:off x="777240" y="5861304"/>
            <a:ext cx="10607040" cy="539496"/>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The recommendation table recalculates rather than simply hiding rows: "Traditional outfit styles" remains the top learning at 77 mentions, now correctly scoped to Storytelling attendees only. The word cloud and the Event by Session panel update in the same instant, confirming every visual on the page reads from the same filter state.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06 · INTERACTIVITY</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Cross-Filtering: Selecting Oral History</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pic>
        <p:nvPicPr>
          <p:cNvPr id="5" name="Image 0" descr="cross_oralhistory.png">    </p:cNvPr>
          <p:cNvPicPr>
            <a:picLocks noChangeAspect="1"/>
          </p:cNvPicPr>
          <p:nvPr/>
        </p:nvPicPr>
        <p:blipFill>
          <a:blip r:embed="rId1"/>
          <a:stretch>
            <a:fillRect/>
          </a:stretch>
        </p:blipFill>
        <p:spPr>
          <a:xfrm>
            <a:off x="502920" y="1371600"/>
            <a:ext cx="6858000" cy="3886200"/>
          </a:xfrm>
          <a:prstGeom prst="rect">
            <a:avLst/>
          </a:prstGeom>
        </p:spPr>
      </p:pic>
      <p:sp>
        <p:nvSpPr>
          <p:cNvPr id="6" name="Shape 3"/>
          <p:cNvSpPr/>
          <p:nvPr/>
        </p:nvSpPr>
        <p:spPr>
          <a:xfrm>
            <a:off x="7635240" y="1371600"/>
            <a:ext cx="1920240" cy="1847088"/>
          </a:xfrm>
          <a:prstGeom prst="roundRect">
            <a:avLst>
              <a:gd name="adj" fmla="val 3960"/>
            </a:avLst>
          </a:prstGeom>
          <a:solidFill>
            <a:srgbClr val="F5F5F2"/>
          </a:solidFill>
          <a:ln w="6350">
            <a:solidFill>
              <a:srgbClr val="E3E6EB"/>
            </a:solidFill>
            <a:prstDash val="solid"/>
          </a:ln>
        </p:spPr>
      </p:sp>
      <p:sp>
        <p:nvSpPr>
          <p:cNvPr id="7" name="Text 4"/>
          <p:cNvSpPr/>
          <p:nvPr/>
        </p:nvSpPr>
        <p:spPr>
          <a:xfrm>
            <a:off x="7799832" y="1481328"/>
            <a:ext cx="1591056" cy="457200"/>
          </a:xfrm>
          <a:prstGeom prst="rect">
            <a:avLst/>
          </a:prstGeom>
          <a:noFill/>
          <a:ln/>
        </p:spPr>
        <p:txBody>
          <a:bodyPr wrap="square" lIns="0" tIns="0" rIns="0" bIns="0" rtlCol="0" anchor="t"/>
          <a:lstStyle/>
          <a:p>
            <a:pPr indent="0" marL="0">
              <a:buNone/>
            </a:pPr>
            <a:r>
              <a:rPr lang="en-US" sz="2400" b="1" dirty="0">
                <a:solidFill>
                  <a:srgbClr val="7FB2D9"/>
                </a:solidFill>
                <a:latin typeface="Cambria" pitchFamily="34" charset="0"/>
                <a:ea typeface="Cambria" pitchFamily="34" charset="-122"/>
                <a:cs typeface="Cambria" pitchFamily="34" charset="-120"/>
              </a:rPr>
              <a:t>10</a:t>
            </a:r>
            <a:endParaRPr lang="en-US" sz="2400" dirty="0"/>
          </a:p>
        </p:txBody>
      </p:sp>
      <p:sp>
        <p:nvSpPr>
          <p:cNvPr id="8" name="Text 5"/>
          <p:cNvSpPr/>
          <p:nvPr/>
        </p:nvSpPr>
        <p:spPr>
          <a:xfrm>
            <a:off x="7799832" y="1920240"/>
            <a:ext cx="1591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Participation</a:t>
            </a:r>
            <a:endParaRPr lang="en-US" sz="1200" dirty="0"/>
          </a:p>
        </p:txBody>
      </p:sp>
      <p:sp>
        <p:nvSpPr>
          <p:cNvPr id="9" name="Text 6"/>
          <p:cNvSpPr/>
          <p:nvPr/>
        </p:nvSpPr>
        <p:spPr>
          <a:xfrm>
            <a:off x="7799832" y="2304288"/>
            <a:ext cx="1591056"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1.8% of the total</a:t>
            </a:r>
            <a:endParaRPr lang="en-US" sz="1200" dirty="0"/>
          </a:p>
        </p:txBody>
      </p:sp>
      <p:sp>
        <p:nvSpPr>
          <p:cNvPr id="10" name="Shape 7"/>
          <p:cNvSpPr/>
          <p:nvPr/>
        </p:nvSpPr>
        <p:spPr>
          <a:xfrm>
            <a:off x="9738360" y="1371600"/>
            <a:ext cx="1920240" cy="1847088"/>
          </a:xfrm>
          <a:prstGeom prst="roundRect">
            <a:avLst>
              <a:gd name="adj" fmla="val 3960"/>
            </a:avLst>
          </a:prstGeom>
          <a:solidFill>
            <a:srgbClr val="F5F5F2"/>
          </a:solidFill>
          <a:ln w="6350">
            <a:solidFill>
              <a:srgbClr val="E3E6EB"/>
            </a:solidFill>
            <a:prstDash val="solid"/>
          </a:ln>
        </p:spPr>
      </p:sp>
      <p:sp>
        <p:nvSpPr>
          <p:cNvPr id="11" name="Text 8"/>
          <p:cNvSpPr/>
          <p:nvPr/>
        </p:nvSpPr>
        <p:spPr>
          <a:xfrm>
            <a:off x="9902952" y="1481328"/>
            <a:ext cx="1591056" cy="457200"/>
          </a:xfrm>
          <a:prstGeom prst="rect">
            <a:avLst/>
          </a:prstGeom>
          <a:noFill/>
          <a:ln/>
        </p:spPr>
        <p:txBody>
          <a:bodyPr wrap="square" lIns="0" tIns="0" rIns="0" bIns="0" rtlCol="0" anchor="t"/>
          <a:lstStyle/>
          <a:p>
            <a:pPr indent="0" marL="0">
              <a:buNone/>
            </a:pPr>
            <a:r>
              <a:rPr lang="en-US" sz="2400" b="1" dirty="0">
                <a:solidFill>
                  <a:srgbClr val="1D2B4F"/>
                </a:solidFill>
                <a:latin typeface="Cambria" pitchFamily="34" charset="0"/>
                <a:ea typeface="Cambria" pitchFamily="34" charset="-122"/>
                <a:cs typeface="Cambria" pitchFamily="34" charset="-120"/>
              </a:rPr>
              <a:t>10</a:t>
            </a:r>
            <a:endParaRPr lang="en-US" sz="2400" dirty="0"/>
          </a:p>
        </p:txBody>
      </p:sp>
      <p:sp>
        <p:nvSpPr>
          <p:cNvPr id="12" name="Text 9"/>
          <p:cNvSpPr/>
          <p:nvPr/>
        </p:nvSpPr>
        <p:spPr>
          <a:xfrm>
            <a:off x="9902952" y="1920240"/>
            <a:ext cx="1591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Unique participants</a:t>
            </a:r>
            <a:endParaRPr lang="en-US" sz="1200" dirty="0"/>
          </a:p>
        </p:txBody>
      </p:sp>
      <p:sp>
        <p:nvSpPr>
          <p:cNvPr id="13" name="Text 10"/>
          <p:cNvSpPr/>
          <p:nvPr/>
        </p:nvSpPr>
        <p:spPr>
          <a:xfrm>
            <a:off x="9902952" y="2304288"/>
            <a:ext cx="1591056"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No repeat visits yet</a:t>
            </a:r>
            <a:endParaRPr lang="en-US" sz="1200" dirty="0"/>
          </a:p>
        </p:txBody>
      </p:sp>
      <p:sp>
        <p:nvSpPr>
          <p:cNvPr id="14" name="Shape 11"/>
          <p:cNvSpPr/>
          <p:nvPr/>
        </p:nvSpPr>
        <p:spPr>
          <a:xfrm>
            <a:off x="7635240" y="3401568"/>
            <a:ext cx="1920240" cy="1847088"/>
          </a:xfrm>
          <a:prstGeom prst="roundRect">
            <a:avLst>
              <a:gd name="adj" fmla="val 3960"/>
            </a:avLst>
          </a:prstGeom>
          <a:solidFill>
            <a:srgbClr val="F5F5F2"/>
          </a:solidFill>
          <a:ln w="6350">
            <a:solidFill>
              <a:srgbClr val="E3E6EB"/>
            </a:solidFill>
            <a:prstDash val="solid"/>
          </a:ln>
        </p:spPr>
      </p:sp>
      <p:sp>
        <p:nvSpPr>
          <p:cNvPr id="15" name="Text 12"/>
          <p:cNvSpPr/>
          <p:nvPr/>
        </p:nvSpPr>
        <p:spPr>
          <a:xfrm>
            <a:off x="7799832" y="3511296"/>
            <a:ext cx="1591056" cy="457200"/>
          </a:xfrm>
          <a:prstGeom prst="rect">
            <a:avLst/>
          </a:prstGeom>
          <a:noFill/>
          <a:ln/>
        </p:spPr>
        <p:txBody>
          <a:bodyPr wrap="square" lIns="0" tIns="0" rIns="0" bIns="0" rtlCol="0" anchor="t"/>
          <a:lstStyle/>
          <a:p>
            <a:pPr indent="0" marL="0">
              <a:buNone/>
            </a:pPr>
            <a:r>
              <a:rPr lang="en-US" sz="2400" b="1" dirty="0">
                <a:solidFill>
                  <a:srgbClr val="1D2B4F"/>
                </a:solidFill>
                <a:latin typeface="Cambria" pitchFamily="34" charset="0"/>
                <a:ea typeface="Cambria" pitchFamily="34" charset="-122"/>
                <a:cs typeface="Cambria" pitchFamily="34" charset="-120"/>
              </a:rPr>
              <a:t>9.80</a:t>
            </a:r>
            <a:endParaRPr lang="en-US" sz="2400" dirty="0"/>
          </a:p>
        </p:txBody>
      </p:sp>
      <p:sp>
        <p:nvSpPr>
          <p:cNvPr id="16" name="Text 13"/>
          <p:cNvSpPr/>
          <p:nvPr/>
        </p:nvSpPr>
        <p:spPr>
          <a:xfrm>
            <a:off x="7799832" y="3950208"/>
            <a:ext cx="1591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Referral rating</a:t>
            </a:r>
            <a:endParaRPr lang="en-US" sz="1200" dirty="0"/>
          </a:p>
        </p:txBody>
      </p:sp>
      <p:sp>
        <p:nvSpPr>
          <p:cNvPr id="17" name="Text 14"/>
          <p:cNvSpPr/>
          <p:nvPr/>
        </p:nvSpPr>
        <p:spPr>
          <a:xfrm>
            <a:off x="7799832" y="4334256"/>
            <a:ext cx="1591056"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Highest of the three strands</a:t>
            </a:r>
            <a:endParaRPr lang="en-US" sz="1200" dirty="0"/>
          </a:p>
        </p:txBody>
      </p:sp>
      <p:sp>
        <p:nvSpPr>
          <p:cNvPr id="18" name="Shape 15"/>
          <p:cNvSpPr/>
          <p:nvPr/>
        </p:nvSpPr>
        <p:spPr>
          <a:xfrm>
            <a:off x="9738360" y="3401568"/>
            <a:ext cx="1920240" cy="1847088"/>
          </a:xfrm>
          <a:prstGeom prst="roundRect">
            <a:avLst>
              <a:gd name="adj" fmla="val 3960"/>
            </a:avLst>
          </a:prstGeom>
          <a:solidFill>
            <a:srgbClr val="F5F5F2"/>
          </a:solidFill>
          <a:ln w="6350">
            <a:solidFill>
              <a:srgbClr val="E3E6EB"/>
            </a:solidFill>
            <a:prstDash val="solid"/>
          </a:ln>
        </p:spPr>
      </p:sp>
      <p:sp>
        <p:nvSpPr>
          <p:cNvPr id="19" name="Text 16"/>
          <p:cNvSpPr/>
          <p:nvPr/>
        </p:nvSpPr>
        <p:spPr>
          <a:xfrm>
            <a:off x="9902952" y="3511296"/>
            <a:ext cx="1591056" cy="457200"/>
          </a:xfrm>
          <a:prstGeom prst="rect">
            <a:avLst/>
          </a:prstGeom>
          <a:noFill/>
          <a:ln/>
        </p:spPr>
        <p:txBody>
          <a:bodyPr wrap="square" lIns="0" tIns="0" rIns="0" bIns="0" rtlCol="0" anchor="t"/>
          <a:lstStyle/>
          <a:p>
            <a:pPr indent="0" marL="0">
              <a:buNone/>
            </a:pPr>
            <a:r>
              <a:rPr lang="en-US" sz="2400" b="1" dirty="0">
                <a:solidFill>
                  <a:srgbClr val="1D2B4F"/>
                </a:solidFill>
                <a:latin typeface="Cambria" pitchFamily="34" charset="0"/>
                <a:ea typeface="Cambria" pitchFamily="34" charset="-122"/>
                <a:cs typeface="Cambria" pitchFamily="34" charset="-120"/>
              </a:rPr>
              <a:t>3</a:t>
            </a:r>
            <a:endParaRPr lang="en-US" sz="2400" dirty="0"/>
          </a:p>
        </p:txBody>
      </p:sp>
      <p:sp>
        <p:nvSpPr>
          <p:cNvPr id="20" name="Text 17"/>
          <p:cNvSpPr/>
          <p:nvPr/>
        </p:nvSpPr>
        <p:spPr>
          <a:xfrm>
            <a:off x="9902952" y="3950208"/>
            <a:ext cx="1591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Comments shown</a:t>
            </a:r>
            <a:endParaRPr lang="en-US" sz="1200" dirty="0"/>
          </a:p>
        </p:txBody>
      </p:sp>
      <p:sp>
        <p:nvSpPr>
          <p:cNvPr id="21" name="Text 18"/>
          <p:cNvSpPr/>
          <p:nvPr/>
        </p:nvSpPr>
        <p:spPr>
          <a:xfrm>
            <a:off x="9902952" y="4334256"/>
            <a:ext cx="1591056" cy="82296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Now individually legible</a:t>
            </a:r>
            <a:endParaRPr lang="en-US" sz="1200" dirty="0"/>
          </a:p>
        </p:txBody>
      </p:sp>
      <p:sp>
        <p:nvSpPr>
          <p:cNvPr id="22" name="Shape 19"/>
          <p:cNvSpPr/>
          <p:nvPr/>
        </p:nvSpPr>
        <p:spPr>
          <a:xfrm>
            <a:off x="502920" y="5440680"/>
            <a:ext cx="11155680" cy="1051560"/>
          </a:xfrm>
          <a:prstGeom prst="roundRect">
            <a:avLst>
              <a:gd name="adj" fmla="val 6957"/>
            </a:avLst>
          </a:prstGeom>
          <a:solidFill>
            <a:srgbClr val="F5F5F2"/>
          </a:solidFill>
          <a:ln w="6350">
            <a:solidFill>
              <a:srgbClr val="E3E6EB"/>
            </a:solidFill>
            <a:prstDash val="solid"/>
          </a:ln>
        </p:spPr>
      </p:sp>
      <p:sp>
        <p:nvSpPr>
          <p:cNvPr id="23" name="Text 20"/>
          <p:cNvSpPr/>
          <p:nvPr/>
        </p:nvSpPr>
        <p:spPr>
          <a:xfrm>
            <a:off x="777240" y="5586984"/>
            <a:ext cx="10607040" cy="237744"/>
          </a:xfrm>
          <a:prstGeom prst="rect">
            <a:avLst/>
          </a:prstGeom>
          <a:noFill/>
          <a:ln/>
        </p:spPr>
        <p:txBody>
          <a:bodyPr wrap="square" lIns="0" tIns="0" rIns="0" bIns="0" rtlCol="0" anchor="ctr"/>
          <a:lstStyle/>
          <a:p>
            <a:pPr indent="0" marL="0">
              <a:buNone/>
            </a:pPr>
            <a:r>
              <a:rPr lang="en-US" sz="1200" b="1" dirty="0">
                <a:solidFill>
                  <a:srgbClr val="1D2B4F"/>
                </a:solidFill>
                <a:latin typeface="Calibri" pitchFamily="34" charset="0"/>
                <a:ea typeface="Calibri" pitchFamily="34" charset="-122"/>
                <a:cs typeface="Calibri" pitchFamily="34" charset="-120"/>
              </a:rPr>
              <a:t>What one click changed</a:t>
            </a:r>
            <a:endParaRPr lang="en-US" sz="1200" dirty="0"/>
          </a:p>
        </p:txBody>
      </p:sp>
      <p:sp>
        <p:nvSpPr>
          <p:cNvPr id="24" name="Text 21"/>
          <p:cNvSpPr/>
          <p:nvPr/>
        </p:nvSpPr>
        <p:spPr>
          <a:xfrm>
            <a:off x="777240" y="5861304"/>
            <a:ext cx="10607040" cy="539496"/>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At this scale the word cloud stops being a cloud: with only three comments remaining, each one is fully readable rather than overlapping. Filtering here does more than shrink the numbers — it changes what the visual is useful for, turning an aggregate impression into a readable transcript.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06 · INTERACTIVITY</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Drill-Through: Isolating a Single Recommendation</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sp>
        <p:nvSpPr>
          <p:cNvPr id="5" name="Text 3"/>
          <p:cNvSpPr/>
          <p:nvPr/>
        </p:nvSpPr>
        <p:spPr>
          <a:xfrm>
            <a:off x="502920" y="1298448"/>
            <a:ext cx="5486400" cy="237744"/>
          </a:xfrm>
          <a:prstGeom prst="rect">
            <a:avLst/>
          </a:prstGeom>
          <a:noFill/>
          <a:ln/>
        </p:spPr>
        <p:txBody>
          <a:bodyPr wrap="square" lIns="0" tIns="0" rIns="0" bIns="0" rtlCol="0" anchor="ctr"/>
          <a:lstStyle/>
          <a:p>
            <a:pPr indent="0" marL="0">
              <a:buNone/>
            </a:pPr>
            <a:r>
              <a:rPr lang="en-US" sz="1200" b="1" dirty="0">
                <a:solidFill>
                  <a:srgbClr val="5F6B7A"/>
                </a:solidFill>
                <a:latin typeface="Calibri" pitchFamily="34" charset="0"/>
                <a:ea typeface="Calibri" pitchFamily="34" charset="-122"/>
                <a:cs typeface="Calibri" pitchFamily="34" charset="-120"/>
              </a:rPr>
              <a:t>No filter · 250 attendances</a:t>
            </a:r>
            <a:endParaRPr lang="en-US" sz="1200" dirty="0"/>
          </a:p>
        </p:txBody>
      </p:sp>
      <p:pic>
        <p:nvPicPr>
          <p:cNvPr id="6" name="Image 0" descr="reh_pre.png">    </p:cNvPr>
          <p:cNvPicPr>
            <a:picLocks noChangeAspect="1"/>
          </p:cNvPicPr>
          <p:nvPr/>
        </p:nvPicPr>
        <p:blipFill>
          <a:blip r:embed="rId1"/>
          <a:stretch>
            <a:fillRect/>
          </a:stretch>
        </p:blipFill>
        <p:spPr>
          <a:xfrm>
            <a:off x="502920" y="1554480"/>
            <a:ext cx="5486400" cy="3017520"/>
          </a:xfrm>
          <a:prstGeom prst="rect">
            <a:avLst/>
          </a:prstGeom>
        </p:spPr>
      </p:pic>
      <p:sp>
        <p:nvSpPr>
          <p:cNvPr id="7" name="Text 4"/>
          <p:cNvSpPr/>
          <p:nvPr/>
        </p:nvSpPr>
        <p:spPr>
          <a:xfrm>
            <a:off x="6172200" y="1298448"/>
            <a:ext cx="5486400" cy="237744"/>
          </a:xfrm>
          <a:prstGeom prst="rect">
            <a:avLst/>
          </a:prstGeom>
          <a:noFill/>
          <a:ln/>
        </p:spPr>
        <p:txBody>
          <a:bodyPr wrap="square" lIns="0" tIns="0" rIns="0" bIns="0" rtlCol="0" anchor="ctr"/>
          <a:lstStyle/>
          <a:p>
            <a:pPr indent="0" marL="0">
              <a:buNone/>
            </a:pPr>
            <a:r>
              <a:rPr lang="en-US" sz="1200" b="1" dirty="0">
                <a:solidFill>
                  <a:srgbClr val="6FA287"/>
                </a:solidFill>
                <a:latin typeface="Calibri" pitchFamily="34" charset="0"/>
                <a:ea typeface="Calibri" pitchFamily="34" charset="-122"/>
                <a:cs typeface="Calibri" pitchFamily="34" charset="-120"/>
              </a:rPr>
              <a:t>"Next rehearsal" selected · 119 attendances</a:t>
            </a:r>
            <a:endParaRPr lang="en-US" sz="1200" dirty="0"/>
          </a:p>
        </p:txBody>
      </p:sp>
      <p:pic>
        <p:nvPicPr>
          <p:cNvPr id="8" name="Image 1" descr="reh_post.png">    </p:cNvPr>
          <p:cNvPicPr>
            <a:picLocks noChangeAspect="1"/>
          </p:cNvPicPr>
          <p:nvPr/>
        </p:nvPicPr>
        <p:blipFill>
          <a:blip r:embed="rId2"/>
          <a:stretch>
            <a:fillRect/>
          </a:stretch>
        </p:blipFill>
        <p:spPr>
          <a:xfrm>
            <a:off x="6172200" y="1554480"/>
            <a:ext cx="5486400" cy="3017520"/>
          </a:xfrm>
          <a:prstGeom prst="rect">
            <a:avLst/>
          </a:prstGeom>
        </p:spPr>
      </p:pic>
      <p:sp>
        <p:nvSpPr>
          <p:cNvPr id="9" name="Shape 5"/>
          <p:cNvSpPr/>
          <p:nvPr/>
        </p:nvSpPr>
        <p:spPr>
          <a:xfrm>
            <a:off x="502920" y="4736592"/>
            <a:ext cx="2651760" cy="1325880"/>
          </a:xfrm>
          <a:prstGeom prst="roundRect">
            <a:avLst>
              <a:gd name="adj" fmla="val 5517"/>
            </a:avLst>
          </a:prstGeom>
          <a:solidFill>
            <a:srgbClr val="F5F5F2"/>
          </a:solidFill>
          <a:ln w="6350">
            <a:solidFill>
              <a:srgbClr val="E3E6EB"/>
            </a:solidFill>
            <a:prstDash val="solid"/>
          </a:ln>
        </p:spPr>
      </p:sp>
      <p:sp>
        <p:nvSpPr>
          <p:cNvPr id="10" name="Text 6"/>
          <p:cNvSpPr/>
          <p:nvPr/>
        </p:nvSpPr>
        <p:spPr>
          <a:xfrm>
            <a:off x="667512" y="4846320"/>
            <a:ext cx="2322576" cy="457200"/>
          </a:xfrm>
          <a:prstGeom prst="rect">
            <a:avLst/>
          </a:prstGeom>
          <a:noFill/>
          <a:ln/>
        </p:spPr>
        <p:txBody>
          <a:bodyPr wrap="square" lIns="0" tIns="0" rIns="0" bIns="0" rtlCol="0" anchor="t"/>
          <a:lstStyle/>
          <a:p>
            <a:pPr indent="0" marL="0">
              <a:buNone/>
            </a:pPr>
            <a:r>
              <a:rPr lang="en-US" sz="2000" b="1" dirty="0">
                <a:solidFill>
                  <a:srgbClr val="6FA287"/>
                </a:solidFill>
                <a:latin typeface="Cambria" pitchFamily="34" charset="0"/>
                <a:ea typeface="Cambria" pitchFamily="34" charset="-122"/>
                <a:cs typeface="Cambria" pitchFamily="34" charset="-120"/>
              </a:rPr>
              <a:t>119</a:t>
            </a:r>
            <a:endParaRPr lang="en-US" sz="2000" dirty="0"/>
          </a:p>
        </p:txBody>
      </p:sp>
      <p:sp>
        <p:nvSpPr>
          <p:cNvPr id="11" name="Text 7"/>
          <p:cNvSpPr/>
          <p:nvPr/>
        </p:nvSpPr>
        <p:spPr>
          <a:xfrm>
            <a:off x="667512" y="5285232"/>
            <a:ext cx="232257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Requested it</a:t>
            </a:r>
            <a:endParaRPr lang="en-US" sz="1200" dirty="0"/>
          </a:p>
        </p:txBody>
      </p:sp>
      <p:sp>
        <p:nvSpPr>
          <p:cNvPr id="12" name="Text 8"/>
          <p:cNvSpPr/>
          <p:nvPr/>
        </p:nvSpPr>
        <p:spPr>
          <a:xfrm>
            <a:off x="667512" y="5669280"/>
            <a:ext cx="2322576" cy="30175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47.6% of Rehearsal's 250</a:t>
            </a:r>
            <a:endParaRPr lang="en-US" sz="1200" dirty="0"/>
          </a:p>
        </p:txBody>
      </p:sp>
      <p:sp>
        <p:nvSpPr>
          <p:cNvPr id="13" name="Shape 9"/>
          <p:cNvSpPr/>
          <p:nvPr/>
        </p:nvSpPr>
        <p:spPr>
          <a:xfrm>
            <a:off x="3200400" y="4736592"/>
            <a:ext cx="2651760" cy="1325880"/>
          </a:xfrm>
          <a:prstGeom prst="roundRect">
            <a:avLst>
              <a:gd name="adj" fmla="val 5517"/>
            </a:avLst>
          </a:prstGeom>
          <a:solidFill>
            <a:srgbClr val="F5F5F2"/>
          </a:solidFill>
          <a:ln w="6350">
            <a:solidFill>
              <a:srgbClr val="E3E6EB"/>
            </a:solidFill>
            <a:prstDash val="solid"/>
          </a:ln>
        </p:spPr>
      </p:sp>
      <p:sp>
        <p:nvSpPr>
          <p:cNvPr id="14" name="Text 10"/>
          <p:cNvSpPr/>
          <p:nvPr/>
        </p:nvSpPr>
        <p:spPr>
          <a:xfrm>
            <a:off x="3364992" y="4846320"/>
            <a:ext cx="2322576" cy="457200"/>
          </a:xfrm>
          <a:prstGeom prst="rect">
            <a:avLst/>
          </a:prstGeom>
          <a:noFill/>
          <a:ln/>
        </p:spPr>
        <p:txBody>
          <a:bodyPr wrap="square" lIns="0" tIns="0" rIns="0" bIns="0" rtlCol="0" anchor="t"/>
          <a:lstStyle/>
          <a:p>
            <a:pPr indent="0" marL="0">
              <a:buNone/>
            </a:pPr>
            <a:r>
              <a:rPr lang="en-US" sz="2000" b="1" dirty="0">
                <a:solidFill>
                  <a:srgbClr val="1D2B4F"/>
                </a:solidFill>
                <a:latin typeface="Cambria" pitchFamily="34" charset="0"/>
                <a:ea typeface="Cambria" pitchFamily="34" charset="-122"/>
                <a:cs typeface="Cambria" pitchFamily="34" charset="-120"/>
              </a:rPr>
              <a:t>39</a:t>
            </a:r>
            <a:endParaRPr lang="en-US" sz="2000" dirty="0"/>
          </a:p>
        </p:txBody>
      </p:sp>
      <p:sp>
        <p:nvSpPr>
          <p:cNvPr id="15" name="Text 11"/>
          <p:cNvSpPr/>
          <p:nvPr/>
        </p:nvSpPr>
        <p:spPr>
          <a:xfrm>
            <a:off x="3364992" y="5285232"/>
            <a:ext cx="232257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Unique participants</a:t>
            </a:r>
            <a:endParaRPr lang="en-US" sz="1200" dirty="0"/>
          </a:p>
        </p:txBody>
      </p:sp>
      <p:sp>
        <p:nvSpPr>
          <p:cNvPr id="16" name="Text 12"/>
          <p:cNvSpPr/>
          <p:nvPr/>
        </p:nvSpPr>
        <p:spPr>
          <a:xfrm>
            <a:off x="3364992" y="5669280"/>
            <a:ext cx="2322576" cy="30175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Down from 50</a:t>
            </a:r>
            <a:endParaRPr lang="en-US" sz="1200" dirty="0"/>
          </a:p>
        </p:txBody>
      </p:sp>
      <p:sp>
        <p:nvSpPr>
          <p:cNvPr id="17" name="Shape 13"/>
          <p:cNvSpPr/>
          <p:nvPr/>
        </p:nvSpPr>
        <p:spPr>
          <a:xfrm>
            <a:off x="5897880" y="4736592"/>
            <a:ext cx="2651760" cy="1325880"/>
          </a:xfrm>
          <a:prstGeom prst="roundRect">
            <a:avLst>
              <a:gd name="adj" fmla="val 5517"/>
            </a:avLst>
          </a:prstGeom>
          <a:solidFill>
            <a:srgbClr val="F5F5F2"/>
          </a:solidFill>
          <a:ln w="6350">
            <a:solidFill>
              <a:srgbClr val="E3E6EB"/>
            </a:solidFill>
            <a:prstDash val="solid"/>
          </a:ln>
        </p:spPr>
      </p:sp>
      <p:sp>
        <p:nvSpPr>
          <p:cNvPr id="18" name="Text 14"/>
          <p:cNvSpPr/>
          <p:nvPr/>
        </p:nvSpPr>
        <p:spPr>
          <a:xfrm>
            <a:off x="6062472" y="4846320"/>
            <a:ext cx="2322576" cy="457200"/>
          </a:xfrm>
          <a:prstGeom prst="rect">
            <a:avLst/>
          </a:prstGeom>
          <a:noFill/>
          <a:ln/>
        </p:spPr>
        <p:txBody>
          <a:bodyPr wrap="square" lIns="0" tIns="0" rIns="0" bIns="0" rtlCol="0" anchor="t"/>
          <a:lstStyle/>
          <a:p>
            <a:pPr indent="0" marL="0">
              <a:buNone/>
            </a:pPr>
            <a:r>
              <a:rPr lang="en-US" sz="2000" b="1" dirty="0">
                <a:solidFill>
                  <a:srgbClr val="1D2B4F"/>
                </a:solidFill>
                <a:latin typeface="Cambria" pitchFamily="34" charset="0"/>
                <a:ea typeface="Cambria" pitchFamily="34" charset="-122"/>
                <a:cs typeface="Cambria" pitchFamily="34" charset="-120"/>
              </a:rPr>
              <a:t>9.37</a:t>
            </a:r>
            <a:endParaRPr lang="en-US" sz="2000" dirty="0"/>
          </a:p>
        </p:txBody>
      </p:sp>
      <p:sp>
        <p:nvSpPr>
          <p:cNvPr id="19" name="Text 15"/>
          <p:cNvSpPr/>
          <p:nvPr/>
        </p:nvSpPr>
        <p:spPr>
          <a:xfrm>
            <a:off x="6062472" y="5285232"/>
            <a:ext cx="232257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Referral rating</a:t>
            </a:r>
            <a:endParaRPr lang="en-US" sz="1200" dirty="0"/>
          </a:p>
        </p:txBody>
      </p:sp>
      <p:sp>
        <p:nvSpPr>
          <p:cNvPr id="20" name="Text 16"/>
          <p:cNvSpPr/>
          <p:nvPr/>
        </p:nvSpPr>
        <p:spPr>
          <a:xfrm>
            <a:off x="6062472" y="5669280"/>
            <a:ext cx="2322576" cy="30175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Down slightly from 9.45</a:t>
            </a:r>
            <a:endParaRPr lang="en-US" sz="1200" dirty="0"/>
          </a:p>
        </p:txBody>
      </p:sp>
      <p:sp>
        <p:nvSpPr>
          <p:cNvPr id="21" name="Shape 17"/>
          <p:cNvSpPr/>
          <p:nvPr/>
        </p:nvSpPr>
        <p:spPr>
          <a:xfrm>
            <a:off x="8595360" y="4736592"/>
            <a:ext cx="3063240" cy="1325880"/>
          </a:xfrm>
          <a:prstGeom prst="roundRect">
            <a:avLst>
              <a:gd name="adj" fmla="val 5517"/>
            </a:avLst>
          </a:prstGeom>
          <a:solidFill>
            <a:srgbClr val="F5F5F2"/>
          </a:solidFill>
          <a:ln w="6350">
            <a:solidFill>
              <a:srgbClr val="E3E6EB"/>
            </a:solidFill>
            <a:prstDash val="solid"/>
          </a:ln>
        </p:spPr>
      </p:sp>
      <p:sp>
        <p:nvSpPr>
          <p:cNvPr id="22" name="Text 18"/>
          <p:cNvSpPr/>
          <p:nvPr/>
        </p:nvSpPr>
        <p:spPr>
          <a:xfrm>
            <a:off x="8759952" y="4846320"/>
            <a:ext cx="2734056" cy="457200"/>
          </a:xfrm>
          <a:prstGeom prst="rect">
            <a:avLst/>
          </a:prstGeom>
          <a:noFill/>
          <a:ln/>
        </p:spPr>
        <p:txBody>
          <a:bodyPr wrap="square" lIns="0" tIns="0" rIns="0" bIns="0" rtlCol="0" anchor="t"/>
          <a:lstStyle/>
          <a:p>
            <a:pPr indent="0" marL="0">
              <a:buNone/>
            </a:pPr>
            <a:r>
              <a:rPr lang="en-US" sz="2000" b="1" dirty="0">
                <a:solidFill>
                  <a:srgbClr val="1D2B4F"/>
                </a:solidFill>
                <a:latin typeface="Cambria" pitchFamily="34" charset="0"/>
                <a:ea typeface="Cambria" pitchFamily="34" charset="-122"/>
                <a:cs typeface="Cambria" pitchFamily="34" charset="-120"/>
              </a:rPr>
              <a:t>6 / 7</a:t>
            </a:r>
            <a:endParaRPr lang="en-US" sz="2000" dirty="0"/>
          </a:p>
        </p:txBody>
      </p:sp>
      <p:sp>
        <p:nvSpPr>
          <p:cNvPr id="23" name="Text 19"/>
          <p:cNvSpPr/>
          <p:nvPr/>
        </p:nvSpPr>
        <p:spPr>
          <a:xfrm>
            <a:off x="8759952" y="5285232"/>
            <a:ext cx="2734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Sessions represented</a:t>
            </a:r>
            <a:endParaRPr lang="en-US" sz="1200" dirty="0"/>
          </a:p>
        </p:txBody>
      </p:sp>
      <p:sp>
        <p:nvSpPr>
          <p:cNvPr id="24" name="Text 20"/>
          <p:cNvSpPr/>
          <p:nvPr/>
        </p:nvSpPr>
        <p:spPr>
          <a:xfrm>
            <a:off x="8759952" y="5669280"/>
            <a:ext cx="2734056" cy="30175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Every session, unevenly</a:t>
            </a:r>
            <a:endParaRPr lang="en-US" sz="1200" dirty="0"/>
          </a:p>
        </p:txBody>
      </p:sp>
      <p:sp>
        <p:nvSpPr>
          <p:cNvPr id="25" name="Shape 21"/>
          <p:cNvSpPr/>
          <p:nvPr/>
        </p:nvSpPr>
        <p:spPr>
          <a:xfrm>
            <a:off x="502920" y="6172200"/>
            <a:ext cx="11155680" cy="621792"/>
          </a:xfrm>
          <a:prstGeom prst="roundRect">
            <a:avLst>
              <a:gd name="adj" fmla="val 11765"/>
            </a:avLst>
          </a:prstGeom>
          <a:solidFill>
            <a:srgbClr val="F5F5F2"/>
          </a:solidFill>
          <a:ln w="6350">
            <a:solidFill>
              <a:srgbClr val="E3E6EB"/>
            </a:solidFill>
            <a:prstDash val="solid"/>
          </a:ln>
        </p:spPr>
      </p:sp>
      <p:sp>
        <p:nvSpPr>
          <p:cNvPr id="26" name="Text 22"/>
          <p:cNvSpPr/>
          <p:nvPr/>
        </p:nvSpPr>
        <p:spPr>
          <a:xfrm>
            <a:off x="777240" y="6318504"/>
            <a:ext cx="10607040" cy="384048"/>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Clicking a single bar inside "Occurrence of Recommendation" turned the donut into a ring showing the 47.6% selected share, and dimmed the un-selected portion of every session bar — showing exactly which sessions drove the request for a next rehearsal.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06 · INTERACTIVITY</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Drill-Through: Isolating the Final Two Sessions</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sp>
        <p:nvSpPr>
          <p:cNvPr id="5" name="Text 3"/>
          <p:cNvSpPr/>
          <p:nvPr/>
        </p:nvSpPr>
        <p:spPr>
          <a:xfrm>
            <a:off x="502920" y="1298448"/>
            <a:ext cx="5486400" cy="237744"/>
          </a:xfrm>
          <a:prstGeom prst="rect">
            <a:avLst/>
          </a:prstGeom>
          <a:noFill/>
          <a:ln/>
        </p:spPr>
        <p:txBody>
          <a:bodyPr wrap="square" lIns="0" tIns="0" rIns="0" bIns="0" rtlCol="0" anchor="ctr"/>
          <a:lstStyle/>
          <a:p>
            <a:pPr indent="0" marL="0">
              <a:buNone/>
            </a:pPr>
            <a:r>
              <a:rPr lang="en-US" sz="1200" b="1" dirty="0">
                <a:solidFill>
                  <a:srgbClr val="5F6B7A"/>
                </a:solidFill>
                <a:latin typeface="Calibri" pitchFamily="34" charset="0"/>
                <a:ea typeface="Calibri" pitchFamily="34" charset="-122"/>
                <a:cs typeface="Calibri" pitchFamily="34" charset="-120"/>
              </a:rPr>
              <a:t>No filter · 300 attendances</a:t>
            </a:r>
            <a:endParaRPr lang="en-US" sz="1200" dirty="0"/>
          </a:p>
        </p:txBody>
      </p:sp>
      <p:pic>
        <p:nvPicPr>
          <p:cNvPr id="6" name="Image 0" descr="story_pre.png">    </p:cNvPr>
          <p:cNvPicPr>
            <a:picLocks noChangeAspect="1"/>
          </p:cNvPicPr>
          <p:nvPr/>
        </p:nvPicPr>
        <p:blipFill>
          <a:blip r:embed="rId1"/>
          <a:stretch>
            <a:fillRect/>
          </a:stretch>
        </p:blipFill>
        <p:spPr>
          <a:xfrm>
            <a:off x="502920" y="1554480"/>
            <a:ext cx="5486400" cy="3063240"/>
          </a:xfrm>
          <a:prstGeom prst="rect">
            <a:avLst/>
          </a:prstGeom>
        </p:spPr>
      </p:pic>
      <p:sp>
        <p:nvSpPr>
          <p:cNvPr id="7" name="Text 4"/>
          <p:cNvSpPr/>
          <p:nvPr/>
        </p:nvSpPr>
        <p:spPr>
          <a:xfrm>
            <a:off x="6172200" y="1298448"/>
            <a:ext cx="5486400" cy="237744"/>
          </a:xfrm>
          <a:prstGeom prst="rect">
            <a:avLst/>
          </a:prstGeom>
          <a:noFill/>
          <a:ln/>
        </p:spPr>
        <p:txBody>
          <a:bodyPr wrap="square" lIns="0" tIns="0" rIns="0" bIns="0" rtlCol="0" anchor="ctr"/>
          <a:lstStyle/>
          <a:p>
            <a:pPr indent="0" marL="0">
              <a:buNone/>
            </a:pPr>
            <a:r>
              <a:rPr lang="en-US" sz="1200" b="1" dirty="0">
                <a:solidFill>
                  <a:srgbClr val="B8891F"/>
                </a:solidFill>
                <a:latin typeface="Calibri" pitchFamily="34" charset="0"/>
                <a:ea typeface="Calibri" pitchFamily="34" charset="-122"/>
                <a:cs typeface="Calibri" pitchFamily="34" charset="-120"/>
              </a:rPr>
              <a:t>Last two sessions selected · 75 attendances</a:t>
            </a:r>
            <a:endParaRPr lang="en-US" sz="1200" dirty="0"/>
          </a:p>
        </p:txBody>
      </p:sp>
      <p:pic>
        <p:nvPicPr>
          <p:cNvPr id="8" name="Image 1" descr="story_post.png">    </p:cNvPr>
          <p:cNvPicPr>
            <a:picLocks noChangeAspect="1"/>
          </p:cNvPicPr>
          <p:nvPr/>
        </p:nvPicPr>
        <p:blipFill>
          <a:blip r:embed="rId2"/>
          <a:stretch>
            <a:fillRect/>
          </a:stretch>
        </p:blipFill>
        <p:spPr>
          <a:xfrm>
            <a:off x="6172200" y="1554480"/>
            <a:ext cx="5486400" cy="3063240"/>
          </a:xfrm>
          <a:prstGeom prst="rect">
            <a:avLst/>
          </a:prstGeom>
        </p:spPr>
      </p:pic>
      <p:sp>
        <p:nvSpPr>
          <p:cNvPr id="9" name="Shape 5"/>
          <p:cNvSpPr/>
          <p:nvPr/>
        </p:nvSpPr>
        <p:spPr>
          <a:xfrm>
            <a:off x="502920" y="4736592"/>
            <a:ext cx="2651760" cy="1325880"/>
          </a:xfrm>
          <a:prstGeom prst="roundRect">
            <a:avLst>
              <a:gd name="adj" fmla="val 5517"/>
            </a:avLst>
          </a:prstGeom>
          <a:solidFill>
            <a:srgbClr val="F5F5F2"/>
          </a:solidFill>
          <a:ln w="6350">
            <a:solidFill>
              <a:srgbClr val="E3E6EB"/>
            </a:solidFill>
            <a:prstDash val="solid"/>
          </a:ln>
        </p:spPr>
      </p:sp>
      <p:sp>
        <p:nvSpPr>
          <p:cNvPr id="10" name="Text 6"/>
          <p:cNvSpPr/>
          <p:nvPr/>
        </p:nvSpPr>
        <p:spPr>
          <a:xfrm>
            <a:off x="667512" y="4846320"/>
            <a:ext cx="2322576" cy="457200"/>
          </a:xfrm>
          <a:prstGeom prst="rect">
            <a:avLst/>
          </a:prstGeom>
          <a:noFill/>
          <a:ln/>
        </p:spPr>
        <p:txBody>
          <a:bodyPr wrap="square" lIns="0" tIns="0" rIns="0" bIns="0" rtlCol="0" anchor="t"/>
          <a:lstStyle/>
          <a:p>
            <a:pPr indent="0" marL="0">
              <a:buNone/>
            </a:pPr>
            <a:r>
              <a:rPr lang="en-US" sz="2000" b="1" dirty="0">
                <a:solidFill>
                  <a:srgbClr val="C9A227"/>
                </a:solidFill>
                <a:latin typeface="Cambria" pitchFamily="34" charset="0"/>
                <a:ea typeface="Cambria" pitchFamily="34" charset="-122"/>
                <a:cs typeface="Cambria" pitchFamily="34" charset="-120"/>
              </a:rPr>
              <a:t>75</a:t>
            </a:r>
            <a:endParaRPr lang="en-US" sz="2000" dirty="0"/>
          </a:p>
        </p:txBody>
      </p:sp>
      <p:sp>
        <p:nvSpPr>
          <p:cNvPr id="11" name="Text 7"/>
          <p:cNvSpPr/>
          <p:nvPr/>
        </p:nvSpPr>
        <p:spPr>
          <a:xfrm>
            <a:off x="667512" y="5285232"/>
            <a:ext cx="232257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In final two sessions</a:t>
            </a:r>
            <a:endParaRPr lang="en-US" sz="1200" dirty="0"/>
          </a:p>
        </p:txBody>
      </p:sp>
      <p:sp>
        <p:nvSpPr>
          <p:cNvPr id="12" name="Text 8"/>
          <p:cNvSpPr/>
          <p:nvPr/>
        </p:nvSpPr>
        <p:spPr>
          <a:xfrm>
            <a:off x="667512" y="5669280"/>
            <a:ext cx="2322576" cy="30175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25% of Storytelling's 300</a:t>
            </a:r>
            <a:endParaRPr lang="en-US" sz="1200" dirty="0"/>
          </a:p>
        </p:txBody>
      </p:sp>
      <p:sp>
        <p:nvSpPr>
          <p:cNvPr id="13" name="Shape 9"/>
          <p:cNvSpPr/>
          <p:nvPr/>
        </p:nvSpPr>
        <p:spPr>
          <a:xfrm>
            <a:off x="3200400" y="4736592"/>
            <a:ext cx="2651760" cy="1325880"/>
          </a:xfrm>
          <a:prstGeom prst="roundRect">
            <a:avLst>
              <a:gd name="adj" fmla="val 5517"/>
            </a:avLst>
          </a:prstGeom>
          <a:solidFill>
            <a:srgbClr val="F5F5F2"/>
          </a:solidFill>
          <a:ln w="6350">
            <a:solidFill>
              <a:srgbClr val="E3E6EB"/>
            </a:solidFill>
            <a:prstDash val="solid"/>
          </a:ln>
        </p:spPr>
      </p:sp>
      <p:sp>
        <p:nvSpPr>
          <p:cNvPr id="14" name="Text 10"/>
          <p:cNvSpPr/>
          <p:nvPr/>
        </p:nvSpPr>
        <p:spPr>
          <a:xfrm>
            <a:off x="3364992" y="4846320"/>
            <a:ext cx="2322576" cy="457200"/>
          </a:xfrm>
          <a:prstGeom prst="rect">
            <a:avLst/>
          </a:prstGeom>
          <a:noFill/>
          <a:ln/>
        </p:spPr>
        <p:txBody>
          <a:bodyPr wrap="square" lIns="0" tIns="0" rIns="0" bIns="0" rtlCol="0" anchor="t"/>
          <a:lstStyle/>
          <a:p>
            <a:pPr indent="0" marL="0">
              <a:buNone/>
            </a:pPr>
            <a:r>
              <a:rPr lang="en-US" sz="2000" b="1" dirty="0">
                <a:solidFill>
                  <a:srgbClr val="1D2B4F"/>
                </a:solidFill>
                <a:latin typeface="Cambria" pitchFamily="34" charset="0"/>
                <a:ea typeface="Cambria" pitchFamily="34" charset="-122"/>
                <a:cs typeface="Cambria" pitchFamily="34" charset="-120"/>
              </a:rPr>
              <a:t>42</a:t>
            </a:r>
            <a:endParaRPr lang="en-US" sz="2000" dirty="0"/>
          </a:p>
        </p:txBody>
      </p:sp>
      <p:sp>
        <p:nvSpPr>
          <p:cNvPr id="15" name="Text 11"/>
          <p:cNvSpPr/>
          <p:nvPr/>
        </p:nvSpPr>
        <p:spPr>
          <a:xfrm>
            <a:off x="3364992" y="5285232"/>
            <a:ext cx="232257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Unique participants</a:t>
            </a:r>
            <a:endParaRPr lang="en-US" sz="1200" dirty="0"/>
          </a:p>
        </p:txBody>
      </p:sp>
      <p:sp>
        <p:nvSpPr>
          <p:cNvPr id="16" name="Text 12"/>
          <p:cNvSpPr/>
          <p:nvPr/>
        </p:nvSpPr>
        <p:spPr>
          <a:xfrm>
            <a:off x="3364992" y="5669280"/>
            <a:ext cx="2322576" cy="30175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Down from 55</a:t>
            </a:r>
            <a:endParaRPr lang="en-US" sz="1200" dirty="0"/>
          </a:p>
        </p:txBody>
      </p:sp>
      <p:sp>
        <p:nvSpPr>
          <p:cNvPr id="17" name="Shape 13"/>
          <p:cNvSpPr/>
          <p:nvPr/>
        </p:nvSpPr>
        <p:spPr>
          <a:xfrm>
            <a:off x="5897880" y="4736592"/>
            <a:ext cx="2651760" cy="1325880"/>
          </a:xfrm>
          <a:prstGeom prst="roundRect">
            <a:avLst>
              <a:gd name="adj" fmla="val 5517"/>
            </a:avLst>
          </a:prstGeom>
          <a:solidFill>
            <a:srgbClr val="F5F5F2"/>
          </a:solidFill>
          <a:ln w="6350">
            <a:solidFill>
              <a:srgbClr val="E3E6EB"/>
            </a:solidFill>
            <a:prstDash val="solid"/>
          </a:ln>
        </p:spPr>
      </p:sp>
      <p:sp>
        <p:nvSpPr>
          <p:cNvPr id="18" name="Text 14"/>
          <p:cNvSpPr/>
          <p:nvPr/>
        </p:nvSpPr>
        <p:spPr>
          <a:xfrm>
            <a:off x="6062472" y="4846320"/>
            <a:ext cx="2322576" cy="457200"/>
          </a:xfrm>
          <a:prstGeom prst="rect">
            <a:avLst/>
          </a:prstGeom>
          <a:noFill/>
          <a:ln/>
        </p:spPr>
        <p:txBody>
          <a:bodyPr wrap="square" lIns="0" tIns="0" rIns="0" bIns="0" rtlCol="0" anchor="t"/>
          <a:lstStyle/>
          <a:p>
            <a:pPr indent="0" marL="0">
              <a:buNone/>
            </a:pPr>
            <a:r>
              <a:rPr lang="en-US" sz="2000" b="1" dirty="0">
                <a:solidFill>
                  <a:srgbClr val="B8891F"/>
                </a:solidFill>
                <a:latin typeface="Cambria" pitchFamily="34" charset="0"/>
                <a:ea typeface="Cambria" pitchFamily="34" charset="-122"/>
                <a:cs typeface="Cambria" pitchFamily="34" charset="-120"/>
              </a:rPr>
              <a:t>9.48</a:t>
            </a:r>
            <a:endParaRPr lang="en-US" sz="2000" dirty="0"/>
          </a:p>
        </p:txBody>
      </p:sp>
      <p:sp>
        <p:nvSpPr>
          <p:cNvPr id="19" name="Text 15"/>
          <p:cNvSpPr/>
          <p:nvPr/>
        </p:nvSpPr>
        <p:spPr>
          <a:xfrm>
            <a:off x="6062472" y="5285232"/>
            <a:ext cx="232257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Referral rating</a:t>
            </a:r>
            <a:endParaRPr lang="en-US" sz="1200" dirty="0"/>
          </a:p>
        </p:txBody>
      </p:sp>
      <p:sp>
        <p:nvSpPr>
          <p:cNvPr id="20" name="Text 16"/>
          <p:cNvSpPr/>
          <p:nvPr/>
        </p:nvSpPr>
        <p:spPr>
          <a:xfrm>
            <a:off x="6062472" y="5669280"/>
            <a:ext cx="2322576" cy="30175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Up from 9.43 overall</a:t>
            </a:r>
            <a:endParaRPr lang="en-US" sz="1200" dirty="0"/>
          </a:p>
        </p:txBody>
      </p:sp>
      <p:sp>
        <p:nvSpPr>
          <p:cNvPr id="21" name="Shape 17"/>
          <p:cNvSpPr/>
          <p:nvPr/>
        </p:nvSpPr>
        <p:spPr>
          <a:xfrm>
            <a:off x="8595360" y="4736592"/>
            <a:ext cx="3063240" cy="1325880"/>
          </a:xfrm>
          <a:prstGeom prst="roundRect">
            <a:avLst>
              <a:gd name="adj" fmla="val 5517"/>
            </a:avLst>
          </a:prstGeom>
          <a:solidFill>
            <a:srgbClr val="F5F5F2"/>
          </a:solidFill>
          <a:ln w="6350">
            <a:solidFill>
              <a:srgbClr val="E3E6EB"/>
            </a:solidFill>
            <a:prstDash val="solid"/>
          </a:ln>
        </p:spPr>
      </p:sp>
      <p:sp>
        <p:nvSpPr>
          <p:cNvPr id="22" name="Text 18"/>
          <p:cNvSpPr/>
          <p:nvPr/>
        </p:nvSpPr>
        <p:spPr>
          <a:xfrm>
            <a:off x="8759952" y="4846320"/>
            <a:ext cx="2734056" cy="457200"/>
          </a:xfrm>
          <a:prstGeom prst="rect">
            <a:avLst/>
          </a:prstGeom>
          <a:noFill/>
          <a:ln/>
        </p:spPr>
        <p:txBody>
          <a:bodyPr wrap="square" lIns="0" tIns="0" rIns="0" bIns="0" rtlCol="0" anchor="t"/>
          <a:lstStyle/>
          <a:p>
            <a:pPr indent="0" marL="0">
              <a:buNone/>
            </a:pPr>
            <a:r>
              <a:rPr lang="en-US" sz="2000" b="1" dirty="0">
                <a:solidFill>
                  <a:srgbClr val="B85042"/>
                </a:solidFill>
                <a:latin typeface="Cambria" pitchFamily="34" charset="0"/>
                <a:ea typeface="Cambria" pitchFamily="34" charset="-122"/>
                <a:cs typeface="Cambria" pitchFamily="34" charset="-120"/>
              </a:rPr>
              <a:t>0</a:t>
            </a:r>
            <a:endParaRPr lang="en-US" sz="2000" dirty="0"/>
          </a:p>
        </p:txBody>
      </p:sp>
      <p:sp>
        <p:nvSpPr>
          <p:cNvPr id="23" name="Text 19"/>
          <p:cNvSpPr/>
          <p:nvPr/>
        </p:nvSpPr>
        <p:spPr>
          <a:xfrm>
            <a:off x="8759952" y="5285232"/>
            <a:ext cx="2734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"Next workshop" mentions</a:t>
            </a:r>
            <a:endParaRPr lang="en-US" sz="1200" dirty="0"/>
          </a:p>
        </p:txBody>
      </p:sp>
      <p:sp>
        <p:nvSpPr>
          <p:cNvPr id="24" name="Text 20"/>
          <p:cNvSpPr/>
          <p:nvPr/>
        </p:nvSpPr>
        <p:spPr>
          <a:xfrm>
            <a:off x="8759952" y="5669280"/>
            <a:ext cx="2734056" cy="30175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56 overall, none in these two</a:t>
            </a:r>
            <a:endParaRPr lang="en-US" sz="1200" dirty="0"/>
          </a:p>
        </p:txBody>
      </p:sp>
      <p:sp>
        <p:nvSpPr>
          <p:cNvPr id="25" name="Shape 21"/>
          <p:cNvSpPr/>
          <p:nvPr/>
        </p:nvSpPr>
        <p:spPr>
          <a:xfrm>
            <a:off x="502920" y="6172200"/>
            <a:ext cx="11155680" cy="621792"/>
          </a:xfrm>
          <a:prstGeom prst="roundRect">
            <a:avLst>
              <a:gd name="adj" fmla="val 11765"/>
            </a:avLst>
          </a:prstGeom>
          <a:solidFill>
            <a:srgbClr val="F5F5F2"/>
          </a:solidFill>
          <a:ln w="6350">
            <a:solidFill>
              <a:srgbClr val="E3E6EB"/>
            </a:solidFill>
            <a:prstDash val="solid"/>
          </a:ln>
        </p:spPr>
      </p:sp>
      <p:sp>
        <p:nvSpPr>
          <p:cNvPr id="26" name="Text 22"/>
          <p:cNvSpPr/>
          <p:nvPr/>
        </p:nvSpPr>
        <p:spPr>
          <a:xfrm>
            <a:off x="777240" y="6318504"/>
            <a:ext cx="10607040" cy="384048"/>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The clearest read in the report: once the strand's final session passed, nobody asked for a next workshop. A recommendation falling silent on exactly the theme you'd expect, at exactly the point you'd expect it, is a strong sign the filter is behaving correctly.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06 · INTERACTIVITY</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Drill-Through: A Perfect Score Emerges</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sp>
        <p:nvSpPr>
          <p:cNvPr id="5" name="Text 3"/>
          <p:cNvSpPr/>
          <p:nvPr/>
        </p:nvSpPr>
        <p:spPr>
          <a:xfrm>
            <a:off x="502920" y="1298448"/>
            <a:ext cx="5486400" cy="237744"/>
          </a:xfrm>
          <a:prstGeom prst="rect">
            <a:avLst/>
          </a:prstGeom>
          <a:noFill/>
          <a:ln/>
        </p:spPr>
        <p:txBody>
          <a:bodyPr wrap="square" lIns="0" tIns="0" rIns="0" bIns="0" rtlCol="0" anchor="ctr"/>
          <a:lstStyle/>
          <a:p>
            <a:pPr indent="0" marL="0">
              <a:buNone/>
            </a:pPr>
            <a:r>
              <a:rPr lang="en-US" sz="1200" b="1" dirty="0">
                <a:solidFill>
                  <a:srgbClr val="5F6B7A"/>
                </a:solidFill>
                <a:latin typeface="Calibri" pitchFamily="34" charset="0"/>
                <a:ea typeface="Calibri" pitchFamily="34" charset="-122"/>
                <a:cs typeface="Calibri" pitchFamily="34" charset="-120"/>
              </a:rPr>
              <a:t>No filter · 10 attendances</a:t>
            </a:r>
            <a:endParaRPr lang="en-US" sz="1200" dirty="0"/>
          </a:p>
        </p:txBody>
      </p:sp>
      <p:pic>
        <p:nvPicPr>
          <p:cNvPr id="6" name="Image 0" descr="oh_pre.png">    </p:cNvPr>
          <p:cNvPicPr>
            <a:picLocks noChangeAspect="1"/>
          </p:cNvPicPr>
          <p:nvPr/>
        </p:nvPicPr>
        <p:blipFill>
          <a:blip r:embed="rId1"/>
          <a:stretch>
            <a:fillRect/>
          </a:stretch>
        </p:blipFill>
        <p:spPr>
          <a:xfrm>
            <a:off x="502920" y="1554480"/>
            <a:ext cx="5486400" cy="3063240"/>
          </a:xfrm>
          <a:prstGeom prst="rect">
            <a:avLst/>
          </a:prstGeom>
        </p:spPr>
      </p:pic>
      <p:sp>
        <p:nvSpPr>
          <p:cNvPr id="7" name="Text 4"/>
          <p:cNvSpPr/>
          <p:nvPr/>
        </p:nvSpPr>
        <p:spPr>
          <a:xfrm>
            <a:off x="6172200" y="1298448"/>
            <a:ext cx="5486400" cy="237744"/>
          </a:xfrm>
          <a:prstGeom prst="rect">
            <a:avLst/>
          </a:prstGeom>
          <a:noFill/>
          <a:ln/>
        </p:spPr>
        <p:txBody>
          <a:bodyPr wrap="square" lIns="0" tIns="0" rIns="0" bIns="0" rtlCol="0" anchor="ctr"/>
          <a:lstStyle/>
          <a:p>
            <a:pPr indent="0" marL="0">
              <a:buNone/>
            </a:pPr>
            <a:r>
              <a:rPr lang="en-US" sz="1200" b="1" dirty="0">
                <a:solidFill>
                  <a:srgbClr val="7FB2D9"/>
                </a:solidFill>
                <a:latin typeface="Calibri" pitchFamily="34" charset="0"/>
                <a:ea typeface="Calibri" pitchFamily="34" charset="-122"/>
                <a:cs typeface="Calibri" pitchFamily="34" charset="-120"/>
              </a:rPr>
              <a:t>Costumes + villains selected · 6 attendances</a:t>
            </a:r>
            <a:endParaRPr lang="en-US" sz="1200" dirty="0"/>
          </a:p>
        </p:txBody>
      </p:sp>
      <p:pic>
        <p:nvPicPr>
          <p:cNvPr id="8" name="Image 1" descr="oh_post.png">    </p:cNvPr>
          <p:cNvPicPr>
            <a:picLocks noChangeAspect="1"/>
          </p:cNvPicPr>
          <p:nvPr/>
        </p:nvPicPr>
        <p:blipFill>
          <a:blip r:embed="rId2"/>
          <a:stretch>
            <a:fillRect/>
          </a:stretch>
        </p:blipFill>
        <p:spPr>
          <a:xfrm>
            <a:off x="6172200" y="1554480"/>
            <a:ext cx="5486400" cy="3063240"/>
          </a:xfrm>
          <a:prstGeom prst="rect">
            <a:avLst/>
          </a:prstGeom>
        </p:spPr>
      </p:pic>
      <p:sp>
        <p:nvSpPr>
          <p:cNvPr id="9" name="Shape 5"/>
          <p:cNvSpPr/>
          <p:nvPr/>
        </p:nvSpPr>
        <p:spPr>
          <a:xfrm>
            <a:off x="502920" y="4736592"/>
            <a:ext cx="2651760" cy="1325880"/>
          </a:xfrm>
          <a:prstGeom prst="roundRect">
            <a:avLst>
              <a:gd name="adj" fmla="val 5517"/>
            </a:avLst>
          </a:prstGeom>
          <a:solidFill>
            <a:srgbClr val="F5F5F2"/>
          </a:solidFill>
          <a:ln w="6350">
            <a:solidFill>
              <a:srgbClr val="E3E6EB"/>
            </a:solidFill>
            <a:prstDash val="solid"/>
          </a:ln>
        </p:spPr>
      </p:sp>
      <p:sp>
        <p:nvSpPr>
          <p:cNvPr id="10" name="Text 6"/>
          <p:cNvSpPr/>
          <p:nvPr/>
        </p:nvSpPr>
        <p:spPr>
          <a:xfrm>
            <a:off x="667512" y="4846320"/>
            <a:ext cx="2322576" cy="457200"/>
          </a:xfrm>
          <a:prstGeom prst="rect">
            <a:avLst/>
          </a:prstGeom>
          <a:noFill/>
          <a:ln/>
        </p:spPr>
        <p:txBody>
          <a:bodyPr wrap="square" lIns="0" tIns="0" rIns="0" bIns="0" rtlCol="0" anchor="t"/>
          <a:lstStyle/>
          <a:p>
            <a:pPr indent="0" marL="0">
              <a:buNone/>
            </a:pPr>
            <a:r>
              <a:rPr lang="en-US" sz="2000" b="1" dirty="0">
                <a:solidFill>
                  <a:srgbClr val="7FB2D9"/>
                </a:solidFill>
                <a:latin typeface="Cambria" pitchFamily="34" charset="0"/>
                <a:ea typeface="Cambria" pitchFamily="34" charset="-122"/>
                <a:cs typeface="Cambria" pitchFamily="34" charset="-120"/>
              </a:rPr>
              <a:t>6</a:t>
            </a:r>
            <a:endParaRPr lang="en-US" sz="2000" dirty="0"/>
          </a:p>
        </p:txBody>
      </p:sp>
      <p:sp>
        <p:nvSpPr>
          <p:cNvPr id="11" name="Text 7"/>
          <p:cNvSpPr/>
          <p:nvPr/>
        </p:nvSpPr>
        <p:spPr>
          <a:xfrm>
            <a:off x="667512" y="5285232"/>
            <a:ext cx="232257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In this subgroup</a:t>
            </a:r>
            <a:endParaRPr lang="en-US" sz="1200" dirty="0"/>
          </a:p>
        </p:txBody>
      </p:sp>
      <p:sp>
        <p:nvSpPr>
          <p:cNvPr id="12" name="Text 8"/>
          <p:cNvSpPr/>
          <p:nvPr/>
        </p:nvSpPr>
        <p:spPr>
          <a:xfrm>
            <a:off x="667512" y="5669280"/>
            <a:ext cx="2322576" cy="30175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60% of Oral History's 10</a:t>
            </a:r>
            <a:endParaRPr lang="en-US" sz="1200" dirty="0"/>
          </a:p>
        </p:txBody>
      </p:sp>
      <p:sp>
        <p:nvSpPr>
          <p:cNvPr id="13" name="Shape 9"/>
          <p:cNvSpPr/>
          <p:nvPr/>
        </p:nvSpPr>
        <p:spPr>
          <a:xfrm>
            <a:off x="3200400" y="4736592"/>
            <a:ext cx="2651760" cy="1325880"/>
          </a:xfrm>
          <a:prstGeom prst="roundRect">
            <a:avLst>
              <a:gd name="adj" fmla="val 5517"/>
            </a:avLst>
          </a:prstGeom>
          <a:solidFill>
            <a:srgbClr val="F5F5F2"/>
          </a:solidFill>
          <a:ln w="6350">
            <a:solidFill>
              <a:srgbClr val="E3E6EB"/>
            </a:solidFill>
            <a:prstDash val="solid"/>
          </a:ln>
        </p:spPr>
      </p:sp>
      <p:sp>
        <p:nvSpPr>
          <p:cNvPr id="14" name="Text 10"/>
          <p:cNvSpPr/>
          <p:nvPr/>
        </p:nvSpPr>
        <p:spPr>
          <a:xfrm>
            <a:off x="3364992" y="4846320"/>
            <a:ext cx="2322576" cy="457200"/>
          </a:xfrm>
          <a:prstGeom prst="rect">
            <a:avLst/>
          </a:prstGeom>
          <a:noFill/>
          <a:ln/>
        </p:spPr>
        <p:txBody>
          <a:bodyPr wrap="square" lIns="0" tIns="0" rIns="0" bIns="0" rtlCol="0" anchor="t"/>
          <a:lstStyle/>
          <a:p>
            <a:pPr indent="0" marL="0">
              <a:buNone/>
            </a:pPr>
            <a:r>
              <a:rPr lang="en-US" sz="2000" b="1" dirty="0">
                <a:solidFill>
                  <a:srgbClr val="1D2B4F"/>
                </a:solidFill>
                <a:latin typeface="Cambria" pitchFamily="34" charset="0"/>
                <a:ea typeface="Cambria" pitchFamily="34" charset="-122"/>
                <a:cs typeface="Cambria" pitchFamily="34" charset="-120"/>
              </a:rPr>
              <a:t>6</a:t>
            </a:r>
            <a:endParaRPr lang="en-US" sz="2000" dirty="0"/>
          </a:p>
        </p:txBody>
      </p:sp>
      <p:sp>
        <p:nvSpPr>
          <p:cNvPr id="15" name="Text 11"/>
          <p:cNvSpPr/>
          <p:nvPr/>
        </p:nvSpPr>
        <p:spPr>
          <a:xfrm>
            <a:off x="3364992" y="5285232"/>
            <a:ext cx="232257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Unique participants</a:t>
            </a:r>
            <a:endParaRPr lang="en-US" sz="1200" dirty="0"/>
          </a:p>
        </p:txBody>
      </p:sp>
      <p:sp>
        <p:nvSpPr>
          <p:cNvPr id="16" name="Text 12"/>
          <p:cNvSpPr/>
          <p:nvPr/>
        </p:nvSpPr>
        <p:spPr>
          <a:xfrm>
            <a:off x="3364992" y="5669280"/>
            <a:ext cx="2322576" cy="30175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Every one of the six</a:t>
            </a:r>
            <a:endParaRPr lang="en-US" sz="1200" dirty="0"/>
          </a:p>
        </p:txBody>
      </p:sp>
      <p:sp>
        <p:nvSpPr>
          <p:cNvPr id="17" name="Shape 13"/>
          <p:cNvSpPr/>
          <p:nvPr/>
        </p:nvSpPr>
        <p:spPr>
          <a:xfrm>
            <a:off x="5897880" y="4736592"/>
            <a:ext cx="2651760" cy="1325880"/>
          </a:xfrm>
          <a:prstGeom prst="roundRect">
            <a:avLst>
              <a:gd name="adj" fmla="val 5517"/>
            </a:avLst>
          </a:prstGeom>
          <a:solidFill>
            <a:srgbClr val="F5F5F2"/>
          </a:solidFill>
          <a:ln w="6350">
            <a:solidFill>
              <a:srgbClr val="E3E6EB"/>
            </a:solidFill>
            <a:prstDash val="solid"/>
          </a:ln>
        </p:spPr>
      </p:sp>
      <p:sp>
        <p:nvSpPr>
          <p:cNvPr id="18" name="Text 14"/>
          <p:cNvSpPr/>
          <p:nvPr/>
        </p:nvSpPr>
        <p:spPr>
          <a:xfrm>
            <a:off x="6062472" y="4846320"/>
            <a:ext cx="2322576" cy="457200"/>
          </a:xfrm>
          <a:prstGeom prst="rect">
            <a:avLst/>
          </a:prstGeom>
          <a:noFill/>
          <a:ln/>
        </p:spPr>
        <p:txBody>
          <a:bodyPr wrap="square" lIns="0" tIns="0" rIns="0" bIns="0" rtlCol="0" anchor="t"/>
          <a:lstStyle/>
          <a:p>
            <a:pPr indent="0" marL="0">
              <a:buNone/>
            </a:pPr>
            <a:r>
              <a:rPr lang="en-US" sz="2000" b="1" dirty="0">
                <a:solidFill>
                  <a:srgbClr val="B8891F"/>
                </a:solidFill>
                <a:latin typeface="Cambria" pitchFamily="34" charset="0"/>
                <a:ea typeface="Cambria" pitchFamily="34" charset="-122"/>
                <a:cs typeface="Cambria" pitchFamily="34" charset="-120"/>
              </a:rPr>
              <a:t>10.00</a:t>
            </a:r>
            <a:endParaRPr lang="en-US" sz="2000" dirty="0"/>
          </a:p>
        </p:txBody>
      </p:sp>
      <p:sp>
        <p:nvSpPr>
          <p:cNvPr id="19" name="Text 15"/>
          <p:cNvSpPr/>
          <p:nvPr/>
        </p:nvSpPr>
        <p:spPr>
          <a:xfrm>
            <a:off x="6062472" y="5285232"/>
            <a:ext cx="232257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Referral rating</a:t>
            </a:r>
            <a:endParaRPr lang="en-US" sz="1200" dirty="0"/>
          </a:p>
        </p:txBody>
      </p:sp>
      <p:sp>
        <p:nvSpPr>
          <p:cNvPr id="20" name="Text 16"/>
          <p:cNvSpPr/>
          <p:nvPr/>
        </p:nvSpPr>
        <p:spPr>
          <a:xfrm>
            <a:off x="6062472" y="5669280"/>
            <a:ext cx="2322576" cy="30175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Up from 9.80 overall</a:t>
            </a:r>
            <a:endParaRPr lang="en-US" sz="1200" dirty="0"/>
          </a:p>
        </p:txBody>
      </p:sp>
      <p:sp>
        <p:nvSpPr>
          <p:cNvPr id="21" name="Shape 17"/>
          <p:cNvSpPr/>
          <p:nvPr/>
        </p:nvSpPr>
        <p:spPr>
          <a:xfrm>
            <a:off x="8595360" y="4736592"/>
            <a:ext cx="3063240" cy="1325880"/>
          </a:xfrm>
          <a:prstGeom prst="roundRect">
            <a:avLst>
              <a:gd name="adj" fmla="val 5517"/>
            </a:avLst>
          </a:prstGeom>
          <a:solidFill>
            <a:srgbClr val="F5F5F2"/>
          </a:solidFill>
          <a:ln w="6350">
            <a:solidFill>
              <a:srgbClr val="E3E6EB"/>
            </a:solidFill>
            <a:prstDash val="solid"/>
          </a:ln>
        </p:spPr>
      </p:sp>
      <p:sp>
        <p:nvSpPr>
          <p:cNvPr id="22" name="Text 18"/>
          <p:cNvSpPr/>
          <p:nvPr/>
        </p:nvSpPr>
        <p:spPr>
          <a:xfrm>
            <a:off x="8759952" y="4846320"/>
            <a:ext cx="2734056" cy="457200"/>
          </a:xfrm>
          <a:prstGeom prst="rect">
            <a:avLst/>
          </a:prstGeom>
          <a:noFill/>
          <a:ln/>
        </p:spPr>
        <p:txBody>
          <a:bodyPr wrap="square" lIns="0" tIns="0" rIns="0" bIns="0" rtlCol="0" anchor="t"/>
          <a:lstStyle/>
          <a:p>
            <a:pPr indent="0" marL="0">
              <a:buNone/>
            </a:pPr>
            <a:r>
              <a:rPr lang="en-US" sz="2000" b="1" dirty="0">
                <a:solidFill>
                  <a:srgbClr val="1D2B4F"/>
                </a:solidFill>
                <a:latin typeface="Cambria" pitchFamily="34" charset="0"/>
                <a:ea typeface="Cambria" pitchFamily="34" charset="-122"/>
                <a:cs typeface="Cambria" pitchFamily="34" charset="-120"/>
              </a:rPr>
              <a:t>2</a:t>
            </a:r>
            <a:endParaRPr lang="en-US" sz="2000" dirty="0"/>
          </a:p>
        </p:txBody>
      </p:sp>
      <p:sp>
        <p:nvSpPr>
          <p:cNvPr id="23" name="Text 19"/>
          <p:cNvSpPr/>
          <p:nvPr/>
        </p:nvSpPr>
        <p:spPr>
          <a:xfrm>
            <a:off x="8759952" y="5285232"/>
            <a:ext cx="2734056" cy="365760"/>
          </a:xfrm>
          <a:prstGeom prst="rect">
            <a:avLst/>
          </a:prstGeom>
          <a:noFill/>
          <a:ln/>
        </p:spPr>
        <p:txBody>
          <a:bodyPr wrap="square" lIns="0" tIns="0" rIns="0" bIns="0" rtlCol="0" anchor="t"/>
          <a:lstStyle/>
          <a:p>
            <a:pPr indent="0" marL="0">
              <a:lnSpc>
                <a:spcPts val="1400"/>
              </a:lnSpc>
              <a:buNone/>
            </a:pPr>
            <a:r>
              <a:rPr lang="en-US" sz="1200" b="1" dirty="0">
                <a:solidFill>
                  <a:srgbClr val="1D2B4F"/>
                </a:solidFill>
                <a:latin typeface="Calibri" pitchFamily="34" charset="0"/>
                <a:ea typeface="Calibri" pitchFamily="34" charset="-122"/>
                <a:cs typeface="Calibri" pitchFamily="34" charset="-120"/>
              </a:rPr>
              <a:t>Themes selected</a:t>
            </a:r>
            <a:endParaRPr lang="en-US" sz="1200" dirty="0"/>
          </a:p>
        </p:txBody>
      </p:sp>
      <p:sp>
        <p:nvSpPr>
          <p:cNvPr id="24" name="Text 20"/>
          <p:cNvSpPr/>
          <p:nvPr/>
        </p:nvSpPr>
        <p:spPr>
          <a:xfrm>
            <a:off x="8759952" y="5669280"/>
            <a:ext cx="2734056" cy="301752"/>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Costumes and villain stories</a:t>
            </a:r>
            <a:endParaRPr lang="en-US" sz="1200" dirty="0"/>
          </a:p>
        </p:txBody>
      </p:sp>
      <p:sp>
        <p:nvSpPr>
          <p:cNvPr id="25" name="Shape 21"/>
          <p:cNvSpPr/>
          <p:nvPr/>
        </p:nvSpPr>
        <p:spPr>
          <a:xfrm>
            <a:off x="502920" y="6172200"/>
            <a:ext cx="11155680" cy="621792"/>
          </a:xfrm>
          <a:prstGeom prst="roundRect">
            <a:avLst>
              <a:gd name="adj" fmla="val 11765"/>
            </a:avLst>
          </a:prstGeom>
          <a:solidFill>
            <a:srgbClr val="F5F5F2"/>
          </a:solidFill>
          <a:ln w="6350">
            <a:solidFill>
              <a:srgbClr val="E3E6EB"/>
            </a:solidFill>
            <a:prstDash val="solid"/>
          </a:ln>
        </p:spPr>
      </p:sp>
      <p:sp>
        <p:nvSpPr>
          <p:cNvPr id="26" name="Text 22"/>
          <p:cNvSpPr/>
          <p:nvPr/>
        </p:nvSpPr>
        <p:spPr>
          <a:xfrm>
            <a:off x="777240" y="6318504"/>
            <a:ext cx="10607040" cy="384048"/>
          </a:xfrm>
          <a:prstGeom prst="rect">
            <a:avLst/>
          </a:prstGeom>
          <a:noFill/>
          <a:ln/>
        </p:spPr>
        <p:txBody>
          <a:bodyPr wrap="square" lIns="0" tIns="0" rIns="0" bIns="0" rtlCol="0" anchor="t"/>
          <a:lstStyle/>
          <a:p>
            <a:pPr indent="0" marL="0">
              <a:lnSpc>
                <a:spcPts val="1500"/>
              </a:lnSpc>
              <a:buNone/>
            </a:pPr>
            <a:r>
              <a:rPr lang="en-US" sz="1200" dirty="0">
                <a:solidFill>
                  <a:srgbClr val="5F6B7A"/>
                </a:solidFill>
                <a:latin typeface="Calibri" pitchFamily="34" charset="0"/>
                <a:ea typeface="Calibri" pitchFamily="34" charset="-122"/>
                <a:cs typeface="Calibri" pitchFamily="34" charset="-120"/>
              </a:rPr>
              <a:t>Every participant who asked for more costumes or villain stories gave a perfect score; the four who asked for more hero stories are the only reason the strand average sits below 10. With a base this small the pattern is suggestive, not conclusive — a thread worth a follow-up question, not a settled finding.</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06 · INTERACTIVITY</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Two Interaction Mechanisms, One Coherent Report</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sp>
        <p:nvSpPr>
          <p:cNvPr id="5" name="Shape 3"/>
          <p:cNvSpPr/>
          <p:nvPr/>
        </p:nvSpPr>
        <p:spPr>
          <a:xfrm>
            <a:off x="502920" y="1463040"/>
            <a:ext cx="5394960" cy="1783080"/>
          </a:xfrm>
          <a:prstGeom prst="roundRect">
            <a:avLst>
              <a:gd name="adj" fmla="val 4103"/>
            </a:avLst>
          </a:prstGeom>
          <a:solidFill>
            <a:srgbClr val="F5F5F2"/>
          </a:solidFill>
          <a:ln w="6350">
            <a:solidFill>
              <a:srgbClr val="E3E6EB"/>
            </a:solidFill>
            <a:prstDash val="solid"/>
          </a:ln>
        </p:spPr>
      </p:sp>
      <p:sp>
        <p:nvSpPr>
          <p:cNvPr id="6" name="Shape 4"/>
          <p:cNvSpPr/>
          <p:nvPr/>
        </p:nvSpPr>
        <p:spPr>
          <a:xfrm>
            <a:off x="758952" y="1700784"/>
            <a:ext cx="310896" cy="310896"/>
          </a:xfrm>
          <a:prstGeom prst="ellipse">
            <a:avLst/>
          </a:prstGeom>
          <a:solidFill>
            <a:srgbClr val="B8891F"/>
          </a:solidFill>
          <a:ln/>
        </p:spPr>
      </p:sp>
      <p:sp>
        <p:nvSpPr>
          <p:cNvPr id="7" name="Text 5"/>
          <p:cNvSpPr/>
          <p:nvPr/>
        </p:nvSpPr>
        <p:spPr>
          <a:xfrm>
            <a:off x="1280160" y="1645920"/>
            <a:ext cx="4434840" cy="411480"/>
          </a:xfrm>
          <a:prstGeom prst="rect">
            <a:avLst/>
          </a:prstGeom>
          <a:noFill/>
          <a:ln/>
        </p:spPr>
        <p:txBody>
          <a:bodyPr wrap="square" lIns="0" tIns="0" rIns="0" bIns="0" rtlCol="0" anchor="t"/>
          <a:lstStyle/>
          <a:p>
            <a:pPr indent="0" marL="0">
              <a:buNone/>
            </a:pPr>
            <a:r>
              <a:rPr lang="en-US" sz="1350" b="1" dirty="0">
                <a:solidFill>
                  <a:srgbClr val="1D2B4F"/>
                </a:solidFill>
                <a:latin typeface="Calibri" pitchFamily="34" charset="0"/>
                <a:ea typeface="Calibri" pitchFamily="34" charset="-122"/>
                <a:cs typeface="Calibri" pitchFamily="34" charset="-120"/>
              </a:rPr>
              <a:t>Cross-filtering</a:t>
            </a:r>
            <a:endParaRPr lang="en-US" sz="1350" dirty="0"/>
          </a:p>
        </p:txBody>
      </p:sp>
      <p:sp>
        <p:nvSpPr>
          <p:cNvPr id="8" name="Text 6"/>
          <p:cNvSpPr/>
          <p:nvPr/>
        </p:nvSpPr>
        <p:spPr>
          <a:xfrm>
            <a:off x="822960" y="2121408"/>
            <a:ext cx="4754880" cy="100584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Clicking any element on a page filters every other visual on that page instantly, with no navigation required. Demonstrated by selecting each of the three strands on the Summary page in turn.</a:t>
            </a:r>
            <a:endParaRPr lang="en-US" sz="1200" dirty="0"/>
          </a:p>
        </p:txBody>
      </p:sp>
      <p:sp>
        <p:nvSpPr>
          <p:cNvPr id="9" name="Shape 7"/>
          <p:cNvSpPr/>
          <p:nvPr/>
        </p:nvSpPr>
        <p:spPr>
          <a:xfrm>
            <a:off x="6263640" y="1463040"/>
            <a:ext cx="5394960" cy="1783080"/>
          </a:xfrm>
          <a:prstGeom prst="roundRect">
            <a:avLst>
              <a:gd name="adj" fmla="val 4103"/>
            </a:avLst>
          </a:prstGeom>
          <a:solidFill>
            <a:srgbClr val="F5F5F2"/>
          </a:solidFill>
          <a:ln w="6350">
            <a:solidFill>
              <a:srgbClr val="E3E6EB"/>
            </a:solidFill>
            <a:prstDash val="solid"/>
          </a:ln>
        </p:spPr>
      </p:sp>
      <p:sp>
        <p:nvSpPr>
          <p:cNvPr id="10" name="Shape 8"/>
          <p:cNvSpPr/>
          <p:nvPr/>
        </p:nvSpPr>
        <p:spPr>
          <a:xfrm>
            <a:off x="6519672" y="1700784"/>
            <a:ext cx="310896" cy="310896"/>
          </a:xfrm>
          <a:prstGeom prst="ellipse">
            <a:avLst/>
          </a:prstGeom>
          <a:solidFill>
            <a:srgbClr val="1D2B4F"/>
          </a:solidFill>
          <a:ln/>
        </p:spPr>
      </p:sp>
      <p:sp>
        <p:nvSpPr>
          <p:cNvPr id="11" name="Text 9"/>
          <p:cNvSpPr/>
          <p:nvPr/>
        </p:nvSpPr>
        <p:spPr>
          <a:xfrm>
            <a:off x="7040880" y="1645920"/>
            <a:ext cx="4434840" cy="411480"/>
          </a:xfrm>
          <a:prstGeom prst="rect">
            <a:avLst/>
          </a:prstGeom>
          <a:noFill/>
          <a:ln/>
        </p:spPr>
        <p:txBody>
          <a:bodyPr wrap="square" lIns="0" tIns="0" rIns="0" bIns="0" rtlCol="0" anchor="t"/>
          <a:lstStyle/>
          <a:p>
            <a:pPr indent="0" marL="0">
              <a:buNone/>
            </a:pPr>
            <a:r>
              <a:rPr lang="en-US" sz="1350" b="1" dirty="0">
                <a:solidFill>
                  <a:srgbClr val="1D2B4F"/>
                </a:solidFill>
                <a:latin typeface="Calibri" pitchFamily="34" charset="0"/>
                <a:ea typeface="Calibri" pitchFamily="34" charset="-122"/>
                <a:cs typeface="Calibri" pitchFamily="34" charset="-120"/>
              </a:rPr>
              <a:t>Drill-through</a:t>
            </a:r>
            <a:endParaRPr lang="en-US" sz="1350" dirty="0"/>
          </a:p>
        </p:txBody>
      </p:sp>
      <p:sp>
        <p:nvSpPr>
          <p:cNvPr id="12" name="Text 10"/>
          <p:cNvSpPr/>
          <p:nvPr/>
        </p:nvSpPr>
        <p:spPr>
          <a:xfrm>
            <a:off x="6583680" y="2121408"/>
            <a:ext cx="4754880" cy="100584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The left-hand navigation moves to a dedicated page per strand, retaining the same chart types but scoped to that strand's own data, colour and referral score.</a:t>
            </a:r>
            <a:endParaRPr lang="en-US" sz="1200" dirty="0"/>
          </a:p>
        </p:txBody>
      </p:sp>
      <p:sp>
        <p:nvSpPr>
          <p:cNvPr id="13" name="Shape 11"/>
          <p:cNvSpPr/>
          <p:nvPr/>
        </p:nvSpPr>
        <p:spPr>
          <a:xfrm>
            <a:off x="502920" y="3429000"/>
            <a:ext cx="5394960" cy="1783080"/>
          </a:xfrm>
          <a:prstGeom prst="roundRect">
            <a:avLst>
              <a:gd name="adj" fmla="val 4103"/>
            </a:avLst>
          </a:prstGeom>
          <a:solidFill>
            <a:srgbClr val="F5F5F2"/>
          </a:solidFill>
          <a:ln w="6350">
            <a:solidFill>
              <a:srgbClr val="E3E6EB"/>
            </a:solidFill>
            <a:prstDash val="solid"/>
          </a:ln>
        </p:spPr>
      </p:sp>
      <p:sp>
        <p:nvSpPr>
          <p:cNvPr id="14" name="Shape 12"/>
          <p:cNvSpPr/>
          <p:nvPr/>
        </p:nvSpPr>
        <p:spPr>
          <a:xfrm>
            <a:off x="758952" y="3666744"/>
            <a:ext cx="310896" cy="310896"/>
          </a:xfrm>
          <a:prstGeom prst="ellipse">
            <a:avLst/>
          </a:prstGeom>
          <a:solidFill>
            <a:srgbClr val="6FA287"/>
          </a:solidFill>
          <a:ln/>
        </p:spPr>
      </p:sp>
      <p:sp>
        <p:nvSpPr>
          <p:cNvPr id="15" name="Text 13"/>
          <p:cNvSpPr/>
          <p:nvPr/>
        </p:nvSpPr>
        <p:spPr>
          <a:xfrm>
            <a:off x="1280160" y="3611880"/>
            <a:ext cx="4434840" cy="411480"/>
          </a:xfrm>
          <a:prstGeom prst="rect">
            <a:avLst/>
          </a:prstGeom>
          <a:noFill/>
          <a:ln/>
        </p:spPr>
        <p:txBody>
          <a:bodyPr wrap="square" lIns="0" tIns="0" rIns="0" bIns="0" rtlCol="0" anchor="t"/>
          <a:lstStyle/>
          <a:p>
            <a:pPr indent="0" marL="0">
              <a:buNone/>
            </a:pPr>
            <a:r>
              <a:rPr lang="en-US" sz="1350" b="1" dirty="0">
                <a:solidFill>
                  <a:srgbClr val="1D2B4F"/>
                </a:solidFill>
                <a:latin typeface="Calibri" pitchFamily="34" charset="0"/>
                <a:ea typeface="Calibri" pitchFamily="34" charset="-122"/>
                <a:cs typeface="Calibri" pitchFamily="34" charset="-120"/>
              </a:rPr>
              <a:t>Compounding filters</a:t>
            </a:r>
            <a:endParaRPr lang="en-US" sz="1350" dirty="0"/>
          </a:p>
        </p:txBody>
      </p:sp>
      <p:sp>
        <p:nvSpPr>
          <p:cNvPr id="16" name="Text 14"/>
          <p:cNvSpPr/>
          <p:nvPr/>
        </p:nvSpPr>
        <p:spPr>
          <a:xfrm>
            <a:off x="822960" y="4087368"/>
            <a:ext cx="4754880" cy="100584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The two mechanisms stack: a strand page can itself be cross-filtered further, as shown by selecting a single recommendation in Rehearsal and a specific pair of sessions in Storytelling.</a:t>
            </a:r>
            <a:endParaRPr lang="en-US" sz="1200" dirty="0"/>
          </a:p>
        </p:txBody>
      </p:sp>
      <p:sp>
        <p:nvSpPr>
          <p:cNvPr id="17" name="Shape 15"/>
          <p:cNvSpPr/>
          <p:nvPr/>
        </p:nvSpPr>
        <p:spPr>
          <a:xfrm>
            <a:off x="6263640" y="3429000"/>
            <a:ext cx="5394960" cy="1783080"/>
          </a:xfrm>
          <a:prstGeom prst="roundRect">
            <a:avLst>
              <a:gd name="adj" fmla="val 4103"/>
            </a:avLst>
          </a:prstGeom>
          <a:solidFill>
            <a:srgbClr val="F5F5F2"/>
          </a:solidFill>
          <a:ln w="6350">
            <a:solidFill>
              <a:srgbClr val="E3E6EB"/>
            </a:solidFill>
            <a:prstDash val="solid"/>
          </a:ln>
        </p:spPr>
      </p:sp>
      <p:sp>
        <p:nvSpPr>
          <p:cNvPr id="18" name="Shape 16"/>
          <p:cNvSpPr/>
          <p:nvPr/>
        </p:nvSpPr>
        <p:spPr>
          <a:xfrm>
            <a:off x="6519672" y="3666744"/>
            <a:ext cx="310896" cy="310896"/>
          </a:xfrm>
          <a:prstGeom prst="ellipse">
            <a:avLst/>
          </a:prstGeom>
          <a:solidFill>
            <a:srgbClr val="B85042"/>
          </a:solidFill>
          <a:ln/>
        </p:spPr>
      </p:sp>
      <p:sp>
        <p:nvSpPr>
          <p:cNvPr id="19" name="Text 17"/>
          <p:cNvSpPr/>
          <p:nvPr/>
        </p:nvSpPr>
        <p:spPr>
          <a:xfrm>
            <a:off x="7040880" y="3611880"/>
            <a:ext cx="4434840" cy="411480"/>
          </a:xfrm>
          <a:prstGeom prst="rect">
            <a:avLst/>
          </a:prstGeom>
          <a:noFill/>
          <a:ln/>
        </p:spPr>
        <p:txBody>
          <a:bodyPr wrap="square" lIns="0" tIns="0" rIns="0" bIns="0" rtlCol="0" anchor="t"/>
          <a:lstStyle/>
          <a:p>
            <a:pPr indent="0" marL="0">
              <a:buNone/>
            </a:pPr>
            <a:r>
              <a:rPr lang="en-US" sz="1350" b="1" dirty="0">
                <a:solidFill>
                  <a:srgbClr val="1D2B4F"/>
                </a:solidFill>
                <a:latin typeface="Calibri" pitchFamily="34" charset="0"/>
                <a:ea typeface="Calibri" pitchFamily="34" charset="-122"/>
                <a:cs typeface="Calibri" pitchFamily="34" charset="-120"/>
              </a:rPr>
              <a:t>Reading small subgroups carefully</a:t>
            </a:r>
            <a:endParaRPr lang="en-US" sz="1350" dirty="0"/>
          </a:p>
        </p:txBody>
      </p:sp>
      <p:sp>
        <p:nvSpPr>
          <p:cNvPr id="20" name="Text 18"/>
          <p:cNvSpPr/>
          <p:nvPr/>
        </p:nvSpPr>
        <p:spPr>
          <a:xfrm>
            <a:off x="6583680" y="4087368"/>
            <a:ext cx="4754880" cy="1005840"/>
          </a:xfrm>
          <a:prstGeom prst="rect">
            <a:avLst/>
          </a:prstGeom>
          <a:noFill/>
          <a:ln/>
        </p:spPr>
        <p:txBody>
          <a:bodyPr wrap="square" lIns="0" tIns="0" rIns="0" bIns="0" rtlCol="0" anchor="t"/>
          <a:lstStyle/>
          <a:p>
            <a:pPr indent="0" marL="0">
              <a:lnSpc>
                <a:spcPts val="1400"/>
              </a:lnSpc>
              <a:buNone/>
            </a:pPr>
            <a:r>
              <a:rPr lang="en-US" sz="1200" dirty="0">
                <a:solidFill>
                  <a:srgbClr val="5F6B7A"/>
                </a:solidFill>
                <a:latin typeface="Calibri" pitchFamily="34" charset="0"/>
                <a:ea typeface="Calibri" pitchFamily="34" charset="-122"/>
                <a:cs typeface="Calibri" pitchFamily="34" charset="-120"/>
              </a:rPr>
              <a:t>Oral History's filtered views represent as few as six people. Patterns they show — a perfect referral score, for instance — are worth noting and following up, not treating as statistically settled.</a:t>
            </a:r>
            <a:endParaRPr lang="en-US" sz="1200" dirty="0"/>
          </a:p>
        </p:txBody>
      </p:sp>
      <p:sp>
        <p:nvSpPr>
          <p:cNvPr id="21" name="Text 19"/>
          <p:cNvSpPr/>
          <p:nvPr/>
        </p:nvSpPr>
        <p:spPr>
          <a:xfrm>
            <a:off x="502920" y="5532120"/>
            <a:ext cx="11155680" cy="320040"/>
          </a:xfrm>
          <a:prstGeom prst="rect">
            <a:avLst/>
          </a:prstGeom>
          <a:noFill/>
          <a:ln/>
        </p:spPr>
        <p:txBody>
          <a:bodyPr wrap="square" lIns="0" tIns="0" rIns="0" bIns="0" rtlCol="0" anchor="ctr"/>
          <a:lstStyle/>
          <a:p>
            <a:pPr indent="0" marL="0">
              <a:buNone/>
            </a:pPr>
            <a:r>
              <a:rPr lang="en-US" sz="1200" i="1" dirty="0">
                <a:solidFill>
                  <a:srgbClr val="5F6B7A"/>
                </a:solidFill>
                <a:latin typeface="Calibri" pitchFamily="34" charset="0"/>
                <a:ea typeface="Calibri" pitchFamily="34" charset="-122"/>
                <a:cs typeface="Calibri" pitchFamily="34" charset="-120"/>
              </a:rPr>
              <a:t>Every screenshot in this section was captured live from the published Power BI report; no figure here was recreated or estimated.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indent="0" marL="0">
              <a:buNone/>
            </a:pPr>
            <a:r>
              <a:rPr lang="en-US" sz="1200" b="1" spc="200" kern="0" dirty="0">
                <a:solidFill>
                  <a:srgbClr val="B8891F"/>
                </a:solidFill>
                <a:latin typeface="Calibri" pitchFamily="34" charset="0"/>
                <a:ea typeface="Calibri" pitchFamily="34" charset="-122"/>
                <a:cs typeface="Calibri" pitchFamily="34" charset="-120"/>
              </a:rPr>
              <a:t>07 · WHAT NEXT</a:t>
            </a:r>
            <a:endParaRPr lang="en-US" sz="12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000" b="1" dirty="0">
                <a:solidFill>
                  <a:srgbClr val="1D2B4F"/>
                </a:solidFill>
                <a:latin typeface="Cambria" pitchFamily="34" charset="0"/>
                <a:ea typeface="Cambria" pitchFamily="34" charset="-122"/>
                <a:cs typeface="Cambria" pitchFamily="34" charset="-120"/>
              </a:rPr>
              <a:t>Recommendations</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algn="r" indent="0" marL="0">
              <a:buNone/>
            </a:pPr>
            <a:r>
              <a:rPr lang="en-US" sz="1200" dirty="0">
                <a:solidFill>
                  <a:srgbClr val="5F6B7A"/>
                </a:solidFill>
                <a:latin typeface="Calibri" pitchFamily="34" charset="0"/>
                <a:ea typeface="Calibri" pitchFamily="34" charset="-122"/>
                <a:cs typeface="Calibri" pitchFamily="34" charset="-120"/>
              </a:rPr>
              <a:t>Project Vogue</a:t>
            </a:r>
            <a:endParaRPr lang="en-US" sz="1200" dirty="0"/>
          </a:p>
        </p:txBody>
      </p:sp>
      <p:sp>
        <p:nvSpPr>
          <p:cNvPr id="5" name="Shape 3"/>
          <p:cNvSpPr/>
          <p:nvPr/>
        </p:nvSpPr>
        <p:spPr>
          <a:xfrm>
            <a:off x="502920" y="1463040"/>
            <a:ext cx="5394960" cy="2148840"/>
          </a:xfrm>
          <a:prstGeom prst="roundRect">
            <a:avLst>
              <a:gd name="adj" fmla="val 3404"/>
            </a:avLst>
          </a:prstGeom>
          <a:solidFill>
            <a:srgbClr val="F5F5F2"/>
          </a:solidFill>
          <a:ln w="6350">
            <a:solidFill>
              <a:srgbClr val="E3E6EB"/>
            </a:solidFill>
            <a:prstDash val="solid"/>
          </a:ln>
        </p:spPr>
      </p:sp>
      <p:sp>
        <p:nvSpPr>
          <p:cNvPr id="6" name="Shape 4"/>
          <p:cNvSpPr/>
          <p:nvPr/>
        </p:nvSpPr>
        <p:spPr>
          <a:xfrm>
            <a:off x="731520" y="1664208"/>
            <a:ext cx="411480" cy="411480"/>
          </a:xfrm>
          <a:prstGeom prst="ellipse">
            <a:avLst/>
          </a:prstGeom>
          <a:solidFill>
            <a:srgbClr val="B85042"/>
          </a:solidFill>
          <a:ln/>
        </p:spPr>
      </p:sp>
      <p:sp>
        <p:nvSpPr>
          <p:cNvPr id="7" name="Text 5"/>
          <p:cNvSpPr/>
          <p:nvPr/>
        </p:nvSpPr>
        <p:spPr>
          <a:xfrm>
            <a:off x="731520" y="1746504"/>
            <a:ext cx="4114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1280160" y="1719072"/>
            <a:ext cx="4434840" cy="320040"/>
          </a:xfrm>
          <a:prstGeom prst="rect">
            <a:avLst/>
          </a:prstGeom>
          <a:noFill/>
          <a:ln/>
        </p:spPr>
        <p:txBody>
          <a:bodyPr wrap="square" lIns="0" tIns="0" rIns="0" bIns="0" rtlCol="0" anchor="ctr"/>
          <a:lstStyle/>
          <a:p>
            <a:pPr indent="0" marL="0">
              <a:buNone/>
            </a:pPr>
            <a:r>
              <a:rPr lang="en-US" sz="1300" b="1" dirty="0">
                <a:solidFill>
                  <a:srgbClr val="1D2B4F"/>
                </a:solidFill>
                <a:latin typeface="Calibri" pitchFamily="34" charset="0"/>
                <a:ea typeface="Calibri" pitchFamily="34" charset="-122"/>
                <a:cs typeface="Calibri" pitchFamily="34" charset="-120"/>
              </a:rPr>
              <a:t>Follow up the single-visit group</a:t>
            </a:r>
            <a:endParaRPr lang="en-US" sz="1300" dirty="0"/>
          </a:p>
        </p:txBody>
      </p:sp>
      <p:sp>
        <p:nvSpPr>
          <p:cNvPr id="9" name="Text 7"/>
          <p:cNvSpPr/>
          <p:nvPr/>
        </p:nvSpPr>
        <p:spPr>
          <a:xfrm>
            <a:off x="795528" y="2148840"/>
            <a:ext cx="4864608" cy="137160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200" dirty="0">
                <a:solidFill>
                  <a:srgbClr val="5F6B7A"/>
                </a:solidFill>
                <a:latin typeface="Calibri" pitchFamily="34" charset="0"/>
                <a:ea typeface="Calibri" pitchFamily="34" charset="-122"/>
                <a:cs typeface="Calibri" pitchFamily="34" charset="-120"/>
              </a:rPr>
              <a:t>17 participants attended exactly once; contact them to establish why they did not return</a:t>
            </a:r>
            <a:endParaRPr lang="en-US" sz="1200" dirty="0"/>
          </a:p>
          <a:p>
            <a:pPr marL="342900" indent="-342900">
              <a:lnSpc>
                <a:spcPts val="1400"/>
              </a:lnSpc>
              <a:spcAft>
                <a:spcPts val="500"/>
              </a:spcAft>
              <a:buSzPct val="100000"/>
              <a:buChar char="•"/>
            </a:pPr>
            <a:r>
              <a:rPr lang="en-US" sz="1200" dirty="0">
                <a:solidFill>
                  <a:srgbClr val="5F6B7A"/>
                </a:solidFill>
                <a:latin typeface="Calibri" pitchFamily="34" charset="0"/>
                <a:ea typeface="Calibri" pitchFamily="34" charset="-122"/>
                <a:cs typeface="Calibri" pitchFamily="34" charset="-120"/>
              </a:rPr>
              <a:t>Their absence from the feedback pool is why the 9.45 rating should carry a caveat</a:t>
            </a:r>
            <a:endParaRPr lang="en-US" sz="1200" dirty="0"/>
          </a:p>
          <a:p>
            <a:pPr marL="342900" indent="-342900">
              <a:lnSpc>
                <a:spcPts val="1400"/>
              </a:lnSpc>
              <a:spcAft>
                <a:spcPts val="500"/>
              </a:spcAft>
              <a:buSzPct val="100000"/>
              <a:buChar char="•"/>
            </a:pPr>
            <a:r>
              <a:rPr lang="en-US" sz="1200" dirty="0">
                <a:solidFill>
                  <a:srgbClr val="5F6B7A"/>
                </a:solidFill>
                <a:latin typeface="Calibri" pitchFamily="34" charset="0"/>
                <a:ea typeface="Calibri" pitchFamily="34" charset="-122"/>
                <a:cs typeface="Calibri" pitchFamily="34" charset="-120"/>
              </a:rPr>
              <a:t>This is the highest-value unanswered question in the dataset</a:t>
            </a:r>
            <a:endParaRPr lang="en-US" sz="1200" dirty="0"/>
          </a:p>
        </p:txBody>
      </p:sp>
      <p:sp>
        <p:nvSpPr>
          <p:cNvPr id="10" name="Shape 8"/>
          <p:cNvSpPr/>
          <p:nvPr/>
        </p:nvSpPr>
        <p:spPr>
          <a:xfrm>
            <a:off x="6263640" y="1463040"/>
            <a:ext cx="5394960" cy="2148840"/>
          </a:xfrm>
          <a:prstGeom prst="roundRect">
            <a:avLst>
              <a:gd name="adj" fmla="val 3404"/>
            </a:avLst>
          </a:prstGeom>
          <a:solidFill>
            <a:srgbClr val="F5F5F2"/>
          </a:solidFill>
          <a:ln w="6350">
            <a:solidFill>
              <a:srgbClr val="E3E6EB"/>
            </a:solidFill>
            <a:prstDash val="solid"/>
          </a:ln>
        </p:spPr>
      </p:sp>
      <p:sp>
        <p:nvSpPr>
          <p:cNvPr id="11" name="Shape 9"/>
          <p:cNvSpPr/>
          <p:nvPr/>
        </p:nvSpPr>
        <p:spPr>
          <a:xfrm>
            <a:off x="6492240" y="1664208"/>
            <a:ext cx="411480" cy="411480"/>
          </a:xfrm>
          <a:prstGeom prst="ellipse">
            <a:avLst/>
          </a:prstGeom>
          <a:solidFill>
            <a:srgbClr val="7FB2D9"/>
          </a:solidFill>
          <a:ln/>
        </p:spPr>
      </p:sp>
      <p:sp>
        <p:nvSpPr>
          <p:cNvPr id="12" name="Text 10"/>
          <p:cNvSpPr/>
          <p:nvPr/>
        </p:nvSpPr>
        <p:spPr>
          <a:xfrm>
            <a:off x="6492240" y="1746504"/>
            <a:ext cx="4114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7040880" y="1719072"/>
            <a:ext cx="4434840" cy="320040"/>
          </a:xfrm>
          <a:prstGeom prst="rect">
            <a:avLst/>
          </a:prstGeom>
          <a:noFill/>
          <a:ln/>
        </p:spPr>
        <p:txBody>
          <a:bodyPr wrap="square" lIns="0" tIns="0" rIns="0" bIns="0" rtlCol="0" anchor="ctr"/>
          <a:lstStyle/>
          <a:p>
            <a:pPr indent="0" marL="0">
              <a:buNone/>
            </a:pPr>
            <a:r>
              <a:rPr lang="en-US" sz="1300" b="1" dirty="0">
                <a:solidFill>
                  <a:srgbClr val="1D2B4F"/>
                </a:solidFill>
                <a:latin typeface="Calibri" pitchFamily="34" charset="0"/>
                <a:ea typeface="Calibri" pitchFamily="34" charset="-122"/>
                <a:cs typeface="Calibri" pitchFamily="34" charset="-120"/>
              </a:rPr>
              <a:t>Scale Oral History deliberately</a:t>
            </a:r>
            <a:endParaRPr lang="en-US" sz="1300" dirty="0"/>
          </a:p>
        </p:txBody>
      </p:sp>
      <p:sp>
        <p:nvSpPr>
          <p:cNvPr id="14" name="Text 12"/>
          <p:cNvSpPr/>
          <p:nvPr/>
        </p:nvSpPr>
        <p:spPr>
          <a:xfrm>
            <a:off x="6556248" y="2148840"/>
            <a:ext cx="4864608" cy="137160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200" dirty="0">
                <a:solidFill>
                  <a:srgbClr val="5F6B7A"/>
                </a:solidFill>
                <a:latin typeface="Calibri" pitchFamily="34" charset="0"/>
                <a:ea typeface="Calibri" pitchFamily="34" charset="-122"/>
                <a:cs typeface="Calibri" pitchFamily="34" charset="-120"/>
              </a:rPr>
              <a:t>One session and 10 attendees is a pilot, not a strand; its 9.80 rating is encouraging but rests on a very small base</a:t>
            </a:r>
            <a:endParaRPr lang="en-US" sz="1200" dirty="0"/>
          </a:p>
          <a:p>
            <a:pPr marL="342900" indent="-342900">
              <a:lnSpc>
                <a:spcPts val="1400"/>
              </a:lnSpc>
              <a:spcAft>
                <a:spcPts val="500"/>
              </a:spcAft>
              <a:buSzPct val="100000"/>
              <a:buChar char="•"/>
            </a:pPr>
            <a:r>
              <a:rPr lang="en-US" sz="1200" dirty="0">
                <a:solidFill>
                  <a:srgbClr val="5F6B7A"/>
                </a:solidFill>
                <a:latin typeface="Calibri" pitchFamily="34" charset="0"/>
                <a:ea typeface="Calibri" pitchFamily="34" charset="-122"/>
                <a:cs typeface="Calibri" pitchFamily="34" charset="-120"/>
              </a:rPr>
              <a:t>Schedule three to four further sessions before drawing any conclusion about demand</a:t>
            </a:r>
            <a:endParaRPr lang="en-US" sz="1200" dirty="0"/>
          </a:p>
        </p:txBody>
      </p:sp>
      <p:sp>
        <p:nvSpPr>
          <p:cNvPr id="15" name="Shape 13"/>
          <p:cNvSpPr/>
          <p:nvPr/>
        </p:nvSpPr>
        <p:spPr>
          <a:xfrm>
            <a:off x="502920" y="3794760"/>
            <a:ext cx="5394960" cy="2148840"/>
          </a:xfrm>
          <a:prstGeom prst="roundRect">
            <a:avLst>
              <a:gd name="adj" fmla="val 3404"/>
            </a:avLst>
          </a:prstGeom>
          <a:solidFill>
            <a:srgbClr val="F5F5F2"/>
          </a:solidFill>
          <a:ln w="6350">
            <a:solidFill>
              <a:srgbClr val="E3E6EB"/>
            </a:solidFill>
            <a:prstDash val="solid"/>
          </a:ln>
        </p:spPr>
      </p:sp>
      <p:sp>
        <p:nvSpPr>
          <p:cNvPr id="16" name="Shape 14"/>
          <p:cNvSpPr/>
          <p:nvPr/>
        </p:nvSpPr>
        <p:spPr>
          <a:xfrm>
            <a:off x="731520" y="3995928"/>
            <a:ext cx="411480" cy="411480"/>
          </a:xfrm>
          <a:prstGeom prst="ellipse">
            <a:avLst/>
          </a:prstGeom>
          <a:solidFill>
            <a:srgbClr val="B8891F"/>
          </a:solidFill>
          <a:ln/>
        </p:spPr>
      </p:sp>
      <p:sp>
        <p:nvSpPr>
          <p:cNvPr id="17" name="Text 15"/>
          <p:cNvSpPr/>
          <p:nvPr/>
        </p:nvSpPr>
        <p:spPr>
          <a:xfrm>
            <a:off x="731520" y="4078224"/>
            <a:ext cx="4114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8" name="Text 16"/>
          <p:cNvSpPr/>
          <p:nvPr/>
        </p:nvSpPr>
        <p:spPr>
          <a:xfrm>
            <a:off x="1280160" y="4050792"/>
            <a:ext cx="4434840" cy="320040"/>
          </a:xfrm>
          <a:prstGeom prst="rect">
            <a:avLst/>
          </a:prstGeom>
          <a:noFill/>
          <a:ln/>
        </p:spPr>
        <p:txBody>
          <a:bodyPr wrap="square" lIns="0" tIns="0" rIns="0" bIns="0" rtlCol="0" anchor="ctr"/>
          <a:lstStyle/>
          <a:p>
            <a:pPr indent="0" marL="0">
              <a:buNone/>
            </a:pPr>
            <a:r>
              <a:rPr lang="en-US" sz="1300" b="1" dirty="0">
                <a:solidFill>
                  <a:srgbClr val="1D2B4F"/>
                </a:solidFill>
                <a:latin typeface="Calibri" pitchFamily="34" charset="0"/>
                <a:ea typeface="Calibri" pitchFamily="34" charset="-122"/>
                <a:cs typeface="Calibri" pitchFamily="34" charset="-120"/>
              </a:rPr>
              <a:t>Treat catering as programme design</a:t>
            </a:r>
            <a:endParaRPr lang="en-US" sz="1300" dirty="0"/>
          </a:p>
        </p:txBody>
      </p:sp>
      <p:sp>
        <p:nvSpPr>
          <p:cNvPr id="19" name="Text 17"/>
          <p:cNvSpPr/>
          <p:nvPr/>
        </p:nvSpPr>
        <p:spPr>
          <a:xfrm>
            <a:off x="795528" y="4480560"/>
            <a:ext cx="4864608" cy="137160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200" dirty="0">
                <a:solidFill>
                  <a:srgbClr val="5F6B7A"/>
                </a:solidFill>
                <a:latin typeface="Calibri" pitchFamily="34" charset="0"/>
                <a:ea typeface="Calibri" pitchFamily="34" charset="-122"/>
                <a:cs typeface="Calibri" pitchFamily="34" charset="-120"/>
              </a:rPr>
              <a:t>Food draws 109 mentions, ranking above costume among improvement requests</a:t>
            </a:r>
            <a:endParaRPr lang="en-US" sz="1200" dirty="0"/>
          </a:p>
          <a:p>
            <a:pPr marL="342900" indent="-342900">
              <a:lnSpc>
                <a:spcPts val="1400"/>
              </a:lnSpc>
              <a:spcAft>
                <a:spcPts val="500"/>
              </a:spcAft>
              <a:buSzPct val="100000"/>
              <a:buChar char="•"/>
            </a:pPr>
            <a:r>
              <a:rPr lang="en-US" sz="1200" dirty="0">
                <a:solidFill>
                  <a:srgbClr val="5F6B7A"/>
                </a:solidFill>
                <a:latin typeface="Calibri" pitchFamily="34" charset="0"/>
                <a:ea typeface="Calibri" pitchFamily="34" charset="-122"/>
                <a:cs typeface="Calibri" pitchFamily="34" charset="-120"/>
              </a:rPr>
              <a:t>Protect the catering budget rather than treating it as a discretionary extra</a:t>
            </a:r>
            <a:endParaRPr lang="en-US" sz="1200" dirty="0"/>
          </a:p>
        </p:txBody>
      </p:sp>
      <p:sp>
        <p:nvSpPr>
          <p:cNvPr id="20" name="Shape 18"/>
          <p:cNvSpPr/>
          <p:nvPr/>
        </p:nvSpPr>
        <p:spPr>
          <a:xfrm>
            <a:off x="6263640" y="3794760"/>
            <a:ext cx="5394960" cy="2148840"/>
          </a:xfrm>
          <a:prstGeom prst="roundRect">
            <a:avLst>
              <a:gd name="adj" fmla="val 3404"/>
            </a:avLst>
          </a:prstGeom>
          <a:solidFill>
            <a:srgbClr val="F5F5F2"/>
          </a:solidFill>
          <a:ln w="6350">
            <a:solidFill>
              <a:srgbClr val="E3E6EB"/>
            </a:solidFill>
            <a:prstDash val="solid"/>
          </a:ln>
        </p:spPr>
      </p:sp>
      <p:sp>
        <p:nvSpPr>
          <p:cNvPr id="21" name="Shape 19"/>
          <p:cNvSpPr/>
          <p:nvPr/>
        </p:nvSpPr>
        <p:spPr>
          <a:xfrm>
            <a:off x="6492240" y="3995928"/>
            <a:ext cx="411480" cy="411480"/>
          </a:xfrm>
          <a:prstGeom prst="ellipse">
            <a:avLst/>
          </a:prstGeom>
          <a:solidFill>
            <a:srgbClr val="1D2B4F"/>
          </a:solidFill>
          <a:ln/>
        </p:spPr>
      </p:sp>
      <p:sp>
        <p:nvSpPr>
          <p:cNvPr id="22" name="Text 20"/>
          <p:cNvSpPr/>
          <p:nvPr/>
        </p:nvSpPr>
        <p:spPr>
          <a:xfrm>
            <a:off x="6492240" y="4078224"/>
            <a:ext cx="4114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3" name="Text 21"/>
          <p:cNvSpPr/>
          <p:nvPr/>
        </p:nvSpPr>
        <p:spPr>
          <a:xfrm>
            <a:off x="7040880" y="4050792"/>
            <a:ext cx="4434840" cy="320040"/>
          </a:xfrm>
          <a:prstGeom prst="rect">
            <a:avLst/>
          </a:prstGeom>
          <a:noFill/>
          <a:ln/>
        </p:spPr>
        <p:txBody>
          <a:bodyPr wrap="square" lIns="0" tIns="0" rIns="0" bIns="0" rtlCol="0" anchor="ctr"/>
          <a:lstStyle/>
          <a:p>
            <a:pPr indent="0" marL="0">
              <a:buNone/>
            </a:pPr>
            <a:r>
              <a:rPr lang="en-US" sz="1300" b="1" dirty="0">
                <a:solidFill>
                  <a:srgbClr val="1D2B4F"/>
                </a:solidFill>
                <a:latin typeface="Calibri" pitchFamily="34" charset="0"/>
                <a:ea typeface="Calibri" pitchFamily="34" charset="-122"/>
                <a:cs typeface="Calibri" pitchFamily="34" charset="-120"/>
              </a:rPr>
              <a:t>Report reach and contact separately</a:t>
            </a:r>
            <a:endParaRPr lang="en-US" sz="1300" dirty="0"/>
          </a:p>
        </p:txBody>
      </p:sp>
      <p:sp>
        <p:nvSpPr>
          <p:cNvPr id="24" name="Text 22"/>
          <p:cNvSpPr/>
          <p:nvPr/>
        </p:nvSpPr>
        <p:spPr>
          <a:xfrm>
            <a:off x="6556248" y="4480560"/>
            <a:ext cx="4864608" cy="137160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200" dirty="0">
                <a:solidFill>
                  <a:srgbClr val="5F6B7A"/>
                </a:solidFill>
                <a:latin typeface="Calibri" pitchFamily="34" charset="0"/>
                <a:ea typeface="Calibri" pitchFamily="34" charset="-122"/>
                <a:cs typeface="Calibri" pitchFamily="34" charset="-120"/>
              </a:rPr>
              <a:t>Publish 66 participants and 560 attendances as two distinct measures with their definitions attached</a:t>
            </a:r>
            <a:endParaRPr lang="en-US" sz="1200" dirty="0"/>
          </a:p>
          <a:p>
            <a:pPr marL="342900" indent="-342900">
              <a:lnSpc>
                <a:spcPts val="1400"/>
              </a:lnSpc>
              <a:spcAft>
                <a:spcPts val="500"/>
              </a:spcAft>
              <a:buSzPct val="100000"/>
              <a:buChar char="•"/>
            </a:pPr>
            <a:r>
              <a:rPr lang="en-US" sz="1200" dirty="0">
                <a:solidFill>
                  <a:srgbClr val="5F6B7A"/>
                </a:solidFill>
                <a:latin typeface="Calibri" pitchFamily="34" charset="0"/>
                <a:ea typeface="Calibri" pitchFamily="34" charset="-122"/>
                <a:cs typeface="Calibri" pitchFamily="34" charset="-120"/>
              </a:rPr>
              <a:t>Build a volunteer and trustee pathway: adult participation stands at just 38 attendances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D2B4F"/>
        </a:solidFill>
      </p:bgPr>
    </p:bg>
    <p:spTree>
      <p:nvGrpSpPr>
        <p:cNvPr id="1" name=""/>
        <p:cNvGrpSpPr/>
        <p:nvPr/>
      </p:nvGrpSpPr>
      <p:grpSpPr>
        <a:xfrm>
          <a:off x="0" y="0"/>
          <a:ext cx="0" cy="0"/>
          <a:chOff x="0" y="0"/>
          <a:chExt cx="0" cy="0"/>
        </a:xfrm>
      </p:grpSpPr>
      <p:sp>
        <p:nvSpPr>
          <p:cNvPr id="2" name="Text 0"/>
          <p:cNvSpPr/>
          <p:nvPr/>
        </p:nvSpPr>
        <p:spPr>
          <a:xfrm>
            <a:off x="502920" y="411480"/>
            <a:ext cx="5486400" cy="256032"/>
          </a:xfrm>
          <a:prstGeom prst="rect">
            <a:avLst/>
          </a:prstGeom>
          <a:noFill/>
          <a:ln/>
        </p:spPr>
        <p:txBody>
          <a:bodyPr wrap="square" lIns="0" tIns="0" rIns="0" bIns="0" rtlCol="0" anchor="ctr"/>
          <a:lstStyle/>
          <a:p>
            <a:pPr indent="0" marL="0">
              <a:buNone/>
            </a:pPr>
            <a:r>
              <a:rPr lang="en-US" sz="1200" b="1" spc="200" kern="0" dirty="0">
                <a:solidFill>
                  <a:srgbClr val="E3B23C"/>
                </a:solidFill>
                <a:latin typeface="Calibri" pitchFamily="34" charset="0"/>
                <a:ea typeface="Calibri" pitchFamily="34" charset="-122"/>
                <a:cs typeface="Calibri" pitchFamily="34" charset="-120"/>
              </a:rPr>
              <a:t>08 · CONCLUSION</a:t>
            </a:r>
            <a:endParaRPr lang="en-US" sz="1200" dirty="0"/>
          </a:p>
        </p:txBody>
      </p:sp>
      <p:sp>
        <p:nvSpPr>
          <p:cNvPr id="3" name="Text 1"/>
          <p:cNvSpPr/>
          <p:nvPr/>
        </p:nvSpPr>
        <p:spPr>
          <a:xfrm>
            <a:off x="502920" y="731520"/>
            <a:ext cx="100584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This Analysis Establishes</a:t>
            </a:r>
            <a:endParaRPr lang="en-US" sz="3000" dirty="0"/>
          </a:p>
        </p:txBody>
      </p:sp>
      <p:sp>
        <p:nvSpPr>
          <p:cNvPr id="4" name="Text 2"/>
          <p:cNvSpPr/>
          <p:nvPr/>
        </p:nvSpPr>
        <p:spPr>
          <a:xfrm>
            <a:off x="502920" y="1554480"/>
            <a:ext cx="457200" cy="320040"/>
          </a:xfrm>
          <a:prstGeom prst="rect">
            <a:avLst/>
          </a:prstGeom>
          <a:noFill/>
          <a:ln/>
        </p:spPr>
        <p:txBody>
          <a:bodyPr wrap="square" lIns="0" tIns="0" rIns="0" bIns="0" rtlCol="0" anchor="ctr"/>
          <a:lstStyle/>
          <a:p>
            <a:pPr indent="0" marL="0">
              <a:buNone/>
            </a:pPr>
            <a:r>
              <a:rPr lang="en-US" sz="1900" b="1" dirty="0">
                <a:solidFill>
                  <a:srgbClr val="E3B23C"/>
                </a:solidFill>
                <a:latin typeface="Cambria" pitchFamily="34" charset="0"/>
                <a:ea typeface="Cambria" pitchFamily="34" charset="-122"/>
                <a:cs typeface="Cambria" pitchFamily="34" charset="-120"/>
              </a:rPr>
              <a:t>01</a:t>
            </a:r>
            <a:endParaRPr lang="en-US" sz="1900" dirty="0"/>
          </a:p>
        </p:txBody>
      </p:sp>
      <p:sp>
        <p:nvSpPr>
          <p:cNvPr id="5" name="Text 3"/>
          <p:cNvSpPr/>
          <p:nvPr/>
        </p:nvSpPr>
        <p:spPr>
          <a:xfrm>
            <a:off x="1005840" y="1554480"/>
            <a:ext cx="48463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Retention is the achievement</a:t>
            </a:r>
            <a:endParaRPr lang="en-US" sz="1350" dirty="0"/>
          </a:p>
        </p:txBody>
      </p:sp>
      <p:sp>
        <p:nvSpPr>
          <p:cNvPr id="6" name="Text 4"/>
          <p:cNvSpPr/>
          <p:nvPr/>
        </p:nvSpPr>
        <p:spPr>
          <a:xfrm>
            <a:off x="1005840" y="1883664"/>
            <a:ext cx="4846320" cy="868680"/>
          </a:xfrm>
          <a:prstGeom prst="rect">
            <a:avLst/>
          </a:prstGeom>
          <a:noFill/>
          <a:ln/>
        </p:spPr>
        <p:txBody>
          <a:bodyPr wrap="square" lIns="0" tIns="0" rIns="0" bIns="0" rtlCol="0" anchor="t"/>
          <a:lstStyle/>
          <a:p>
            <a:pPr indent="0" marL="0">
              <a:lnSpc>
                <a:spcPts val="1400"/>
              </a:lnSpc>
              <a:buNone/>
            </a:pPr>
            <a:r>
              <a:rPr lang="en-US" sz="1200" dirty="0">
                <a:solidFill>
                  <a:srgbClr val="9FB0C6"/>
                </a:solidFill>
                <a:latin typeface="Calibri" pitchFamily="34" charset="0"/>
                <a:ea typeface="Calibri" pitchFamily="34" charset="-122"/>
                <a:cs typeface="Calibri" pitchFamily="34" charset="-120"/>
              </a:rPr>
              <a:t>66 people generated 560 attendances. Half the cohort came ten or more times across seven months.</a:t>
            </a:r>
            <a:endParaRPr lang="en-US" sz="1200" dirty="0"/>
          </a:p>
        </p:txBody>
      </p:sp>
      <p:sp>
        <p:nvSpPr>
          <p:cNvPr id="7" name="Text 5"/>
          <p:cNvSpPr/>
          <p:nvPr/>
        </p:nvSpPr>
        <p:spPr>
          <a:xfrm>
            <a:off x="6263640" y="1554480"/>
            <a:ext cx="457200" cy="320040"/>
          </a:xfrm>
          <a:prstGeom prst="rect">
            <a:avLst/>
          </a:prstGeom>
          <a:noFill/>
          <a:ln/>
        </p:spPr>
        <p:txBody>
          <a:bodyPr wrap="square" lIns="0" tIns="0" rIns="0" bIns="0" rtlCol="0" anchor="ctr"/>
          <a:lstStyle/>
          <a:p>
            <a:pPr indent="0" marL="0">
              <a:buNone/>
            </a:pPr>
            <a:r>
              <a:rPr lang="en-US" sz="1900" b="1" dirty="0">
                <a:solidFill>
                  <a:srgbClr val="E3B23C"/>
                </a:solidFill>
                <a:latin typeface="Cambria" pitchFamily="34" charset="0"/>
                <a:ea typeface="Cambria" pitchFamily="34" charset="-122"/>
                <a:cs typeface="Cambria" pitchFamily="34" charset="-120"/>
              </a:rPr>
              <a:t>02</a:t>
            </a:r>
            <a:endParaRPr lang="en-US" sz="1900" dirty="0"/>
          </a:p>
        </p:txBody>
      </p:sp>
      <p:sp>
        <p:nvSpPr>
          <p:cNvPr id="8" name="Text 6"/>
          <p:cNvSpPr/>
          <p:nvPr/>
        </p:nvSpPr>
        <p:spPr>
          <a:xfrm>
            <a:off x="6766560" y="1554480"/>
            <a:ext cx="48463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Cleaning changed the answer</a:t>
            </a:r>
            <a:endParaRPr lang="en-US" sz="1350" dirty="0"/>
          </a:p>
        </p:txBody>
      </p:sp>
      <p:sp>
        <p:nvSpPr>
          <p:cNvPr id="9" name="Text 7"/>
          <p:cNvSpPr/>
          <p:nvPr/>
        </p:nvSpPr>
        <p:spPr>
          <a:xfrm>
            <a:off x="6766560" y="1883664"/>
            <a:ext cx="4846320" cy="868680"/>
          </a:xfrm>
          <a:prstGeom prst="rect">
            <a:avLst/>
          </a:prstGeom>
          <a:noFill/>
          <a:ln/>
        </p:spPr>
        <p:txBody>
          <a:bodyPr wrap="square" lIns="0" tIns="0" rIns="0" bIns="0" rtlCol="0" anchor="t"/>
          <a:lstStyle/>
          <a:p>
            <a:pPr indent="0" marL="0">
              <a:lnSpc>
                <a:spcPts val="1400"/>
              </a:lnSpc>
              <a:buNone/>
            </a:pPr>
            <a:r>
              <a:rPr lang="en-US" sz="1200" dirty="0">
                <a:solidFill>
                  <a:srgbClr val="9FB0C6"/>
                </a:solidFill>
                <a:latin typeface="Calibri" pitchFamily="34" charset="0"/>
                <a:ea typeface="Calibri" pitchFamily="34" charset="-122"/>
                <a:cs typeface="Calibri" pitchFamily="34" charset="-120"/>
              </a:rPr>
              <a:t>169 name variants resolved to 66 people. Uncorrected, reported reach would have been 2.6 times too high.</a:t>
            </a:r>
            <a:endParaRPr lang="en-US" sz="1200" dirty="0"/>
          </a:p>
        </p:txBody>
      </p:sp>
      <p:sp>
        <p:nvSpPr>
          <p:cNvPr id="10" name="Text 8"/>
          <p:cNvSpPr/>
          <p:nvPr/>
        </p:nvSpPr>
        <p:spPr>
          <a:xfrm>
            <a:off x="502920" y="2971800"/>
            <a:ext cx="457200" cy="320040"/>
          </a:xfrm>
          <a:prstGeom prst="rect">
            <a:avLst/>
          </a:prstGeom>
          <a:noFill/>
          <a:ln/>
        </p:spPr>
        <p:txBody>
          <a:bodyPr wrap="square" lIns="0" tIns="0" rIns="0" bIns="0" rtlCol="0" anchor="ctr"/>
          <a:lstStyle/>
          <a:p>
            <a:pPr indent="0" marL="0">
              <a:buNone/>
            </a:pPr>
            <a:r>
              <a:rPr lang="en-US" sz="1900" b="1" dirty="0">
                <a:solidFill>
                  <a:srgbClr val="E3B23C"/>
                </a:solidFill>
                <a:latin typeface="Cambria" pitchFamily="34" charset="0"/>
                <a:ea typeface="Cambria" pitchFamily="34" charset="-122"/>
                <a:cs typeface="Cambria" pitchFamily="34" charset="-120"/>
              </a:rPr>
              <a:t>03</a:t>
            </a:r>
            <a:endParaRPr lang="en-US" sz="1900" dirty="0"/>
          </a:p>
        </p:txBody>
      </p:sp>
      <p:sp>
        <p:nvSpPr>
          <p:cNvPr id="11" name="Text 9"/>
          <p:cNvSpPr/>
          <p:nvPr/>
        </p:nvSpPr>
        <p:spPr>
          <a:xfrm>
            <a:off x="1005840" y="2971800"/>
            <a:ext cx="48463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Satisfaction is real but selective</a:t>
            </a:r>
            <a:endParaRPr lang="en-US" sz="1350" dirty="0"/>
          </a:p>
        </p:txBody>
      </p:sp>
      <p:sp>
        <p:nvSpPr>
          <p:cNvPr id="12" name="Text 10"/>
          <p:cNvSpPr/>
          <p:nvPr/>
        </p:nvSpPr>
        <p:spPr>
          <a:xfrm>
            <a:off x="1005840" y="3300984"/>
            <a:ext cx="4846320" cy="868680"/>
          </a:xfrm>
          <a:prstGeom prst="rect">
            <a:avLst/>
          </a:prstGeom>
          <a:noFill/>
          <a:ln/>
        </p:spPr>
        <p:txBody>
          <a:bodyPr wrap="square" lIns="0" tIns="0" rIns="0" bIns="0" rtlCol="0" anchor="t"/>
          <a:lstStyle/>
          <a:p>
            <a:pPr indent="0" marL="0">
              <a:lnSpc>
                <a:spcPts val="1400"/>
              </a:lnSpc>
              <a:buNone/>
            </a:pPr>
            <a:r>
              <a:rPr lang="en-US" sz="1200" dirty="0">
                <a:solidFill>
                  <a:srgbClr val="9FB0C6"/>
                </a:solidFill>
                <a:latin typeface="Calibri" pitchFamily="34" charset="0"/>
                <a:ea typeface="Calibri" pitchFamily="34" charset="-122"/>
                <a:cs typeface="Calibri" pitchFamily="34" charset="-120"/>
              </a:rPr>
              <a:t>No score below 8 across 517 responses, though the sample is weighted toward returning regulars.</a:t>
            </a:r>
            <a:endParaRPr lang="en-US" sz="1200" dirty="0"/>
          </a:p>
        </p:txBody>
      </p:sp>
      <p:sp>
        <p:nvSpPr>
          <p:cNvPr id="13" name="Text 11"/>
          <p:cNvSpPr/>
          <p:nvPr/>
        </p:nvSpPr>
        <p:spPr>
          <a:xfrm>
            <a:off x="6263640" y="2971800"/>
            <a:ext cx="457200" cy="320040"/>
          </a:xfrm>
          <a:prstGeom prst="rect">
            <a:avLst/>
          </a:prstGeom>
          <a:noFill/>
          <a:ln/>
        </p:spPr>
        <p:txBody>
          <a:bodyPr wrap="square" lIns="0" tIns="0" rIns="0" bIns="0" rtlCol="0" anchor="ctr"/>
          <a:lstStyle/>
          <a:p>
            <a:pPr indent="0" marL="0">
              <a:buNone/>
            </a:pPr>
            <a:r>
              <a:rPr lang="en-US" sz="1900" b="1" dirty="0">
                <a:solidFill>
                  <a:srgbClr val="E3B23C"/>
                </a:solidFill>
                <a:latin typeface="Cambria" pitchFamily="34" charset="0"/>
                <a:ea typeface="Cambria" pitchFamily="34" charset="-122"/>
                <a:cs typeface="Cambria" pitchFamily="34" charset="-120"/>
              </a:rPr>
              <a:t>04</a:t>
            </a:r>
            <a:endParaRPr lang="en-US" sz="1900" dirty="0"/>
          </a:p>
        </p:txBody>
      </p:sp>
      <p:sp>
        <p:nvSpPr>
          <p:cNvPr id="14" name="Text 12"/>
          <p:cNvSpPr/>
          <p:nvPr/>
        </p:nvSpPr>
        <p:spPr>
          <a:xfrm>
            <a:off x="6766560" y="2971800"/>
            <a:ext cx="48463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Costume outranks oral content</a:t>
            </a:r>
            <a:endParaRPr lang="en-US" sz="1350" dirty="0"/>
          </a:p>
        </p:txBody>
      </p:sp>
      <p:sp>
        <p:nvSpPr>
          <p:cNvPr id="15" name="Text 13"/>
          <p:cNvSpPr/>
          <p:nvPr/>
        </p:nvSpPr>
        <p:spPr>
          <a:xfrm>
            <a:off x="6766560" y="3300984"/>
            <a:ext cx="4846320" cy="868680"/>
          </a:xfrm>
          <a:prstGeom prst="rect">
            <a:avLst/>
          </a:prstGeom>
          <a:noFill/>
          <a:ln/>
        </p:spPr>
        <p:txBody>
          <a:bodyPr wrap="square" lIns="0" tIns="0" rIns="0" bIns="0" rtlCol="0" anchor="t"/>
          <a:lstStyle/>
          <a:p>
            <a:pPr indent="0" marL="0">
              <a:lnSpc>
                <a:spcPts val="1400"/>
              </a:lnSpc>
              <a:buNone/>
            </a:pPr>
            <a:r>
              <a:rPr lang="en-US" sz="1200" dirty="0">
                <a:solidFill>
                  <a:srgbClr val="9FB0C6"/>
                </a:solidFill>
                <a:latin typeface="Calibri" pitchFamily="34" charset="0"/>
                <a:ea typeface="Calibri" pitchFamily="34" charset="-122"/>
                <a:cs typeface="Calibri" pitchFamily="34" charset="-120"/>
              </a:rPr>
              <a:t>Traditional outfit styles draws 116 mentions, ahead of proverbs at 78. Visual heritage is the most memorable.</a:t>
            </a:r>
            <a:endParaRPr lang="en-US" sz="1200" dirty="0"/>
          </a:p>
        </p:txBody>
      </p:sp>
      <p:sp>
        <p:nvSpPr>
          <p:cNvPr id="16" name="Text 14"/>
          <p:cNvSpPr/>
          <p:nvPr/>
        </p:nvSpPr>
        <p:spPr>
          <a:xfrm>
            <a:off x="502920" y="4389120"/>
            <a:ext cx="457200" cy="320040"/>
          </a:xfrm>
          <a:prstGeom prst="rect">
            <a:avLst/>
          </a:prstGeom>
          <a:noFill/>
          <a:ln/>
        </p:spPr>
        <p:txBody>
          <a:bodyPr wrap="square" lIns="0" tIns="0" rIns="0" bIns="0" rtlCol="0" anchor="ctr"/>
          <a:lstStyle/>
          <a:p>
            <a:pPr indent="0" marL="0">
              <a:buNone/>
            </a:pPr>
            <a:r>
              <a:rPr lang="en-US" sz="1900" b="1" dirty="0">
                <a:solidFill>
                  <a:srgbClr val="E3B23C"/>
                </a:solidFill>
                <a:latin typeface="Cambria" pitchFamily="34" charset="0"/>
                <a:ea typeface="Cambria" pitchFamily="34" charset="-122"/>
                <a:cs typeface="Cambria" pitchFamily="34" charset="-120"/>
              </a:rPr>
              <a:t>05</a:t>
            </a:r>
            <a:endParaRPr lang="en-US" sz="1900" dirty="0"/>
          </a:p>
        </p:txBody>
      </p:sp>
      <p:sp>
        <p:nvSpPr>
          <p:cNvPr id="17" name="Text 15"/>
          <p:cNvSpPr/>
          <p:nvPr/>
        </p:nvSpPr>
        <p:spPr>
          <a:xfrm>
            <a:off x="1005840" y="4389120"/>
            <a:ext cx="48463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Food and friendship drive return</a:t>
            </a:r>
            <a:endParaRPr lang="en-US" sz="1350" dirty="0"/>
          </a:p>
        </p:txBody>
      </p:sp>
      <p:sp>
        <p:nvSpPr>
          <p:cNvPr id="18" name="Text 16"/>
          <p:cNvSpPr/>
          <p:nvPr/>
        </p:nvSpPr>
        <p:spPr>
          <a:xfrm>
            <a:off x="1005840" y="4718304"/>
            <a:ext cx="4846320" cy="868680"/>
          </a:xfrm>
          <a:prstGeom prst="rect">
            <a:avLst/>
          </a:prstGeom>
          <a:noFill/>
          <a:ln/>
        </p:spPr>
        <p:txBody>
          <a:bodyPr wrap="square" lIns="0" tIns="0" rIns="0" bIns="0" rtlCol="0" anchor="t"/>
          <a:lstStyle/>
          <a:p>
            <a:pPr indent="0" marL="0">
              <a:lnSpc>
                <a:spcPts val="1400"/>
              </a:lnSpc>
              <a:buNone/>
            </a:pPr>
            <a:r>
              <a:rPr lang="en-US" sz="1200" dirty="0">
                <a:solidFill>
                  <a:srgbClr val="9FB0C6"/>
                </a:solidFill>
                <a:latin typeface="Calibri" pitchFamily="34" charset="0"/>
                <a:ea typeface="Calibri" pitchFamily="34" charset="-122"/>
                <a:cs typeface="Calibri" pitchFamily="34" charset="-120"/>
              </a:rPr>
              <a:t>109 mentions each for catering and for making new friends, both ranking above cultural content requests.</a:t>
            </a:r>
            <a:endParaRPr lang="en-US" sz="1200" dirty="0"/>
          </a:p>
        </p:txBody>
      </p:sp>
      <p:sp>
        <p:nvSpPr>
          <p:cNvPr id="19" name="Text 17"/>
          <p:cNvSpPr/>
          <p:nvPr/>
        </p:nvSpPr>
        <p:spPr>
          <a:xfrm>
            <a:off x="6263640" y="4389120"/>
            <a:ext cx="457200" cy="320040"/>
          </a:xfrm>
          <a:prstGeom prst="rect">
            <a:avLst/>
          </a:prstGeom>
          <a:noFill/>
          <a:ln/>
        </p:spPr>
        <p:txBody>
          <a:bodyPr wrap="square" lIns="0" tIns="0" rIns="0" bIns="0" rtlCol="0" anchor="ctr"/>
          <a:lstStyle/>
          <a:p>
            <a:pPr indent="0" marL="0">
              <a:buNone/>
            </a:pPr>
            <a:r>
              <a:rPr lang="en-US" sz="1900" b="1" dirty="0">
                <a:solidFill>
                  <a:srgbClr val="E3B23C"/>
                </a:solidFill>
                <a:latin typeface="Cambria" pitchFamily="34" charset="0"/>
                <a:ea typeface="Cambria" pitchFamily="34" charset="-122"/>
                <a:cs typeface="Cambria" pitchFamily="34" charset="-120"/>
              </a:rPr>
              <a:t>06</a:t>
            </a:r>
            <a:endParaRPr lang="en-US" sz="1900" dirty="0"/>
          </a:p>
        </p:txBody>
      </p:sp>
      <p:sp>
        <p:nvSpPr>
          <p:cNvPr id="20" name="Text 18"/>
          <p:cNvSpPr/>
          <p:nvPr/>
        </p:nvSpPr>
        <p:spPr>
          <a:xfrm>
            <a:off x="6766560" y="4389120"/>
            <a:ext cx="48463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interactivity holds up under scrutiny</a:t>
            </a:r>
            <a:endParaRPr lang="en-US" sz="1350" dirty="0"/>
          </a:p>
        </p:txBody>
      </p:sp>
      <p:sp>
        <p:nvSpPr>
          <p:cNvPr id="21" name="Text 19"/>
          <p:cNvSpPr/>
          <p:nvPr/>
        </p:nvSpPr>
        <p:spPr>
          <a:xfrm>
            <a:off x="6766560" y="4718304"/>
            <a:ext cx="4846320" cy="868680"/>
          </a:xfrm>
          <a:prstGeom prst="rect">
            <a:avLst/>
          </a:prstGeom>
          <a:noFill/>
          <a:ln/>
        </p:spPr>
        <p:txBody>
          <a:bodyPr wrap="square" lIns="0" tIns="0" rIns="0" bIns="0" rtlCol="0" anchor="t"/>
          <a:lstStyle/>
          <a:p>
            <a:pPr indent="0" marL="0">
              <a:lnSpc>
                <a:spcPts val="1400"/>
              </a:lnSpc>
              <a:buNone/>
            </a:pPr>
            <a:r>
              <a:rPr lang="en-US" sz="1200" dirty="0">
                <a:solidFill>
                  <a:srgbClr val="9FB0C6"/>
                </a:solidFill>
                <a:latin typeface="Calibri" pitchFamily="34" charset="0"/>
                <a:ea typeface="Calibri" pitchFamily="34" charset="-122"/>
                <a:cs typeface="Calibri" pitchFamily="34" charset="-120"/>
              </a:rPr>
              <a:t>Nine slides of live-captured filtering show every mechanism working as designed, including where the underlying sample is too small to over-read.</a:t>
            </a:r>
            <a:endParaRPr lang="en-US" sz="1200" dirty="0"/>
          </a:p>
        </p:txBody>
      </p:sp>
      <p:sp>
        <p:nvSpPr>
          <p:cNvPr id="22" name="Text 20"/>
          <p:cNvSpPr/>
          <p:nvPr/>
        </p:nvSpPr>
        <p:spPr>
          <a:xfrm>
            <a:off x="502920" y="6263640"/>
            <a:ext cx="11155680" cy="274320"/>
          </a:xfrm>
          <a:prstGeom prst="rect">
            <a:avLst/>
          </a:prstGeom>
          <a:noFill/>
          <a:ln/>
        </p:spPr>
        <p:txBody>
          <a:bodyPr wrap="square" lIns="0" tIns="0" rIns="0" bIns="0" rtlCol="0" anchor="ctr"/>
          <a:lstStyle/>
          <a:p>
            <a:pPr indent="0" marL="0">
              <a:buNone/>
            </a:pPr>
            <a:r>
              <a:rPr lang="en-US" sz="1200" dirty="0">
                <a:solidFill>
                  <a:srgbClr val="6E7F96"/>
                </a:solidFill>
                <a:latin typeface="Calibri" pitchFamily="34" charset="0"/>
                <a:ea typeface="Calibri" pitchFamily="34" charset="-122"/>
                <a:cs typeface="Calibri" pitchFamily="34" charset="-120"/>
              </a:rPr>
              <a:t>Project Vogue  ·  MYEC Cultural Heritage Programme  ·  October 2024 to April 2025  ·  Samuel Babajide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Vogue: Engagement Across Cultural Heritage Events</dc:title>
  <dc:subject>PptxGenJS Presentation</dc:subject>
  <dc:creator>Samuel Babajide</dc:creator>
  <cp:lastModifiedBy>Samuel Babajide</cp:lastModifiedBy>
  <cp:revision>1</cp:revision>
  <dcterms:created xsi:type="dcterms:W3CDTF">2026-08-29T21:05:36Z</dcterms:created>
  <dcterms:modified xsi:type="dcterms:W3CDTF">2026-08-29T21:05:36Z</dcterms:modified>
</cp:coreProperties>
</file>